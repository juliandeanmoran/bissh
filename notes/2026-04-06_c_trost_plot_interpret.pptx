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4"/>
    <p:restoredTop sz="94655"/>
  </p:normalViewPr>
  <p:slideViewPr>
    <p:cSldViewPr snapToGrid="0">
      <p:cViewPr>
        <p:scale>
          <a:sx n="87" d="100"/>
          <a:sy n="87" d="100"/>
        </p:scale>
        <p:origin x="1904" y="1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E592E-0D4F-EAAE-E68A-9B4C827C65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7DC574-77B0-C8B0-74AE-4D6F74F33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214B6-DE8E-7D46-0FC5-6E8C4FF64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53F7-54AE-5845-9469-7F9D0118F48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724C6-ED2F-E980-9221-8B923EA91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67C87-7F45-B81D-3CEF-7A233DAB6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93B0-860D-7D4B-9B8B-4BDC3EFF0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43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7E4D5-1EAD-65B4-6140-F6992FF13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911A6-F107-EE9C-A0A0-6080468A8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485EA-3190-3035-ED91-2C19CAE88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53F7-54AE-5845-9469-7F9D0118F48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FCD9D-1928-2F2F-63BA-99D3D69FC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B29E2-B7DA-FD18-C6B0-3695F0C51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93B0-860D-7D4B-9B8B-4BDC3EFF0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759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8CDCF-20D0-6E67-8755-CAFCE8DD1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4AA26-E46E-6061-C3B1-9691D6F5B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B14C9-AF33-CFA4-FBC8-63A923AA9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53F7-54AE-5845-9469-7F9D0118F48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7B675-7148-D68C-04F0-7A33A688D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D8BCD-C640-DC7F-6EA0-3A66925C7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93B0-860D-7D4B-9B8B-4BDC3EFF0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16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B4AE2-09F6-313E-9A81-0D2556F8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C8DE4-07DC-6324-E626-BAFBE59ACD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FFBAF-6280-F65A-EC76-7ADF10719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BD34A-FAE4-1B38-D89C-AEFAE789D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53F7-54AE-5845-9469-7F9D0118F48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34E7BE-BD98-5DEE-A39E-624DEEBD4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889A0-03DE-FA64-FA0D-649D47B6B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93B0-860D-7D4B-9B8B-4BDC3EFF0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3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1666D-9180-B183-B48B-FEC9CC381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5BE14-673D-8026-C3DB-C22FBF60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3C864-C946-7A80-A83F-B02F08005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F6D9F-C00A-E73D-5BA7-72802D5954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92648F-132B-0738-3DD9-71A57B199D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68E98D-6840-EE3C-E482-1E4B2C3B8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53F7-54AE-5845-9469-7F9D0118F48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2ABB89-623A-E44A-EE5C-2264AA0D1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9B077A-656D-4841-0D0E-D7AFF983B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93B0-860D-7D4B-9B8B-4BDC3EFF0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782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D606D-314E-A544-AAAD-0BC1AF013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0FC037-3F83-217C-7993-99CF0BC77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53F7-54AE-5845-9469-7F9D0118F48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1E4639-AB04-CAD2-CEAA-2FF5137FF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BA019-C4E3-F3A4-C948-4770A5403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93B0-860D-7D4B-9B8B-4BDC3EFF0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219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EB2A5-A24A-33D2-7C49-794799892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53F7-54AE-5845-9469-7F9D0118F48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81455D-21EF-BDB3-C940-4D3299ECE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6A4D0-57B7-A5E2-C166-A1B13F52B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93B0-860D-7D4B-9B8B-4BDC3EFF0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35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088B2-BD66-9B23-6AB4-40CE19FC9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D068F-F2C2-0A42-A2C7-DB8C4E808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AE228-4EE0-4FCD-27E6-E855BE651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4E15C-8344-F230-7BD7-7BFE097F3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53F7-54AE-5845-9469-7F9D0118F48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613AC-4A46-0D03-2773-C659E956F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58BC79-7029-A43F-E74F-241938F83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93B0-860D-7D4B-9B8B-4BDC3EFF0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727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97B66-49DA-CF42-DECF-929B2AEAF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433B97-65D2-1024-6A8B-D610FE6462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527ED-0763-33B9-839E-49746E181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CFB237-A053-5CC5-9A15-1A4AEDE7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53F7-54AE-5845-9469-7F9D0118F48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A580BE-C2D5-B9A9-AED5-449F2AAC2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0FEE56-95EC-3370-9D9C-D12A1F6A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93B0-860D-7D4B-9B8B-4BDC3EFF0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8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8887A-18C1-3122-CE3C-EDA30720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F2A84F-06E4-2517-45BE-871875339B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0D188-EF59-37DB-DA10-2ED428023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53F7-54AE-5845-9469-7F9D0118F48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D4EB9-FC8C-23A9-E89F-255DAEB70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60921-DAD1-6ACF-34DB-BB2206144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93B0-860D-7D4B-9B8B-4BDC3EFF0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27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9E3518-0FCA-57C7-312D-10E618B6D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E09DF-9D8D-92A3-C403-6CAF3DAA90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908B9-9473-842D-B7DF-49FBF8099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53F7-54AE-5845-9469-7F9D0118F48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F5C76-A612-B1E3-4956-3F85CDC4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ED8A1-6C62-2C56-970D-35820F4D9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593B0-860D-7D4B-9B8B-4BDC3EFF0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40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E6E9BE-B1FA-A95E-4208-9320748C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05690-F9F0-14F4-3DDA-B01508008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FF55C-2FB2-2483-EB10-2D873B81AB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4353F7-54AE-5845-9469-7F9D0118F485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B9655-17F6-1588-D1F8-627BCF6000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05609-B7ED-4627-0BCE-935A58FC7C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4593B0-860D-7D4B-9B8B-4BDC3EFF0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053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A93F3F-CDEA-B3D1-41C2-AD373F80B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441" y="0"/>
            <a:ext cx="3796745" cy="37967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F6F7D1-F925-7A11-C33C-3C109839F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10" y="0"/>
            <a:ext cx="3796745" cy="379674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E781E2-3482-8A16-B358-2607FACE178A}"/>
              </a:ext>
            </a:extLst>
          </p:cNvPr>
          <p:cNvCxnSpPr>
            <a:cxnSpLocks/>
          </p:cNvCxnSpPr>
          <p:nvPr/>
        </p:nvCxnSpPr>
        <p:spPr>
          <a:xfrm>
            <a:off x="5174971" y="168442"/>
            <a:ext cx="0" cy="32605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4ADC4C2-1147-5405-2FED-18A39FA1CFA1}"/>
              </a:ext>
            </a:extLst>
          </p:cNvPr>
          <p:cNvCxnSpPr>
            <a:cxnSpLocks/>
          </p:cNvCxnSpPr>
          <p:nvPr/>
        </p:nvCxnSpPr>
        <p:spPr>
          <a:xfrm>
            <a:off x="9031705" y="168442"/>
            <a:ext cx="0" cy="32605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30BA93A5-A379-6D27-7298-8C5F44419A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6572" y="-7088"/>
            <a:ext cx="3703320" cy="370332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2D4953-56D8-99C3-89F2-D4A2E5D90ED3}"/>
              </a:ext>
            </a:extLst>
          </p:cNvPr>
          <p:cNvCxnSpPr>
            <a:cxnSpLocks/>
          </p:cNvCxnSpPr>
          <p:nvPr/>
        </p:nvCxnSpPr>
        <p:spPr>
          <a:xfrm>
            <a:off x="8986031" y="115543"/>
            <a:ext cx="0" cy="32605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0A828D69-3912-0C5B-5D58-C018F77A8179}"/>
              </a:ext>
            </a:extLst>
          </p:cNvPr>
          <p:cNvSpPr/>
          <p:nvPr/>
        </p:nvSpPr>
        <p:spPr>
          <a:xfrm rot="21008146">
            <a:off x="2693485" y="2538501"/>
            <a:ext cx="106377" cy="299430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F29CE32-D4EA-3E15-50E7-FC8A218C7771}"/>
              </a:ext>
            </a:extLst>
          </p:cNvPr>
          <p:cNvSpPr/>
          <p:nvPr/>
        </p:nvSpPr>
        <p:spPr>
          <a:xfrm rot="21008146">
            <a:off x="6536265" y="2538502"/>
            <a:ext cx="106377" cy="299430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92FC096-E330-11D8-373A-678894604002}"/>
              </a:ext>
            </a:extLst>
          </p:cNvPr>
          <p:cNvSpPr/>
          <p:nvPr/>
        </p:nvSpPr>
        <p:spPr>
          <a:xfrm rot="21008146">
            <a:off x="10325735" y="2470895"/>
            <a:ext cx="106377" cy="299430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D5C6E8A-DDE5-40C4-717A-61DCC88EE73B}"/>
              </a:ext>
            </a:extLst>
          </p:cNvPr>
          <p:cNvSpPr/>
          <p:nvPr/>
        </p:nvSpPr>
        <p:spPr>
          <a:xfrm rot="21008146">
            <a:off x="953544" y="531595"/>
            <a:ext cx="116566" cy="1222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B7C64C9-9B38-BE02-E6FD-CEE16D5B4D7F}"/>
              </a:ext>
            </a:extLst>
          </p:cNvPr>
          <p:cNvSpPr/>
          <p:nvPr/>
        </p:nvSpPr>
        <p:spPr>
          <a:xfrm rot="21008146">
            <a:off x="4797921" y="531596"/>
            <a:ext cx="116566" cy="1222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12E45FB-C5AF-BC6A-D3D0-9FCD09A0A24F}"/>
              </a:ext>
            </a:extLst>
          </p:cNvPr>
          <p:cNvSpPr/>
          <p:nvPr/>
        </p:nvSpPr>
        <p:spPr>
          <a:xfrm rot="21008146">
            <a:off x="8622166" y="517844"/>
            <a:ext cx="116566" cy="1222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2C37498-A18C-10F8-F25A-BD14BAD76099}"/>
              </a:ext>
            </a:extLst>
          </p:cNvPr>
          <p:cNvSpPr/>
          <p:nvPr/>
        </p:nvSpPr>
        <p:spPr>
          <a:xfrm rot="17556352">
            <a:off x="1088861" y="1122288"/>
            <a:ext cx="98289" cy="2832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AB01EFF-2DE5-C63D-A288-170858AB6431}"/>
              </a:ext>
            </a:extLst>
          </p:cNvPr>
          <p:cNvSpPr/>
          <p:nvPr/>
        </p:nvSpPr>
        <p:spPr>
          <a:xfrm rot="17556352">
            <a:off x="4943399" y="1122290"/>
            <a:ext cx="98289" cy="2832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D94BD89-0C9A-FE93-F448-10CE205FA052}"/>
              </a:ext>
            </a:extLst>
          </p:cNvPr>
          <p:cNvSpPr/>
          <p:nvPr/>
        </p:nvSpPr>
        <p:spPr>
          <a:xfrm rot="17556352">
            <a:off x="8768476" y="1089958"/>
            <a:ext cx="98289" cy="28327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8234FA0-DEE2-13ED-54B2-1257388DB301}"/>
              </a:ext>
            </a:extLst>
          </p:cNvPr>
          <p:cNvSpPr/>
          <p:nvPr/>
        </p:nvSpPr>
        <p:spPr>
          <a:xfrm rot="21008146">
            <a:off x="3000111" y="2666424"/>
            <a:ext cx="137667" cy="119485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2783FB7-998D-8B39-63AC-D2AB412DB3FF}"/>
              </a:ext>
            </a:extLst>
          </p:cNvPr>
          <p:cNvSpPr/>
          <p:nvPr/>
        </p:nvSpPr>
        <p:spPr>
          <a:xfrm rot="21008146">
            <a:off x="6842891" y="2670127"/>
            <a:ext cx="137667" cy="119485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E25A8E1-35DE-A495-0EAC-A1674C1C200A}"/>
              </a:ext>
            </a:extLst>
          </p:cNvPr>
          <p:cNvSpPr/>
          <p:nvPr/>
        </p:nvSpPr>
        <p:spPr>
          <a:xfrm rot="21008146">
            <a:off x="10620235" y="2602303"/>
            <a:ext cx="137667" cy="119485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73A30D5-69AC-C304-796E-325C7F87A11F}"/>
              </a:ext>
            </a:extLst>
          </p:cNvPr>
          <p:cNvSpPr/>
          <p:nvPr/>
        </p:nvSpPr>
        <p:spPr>
          <a:xfrm rot="20366770">
            <a:off x="983147" y="2029151"/>
            <a:ext cx="109739" cy="2432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5401B94-D809-0777-7119-81581BD1CF1B}"/>
              </a:ext>
            </a:extLst>
          </p:cNvPr>
          <p:cNvSpPr/>
          <p:nvPr/>
        </p:nvSpPr>
        <p:spPr>
          <a:xfrm rot="20366770">
            <a:off x="4827523" y="2029151"/>
            <a:ext cx="109739" cy="2432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B1298B4-6B97-9428-101E-B6DF81107AAE}"/>
              </a:ext>
            </a:extLst>
          </p:cNvPr>
          <p:cNvSpPr/>
          <p:nvPr/>
        </p:nvSpPr>
        <p:spPr>
          <a:xfrm rot="20366770">
            <a:off x="8651770" y="1973148"/>
            <a:ext cx="109739" cy="24326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6610CA2-5AF0-7D06-12E9-08B08DDD4646}"/>
              </a:ext>
            </a:extLst>
          </p:cNvPr>
          <p:cNvSpPr/>
          <p:nvPr/>
        </p:nvSpPr>
        <p:spPr>
          <a:xfrm rot="21008146">
            <a:off x="1791746" y="2173360"/>
            <a:ext cx="116566" cy="1222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B18BDB1-E666-8964-08C0-2B21F904379A}"/>
              </a:ext>
            </a:extLst>
          </p:cNvPr>
          <p:cNvSpPr/>
          <p:nvPr/>
        </p:nvSpPr>
        <p:spPr>
          <a:xfrm rot="21008146">
            <a:off x="5631316" y="2173361"/>
            <a:ext cx="116566" cy="1222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349142B-9A67-34C9-1598-DB05D57C7A80}"/>
              </a:ext>
            </a:extLst>
          </p:cNvPr>
          <p:cNvSpPr/>
          <p:nvPr/>
        </p:nvSpPr>
        <p:spPr>
          <a:xfrm rot="21008146">
            <a:off x="9439614" y="2116925"/>
            <a:ext cx="116566" cy="12221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4495B38-58DF-EE55-2445-6204EA6D3FE3}"/>
              </a:ext>
            </a:extLst>
          </p:cNvPr>
          <p:cNvCxnSpPr/>
          <p:nvPr/>
        </p:nvCxnSpPr>
        <p:spPr>
          <a:xfrm>
            <a:off x="2997046" y="4212771"/>
            <a:ext cx="2959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3BB5197-2E90-329F-E248-0EDAB8D95EF2}"/>
              </a:ext>
            </a:extLst>
          </p:cNvPr>
          <p:cNvCxnSpPr/>
          <p:nvPr/>
        </p:nvCxnSpPr>
        <p:spPr>
          <a:xfrm>
            <a:off x="2997045" y="4378234"/>
            <a:ext cx="295947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FF4EE35-4421-8314-0545-E1CAF1205CAD}"/>
              </a:ext>
            </a:extLst>
          </p:cNvPr>
          <p:cNvSpPr txBox="1"/>
          <p:nvPr/>
        </p:nvSpPr>
        <p:spPr>
          <a:xfrm>
            <a:off x="3345373" y="4074271"/>
            <a:ext cx="1497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bacterial &gt;&gt; human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B539C3-6CCE-EB16-4D58-B1774DC6ED88}"/>
              </a:ext>
            </a:extLst>
          </p:cNvPr>
          <p:cNvSpPr txBox="1"/>
          <p:nvPr/>
        </p:nvSpPr>
        <p:spPr>
          <a:xfrm>
            <a:off x="3345373" y="4232646"/>
            <a:ext cx="1497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bacterial &lt;&lt; human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FF8F138-EF90-2FC8-21F3-AAE349912135}"/>
              </a:ext>
            </a:extLst>
          </p:cNvPr>
          <p:cNvSpPr/>
          <p:nvPr/>
        </p:nvSpPr>
        <p:spPr>
          <a:xfrm rot="21008146">
            <a:off x="5031364" y="1943710"/>
            <a:ext cx="137667" cy="119485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0371B76-5202-338B-6D6B-4BDEDE445952}"/>
              </a:ext>
            </a:extLst>
          </p:cNvPr>
          <p:cNvSpPr/>
          <p:nvPr/>
        </p:nvSpPr>
        <p:spPr>
          <a:xfrm rot="21008146">
            <a:off x="1194405" y="1946132"/>
            <a:ext cx="137667" cy="119485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22B6BBA-4419-6CD0-810C-E5F6066B23EF}"/>
              </a:ext>
            </a:extLst>
          </p:cNvPr>
          <p:cNvSpPr/>
          <p:nvPr/>
        </p:nvSpPr>
        <p:spPr>
          <a:xfrm rot="21008146">
            <a:off x="8767847" y="1964973"/>
            <a:ext cx="137667" cy="119485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8DCDF5F-7AE6-933C-1E60-5BA529B111FB}"/>
              </a:ext>
            </a:extLst>
          </p:cNvPr>
          <p:cNvSpPr/>
          <p:nvPr/>
        </p:nvSpPr>
        <p:spPr>
          <a:xfrm rot="19527560">
            <a:off x="1114817" y="3163910"/>
            <a:ext cx="166782" cy="1506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B3A1CCF-E332-E899-9030-899F03BAD621}"/>
              </a:ext>
            </a:extLst>
          </p:cNvPr>
          <p:cNvSpPr/>
          <p:nvPr/>
        </p:nvSpPr>
        <p:spPr>
          <a:xfrm rot="19527560">
            <a:off x="4956984" y="3163911"/>
            <a:ext cx="166782" cy="1506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541811-60B1-996D-2289-98137EBAB9A3}"/>
              </a:ext>
            </a:extLst>
          </p:cNvPr>
          <p:cNvSpPr/>
          <p:nvPr/>
        </p:nvSpPr>
        <p:spPr>
          <a:xfrm rot="19527560">
            <a:off x="8790525" y="3097002"/>
            <a:ext cx="166782" cy="1506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18C7AAB-E202-9EF6-863E-9C53DEF4C2B3}"/>
              </a:ext>
            </a:extLst>
          </p:cNvPr>
          <p:cNvCxnSpPr>
            <a:cxnSpLocks/>
          </p:cNvCxnSpPr>
          <p:nvPr/>
        </p:nvCxnSpPr>
        <p:spPr>
          <a:xfrm>
            <a:off x="1331116" y="168442"/>
            <a:ext cx="0" cy="32605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21E2DDE-A39B-043C-F1BC-E57C20480CAD}"/>
              </a:ext>
            </a:extLst>
          </p:cNvPr>
          <p:cNvCxnSpPr>
            <a:cxnSpLocks/>
          </p:cNvCxnSpPr>
          <p:nvPr/>
        </p:nvCxnSpPr>
        <p:spPr>
          <a:xfrm>
            <a:off x="5625993" y="173039"/>
            <a:ext cx="0" cy="32605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5591BAA-0D49-8BA3-AAC5-BBEC6AEE549F}"/>
              </a:ext>
            </a:extLst>
          </p:cNvPr>
          <p:cNvCxnSpPr>
            <a:cxnSpLocks/>
          </p:cNvCxnSpPr>
          <p:nvPr/>
        </p:nvCxnSpPr>
        <p:spPr>
          <a:xfrm>
            <a:off x="9437053" y="120140"/>
            <a:ext cx="0" cy="32605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B2CBB02-798F-B44A-087D-BB0A7B71421B}"/>
              </a:ext>
            </a:extLst>
          </p:cNvPr>
          <p:cNvCxnSpPr>
            <a:cxnSpLocks/>
          </p:cNvCxnSpPr>
          <p:nvPr/>
        </p:nvCxnSpPr>
        <p:spPr>
          <a:xfrm>
            <a:off x="1782138" y="173039"/>
            <a:ext cx="0" cy="32605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FF427A9-8420-5043-ED50-22B4FC5058ED}"/>
              </a:ext>
            </a:extLst>
          </p:cNvPr>
          <p:cNvCxnSpPr>
            <a:cxnSpLocks/>
          </p:cNvCxnSpPr>
          <p:nvPr/>
        </p:nvCxnSpPr>
        <p:spPr>
          <a:xfrm flipV="1">
            <a:off x="9229060" y="522938"/>
            <a:ext cx="0" cy="2759153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FB718985-7089-4BBF-2025-BD886F62E6D4}"/>
              </a:ext>
            </a:extLst>
          </p:cNvPr>
          <p:cNvSpPr txBox="1"/>
          <p:nvPr/>
        </p:nvSpPr>
        <p:spPr>
          <a:xfrm>
            <a:off x="8410135" y="5181384"/>
            <a:ext cx="34434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alignment length and RMSD increase together.</a:t>
            </a:r>
          </a:p>
          <a:p>
            <a:r>
              <a:rPr lang="en-US" sz="1200" dirty="0">
                <a:latin typeface="Helvetica" pitchFamily="2" charset="0"/>
              </a:rPr>
              <a:t>Likely to reflect matches that are biologically meaningful (e.g., distant homologues). Why is divergence taking place? What selective pressures are at play?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BE43E2-ADE8-0CCE-1F1E-8AF71E97AFB1}"/>
              </a:ext>
            </a:extLst>
          </p:cNvPr>
          <p:cNvSpPr txBox="1"/>
          <p:nvPr/>
        </p:nvSpPr>
        <p:spPr>
          <a:xfrm>
            <a:off x="8410134" y="4984403"/>
            <a:ext cx="2217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E-value range: 10-7 to 10-14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A269D49-DFCF-128F-7D54-736968D17874}"/>
              </a:ext>
            </a:extLst>
          </p:cNvPr>
          <p:cNvCxnSpPr>
            <a:cxnSpLocks/>
          </p:cNvCxnSpPr>
          <p:nvPr/>
        </p:nvCxnSpPr>
        <p:spPr>
          <a:xfrm>
            <a:off x="8070334" y="5319883"/>
            <a:ext cx="343786" cy="0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E7F0772-B7B2-6C87-9891-026494FA7ED5}"/>
              </a:ext>
            </a:extLst>
          </p:cNvPr>
          <p:cNvCxnSpPr>
            <a:cxnSpLocks/>
          </p:cNvCxnSpPr>
          <p:nvPr/>
        </p:nvCxnSpPr>
        <p:spPr>
          <a:xfrm>
            <a:off x="8503449" y="1472011"/>
            <a:ext cx="23701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0D55EF8-5A7F-38D7-250B-B74A0289C36A}"/>
              </a:ext>
            </a:extLst>
          </p:cNvPr>
          <p:cNvCxnSpPr>
            <a:cxnSpLocks/>
          </p:cNvCxnSpPr>
          <p:nvPr/>
        </p:nvCxnSpPr>
        <p:spPr>
          <a:xfrm>
            <a:off x="4637371" y="1507451"/>
            <a:ext cx="24443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13B74E3-264A-76A6-6EA9-6DFAA2CB996E}"/>
              </a:ext>
            </a:extLst>
          </p:cNvPr>
          <p:cNvCxnSpPr>
            <a:cxnSpLocks/>
          </p:cNvCxnSpPr>
          <p:nvPr/>
        </p:nvCxnSpPr>
        <p:spPr>
          <a:xfrm>
            <a:off x="805234" y="1514539"/>
            <a:ext cx="237011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57180041-8DFD-4ADA-DA5C-2B84B6B1E534}"/>
              </a:ext>
            </a:extLst>
          </p:cNvPr>
          <p:cNvSpPr txBox="1"/>
          <p:nvPr/>
        </p:nvSpPr>
        <p:spPr>
          <a:xfrm>
            <a:off x="8352217" y="575313"/>
            <a:ext cx="77893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Helvetica" pitchFamily="2" charset="0"/>
              </a:rPr>
              <a:t>Low confidence matches</a:t>
            </a:r>
          </a:p>
          <a:p>
            <a:pPr algn="ctr"/>
            <a:r>
              <a:rPr lang="en-US" sz="700" dirty="0">
                <a:latin typeface="Helvetica" pitchFamily="2" charset="0"/>
              </a:rPr>
              <a:t>(Unrelated)</a:t>
            </a:r>
          </a:p>
          <a:p>
            <a:pPr algn="ctr"/>
            <a:r>
              <a:rPr lang="en-US" sz="700" dirty="0">
                <a:latin typeface="Helvetica" pitchFamily="2" charset="0"/>
              </a:rPr>
              <a:t>Spurious?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DB17EAE-E1CC-6A43-7B63-843AE6F778DD}"/>
              </a:ext>
            </a:extLst>
          </p:cNvPr>
          <p:cNvSpPr txBox="1"/>
          <p:nvPr/>
        </p:nvSpPr>
        <p:spPr>
          <a:xfrm>
            <a:off x="9677587" y="2777224"/>
            <a:ext cx="10729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Helvetica" pitchFamily="2" charset="0"/>
              </a:rPr>
              <a:t>High confidence matches (Homologues) </a:t>
            </a:r>
          </a:p>
          <a:p>
            <a:pPr algn="ctr"/>
            <a:r>
              <a:rPr lang="en-US" sz="700" dirty="0">
                <a:latin typeface="Helvetica" pitchFamily="2" charset="0"/>
              </a:rPr>
              <a:t>Very relevant!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EAC726-3A16-C22A-EEED-44C13D572122}"/>
              </a:ext>
            </a:extLst>
          </p:cNvPr>
          <p:cNvSpPr txBox="1"/>
          <p:nvPr/>
        </p:nvSpPr>
        <p:spPr>
          <a:xfrm rot="16200000">
            <a:off x="8149864" y="2253725"/>
            <a:ext cx="204469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latin typeface="Helvetica" pitchFamily="2" charset="0"/>
              </a:rPr>
              <a:t>Potentially interesting matches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FFE6731-EE75-D4AE-1C24-34301C4D855E}"/>
              </a:ext>
            </a:extLst>
          </p:cNvPr>
          <p:cNvSpPr txBox="1"/>
          <p:nvPr/>
        </p:nvSpPr>
        <p:spPr>
          <a:xfrm>
            <a:off x="8410134" y="4114155"/>
            <a:ext cx="3611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RMSD varies a lot when alignments are short.</a:t>
            </a:r>
          </a:p>
          <a:p>
            <a:r>
              <a:rPr lang="en-US" sz="1200" dirty="0">
                <a:latin typeface="Helvetica" pitchFamily="2" charset="0"/>
              </a:rPr>
              <a:t>Some likely reflect domain-level matches, while others spurious matches.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B4C3E08-74BF-DCDB-C5C9-B3F08E784C44}"/>
              </a:ext>
            </a:extLst>
          </p:cNvPr>
          <p:cNvSpPr txBox="1"/>
          <p:nvPr/>
        </p:nvSpPr>
        <p:spPr>
          <a:xfrm>
            <a:off x="8410134" y="3904055"/>
            <a:ext cx="19111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Helvetica" pitchFamily="2" charset="0"/>
              </a:rPr>
              <a:t>E-value range: 0 to 10-7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DF9BBEA-2614-D590-B7BC-BF9CF2161C73}"/>
              </a:ext>
            </a:extLst>
          </p:cNvPr>
          <p:cNvSpPr txBox="1"/>
          <p:nvPr/>
        </p:nvSpPr>
        <p:spPr>
          <a:xfrm>
            <a:off x="8378689" y="2467123"/>
            <a:ext cx="712775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>
                <a:latin typeface="Helvetica" pitchFamily="2" charset="0"/>
              </a:rPr>
              <a:t>Weak matches</a:t>
            </a:r>
          </a:p>
          <a:p>
            <a:pPr algn="ctr"/>
            <a:r>
              <a:rPr lang="en-US" sz="700" dirty="0">
                <a:latin typeface="Helvetica" pitchFamily="2" charset="0"/>
              </a:rPr>
              <a:t>(Remote homologues)</a:t>
            </a:r>
          </a:p>
          <a:p>
            <a:pPr algn="ctr"/>
            <a:r>
              <a:rPr lang="en-US" sz="700" dirty="0">
                <a:latin typeface="Helvetica" pitchFamily="2" charset="0"/>
              </a:rPr>
              <a:t>Interesting?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3071F4F-4526-3482-2DDB-FD2412FCD2DD}"/>
              </a:ext>
            </a:extLst>
          </p:cNvPr>
          <p:cNvSpPr txBox="1"/>
          <p:nvPr/>
        </p:nvSpPr>
        <p:spPr>
          <a:xfrm>
            <a:off x="2915508" y="4538614"/>
            <a:ext cx="46888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" pitchFamily="2" charset="0"/>
              </a:rPr>
              <a:t>Size mismatches likely reflect domain-specific matches</a:t>
            </a:r>
          </a:p>
          <a:p>
            <a:endParaRPr lang="en-US" sz="1200" dirty="0">
              <a:latin typeface="Helvetica" pitchFamily="2" charset="0"/>
            </a:endParaRPr>
          </a:p>
          <a:p>
            <a:r>
              <a:rPr lang="en-US" sz="1200" dirty="0">
                <a:latin typeface="Helvetica" pitchFamily="2" charset="0"/>
              </a:rPr>
              <a:t>A new plot colouring these same circles based on the degree of difference between the lengths of the proteins would highlight domain specific matches. </a:t>
            </a:r>
          </a:p>
          <a:p>
            <a:endParaRPr lang="en-US" sz="1200" dirty="0">
              <a:latin typeface="Helvetica" pitchFamily="2" charset="0"/>
            </a:endParaRPr>
          </a:p>
          <a:p>
            <a:r>
              <a:rPr lang="en-US" sz="1200" dirty="0">
                <a:latin typeface="Helvetica" pitchFamily="2" charset="0"/>
              </a:rPr>
              <a:t>What to look for: </a:t>
            </a:r>
          </a:p>
          <a:p>
            <a:pPr marL="228600" indent="-228600">
              <a:buAutoNum type="arabicParenR"/>
            </a:pPr>
            <a:r>
              <a:rPr lang="en-US" sz="1200" dirty="0">
                <a:latin typeface="Helvetica" pitchFamily="2" charset="0"/>
              </a:rPr>
              <a:t>low RMSD and low length difference = full-length homologue</a:t>
            </a:r>
          </a:p>
          <a:p>
            <a:pPr marL="228600" indent="-228600">
              <a:buAutoNum type="arabicParenR"/>
            </a:pPr>
            <a:r>
              <a:rPr lang="en-US" sz="1200" dirty="0">
                <a:latin typeface="Helvetica" pitchFamily="2" charset="0"/>
              </a:rPr>
              <a:t>low RMSD and high length difference = domain-level match</a:t>
            </a:r>
          </a:p>
        </p:txBody>
      </p:sp>
    </p:spTree>
    <p:extLst>
      <p:ext uri="{BB962C8B-B14F-4D97-AF65-F5344CB8AC3E}">
        <p14:creationId xmlns:p14="http://schemas.microsoft.com/office/powerpoint/2010/main" val="28517835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156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Chantel Trost</dc:creator>
  <cp:lastModifiedBy>Chantel Trost</cp:lastModifiedBy>
  <cp:revision>7</cp:revision>
  <dcterms:created xsi:type="dcterms:W3CDTF">2026-04-08T15:17:05Z</dcterms:created>
  <dcterms:modified xsi:type="dcterms:W3CDTF">2026-04-10T14:58:56Z</dcterms:modified>
</cp:coreProperties>
</file>