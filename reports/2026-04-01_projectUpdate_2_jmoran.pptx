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57" r:id="rId4"/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C651-C459-48E3-86F1-CED449A3498B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8BC55-598C-4AA3-BC46-22AAD297F9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0225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 list is for C Marshall</a:t>
            </a:r>
          </a:p>
          <a:p>
            <a:r>
              <a:rPr lang="en-US" dirty="0"/>
              <a:t>Used for improving diagnostic yield</a:t>
            </a:r>
            <a:r>
              <a:rPr lang="en-CA" dirty="0"/>
              <a:t> for pre-existing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2671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03405-564D-8412-3665-E5640462C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CBA71-D5D7-C119-3618-4A51E1C2A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0E559-1F0D-BC59-C157-DC6771C4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1C5E0-9EB8-B455-3207-E757D762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39DD1-6F3F-C7D6-9102-96DB688A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15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27BD-1999-C1B6-43C4-A0ED3C65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ACCF1-C96B-5345-42FF-AFBC0216C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B1BF3-E848-E712-FBF5-90F5D4F5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CE954-7A6B-E876-D777-8551470D2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B99DB-26F4-47EA-167E-F887E6F1F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1078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2263-9485-7531-6204-5B504D115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5757A-BD5A-3274-5E51-DF0992B3A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8C0FA-9820-9A02-D4F7-C5BEFC0F1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C944C-9E72-F178-61A8-B3B32D01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73EB2-5575-7CA3-2906-852384A9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8004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183D-B811-8FE1-796C-9E19EEC5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9DE7D-E336-2569-26DF-60A6E975CB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A97DD-92A9-8A7C-42AF-8E4655A01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32366-F14A-D59F-F448-7E6E8F46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E665C-8D9D-6118-D3CB-C77984F0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3875-7EE2-A044-5DE9-D639E9CE1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938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57C4-D061-F1AA-F34E-C95B2B161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ABB81-94A5-7725-7A84-4BE3C4D47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1C367-EDD3-48F5-4BD0-69A189A65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F6FF0-2520-A342-8D8F-CFC6CCFFA7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D147F-B577-83ED-7213-2E2162512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1680C-BF13-9377-04BE-779A1633B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8369D0-A215-17DF-BC24-E6FDA688E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9A22B1-B2A0-B603-063C-962D7DA91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270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E1A2-6AEC-6EC0-D9F1-64A3BF00B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C51E5A-A540-6668-6364-1ED5129F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1332B-9BD2-9800-738D-47EE1B184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ACAFA-1FC1-CE5D-95C9-6EE67E646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97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84D1BB-83D8-7065-8EF2-1BD0EBC0C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EB910E-77CF-2E20-951E-48D9E594F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841D1-1312-EFDB-F5BD-54068F3F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799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3785-CE7A-391D-6042-D7DD319FD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CC71C-D4D6-A938-814A-5608D2FCA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B67C7-379A-C028-EF7E-3A4EBDD45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C7590-E23A-C56B-C563-8FB230CA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FD81E-05B1-090E-30FE-AD2F2844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FD7BF-74EC-9EAC-6035-7CB6C5C9D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3777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89CF0-E867-F66A-554A-4175E61CD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21B9F-8790-FE9E-1CBC-97F6D6FFE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C898A-CA48-F0C2-DF2F-CDC1582A4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03A8B-B949-FCCB-30D4-13E59756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36B81-D8C2-D68C-BC67-22BFC81A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33F87-5A19-199E-41DD-D12492542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7947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87FDC-C24F-6FBE-85CE-E5780EFF6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A7BBC-AAAF-50CE-E378-2742E493A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10D55-75DE-0378-FF52-F1F35071E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B4349-3822-9C30-7178-ABC2AE1D6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45E82-6A5A-606D-9886-E78FD8BF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753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0BF2F1-10E6-F239-7124-6FB2A6822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D1B9B-BA41-2E31-0A65-BA2046C70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9F3A0-A1AA-A5EA-A75B-3FC8C9FF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22D23-1C74-19E9-7400-80A3212F2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BAC07-68D7-C4E8-7720-CEEC0DDA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782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A23011-03CD-D038-03E2-6F0046981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7321A-5ED3-8B2F-C2A4-5AB4842DE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69918-9403-F470-7715-81F6D019B6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EFF56-2492-48E5-B1E7-E04EEB44BBAA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B7D37-5892-ACB9-EA22-DD18A55B2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CAD6B-87BB-065D-BB5A-751EF84F6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357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4AC242-29D2-C020-AC7C-B4E54B89D3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284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AEFAB5-6682-B0B6-851C-6C6486FC1B55}"/>
              </a:ext>
            </a:extLst>
          </p:cNvPr>
          <p:cNvSpPr/>
          <p:nvPr/>
        </p:nvSpPr>
        <p:spPr>
          <a:xfrm>
            <a:off x="3140752" y="3239170"/>
            <a:ext cx="8944825" cy="3332606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FA40D477-A24B-CC6F-FA51-F4CD40A03F52}"/>
              </a:ext>
            </a:extLst>
          </p:cNvPr>
          <p:cNvSpPr txBox="1"/>
          <p:nvPr/>
        </p:nvSpPr>
        <p:spPr>
          <a:xfrm>
            <a:off x="5198295" y="3577498"/>
            <a:ext cx="6616011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2400" b="1" dirty="0">
              <a:solidFill>
                <a:schemeClr val="bg1"/>
              </a:solidFill>
              <a:latin typeface="Georgia Pro" panose="02040502050405020303" pitchFamily="18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000" dirty="0">
                <a:solidFill>
                  <a:schemeClr val="bg1"/>
                </a:solidFill>
                <a:latin typeface="Georgia Pro" panose="02040502050405020303" pitchFamily="18" charset="0"/>
                <a:cs typeface="Courier New" panose="02070309020205020404" pitchFamily="49" charset="0"/>
              </a:rPr>
              <a:t>IEI project: update 2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58A8BC8-CEBE-709C-2D19-85B5B4417DE9}"/>
              </a:ext>
            </a:extLst>
          </p:cNvPr>
          <p:cNvSpPr>
            <a:spLocks noGrp="1"/>
          </p:cNvSpPr>
          <p:nvPr/>
        </p:nvSpPr>
        <p:spPr>
          <a:xfrm>
            <a:off x="5202143" y="4850131"/>
            <a:ext cx="5580778" cy="1594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Julian Moran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2026-04-10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Centre for Applied Genomics, SickKids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46F31A-9D9C-32B6-F7EB-EC2699748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668" y="156850"/>
            <a:ext cx="2322549" cy="744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08C6D2-6225-C609-D6F3-280D4FC70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946" y="3423854"/>
            <a:ext cx="1400078" cy="2907728"/>
          </a:xfrm>
          <a:prstGeom prst="rect">
            <a:avLst/>
          </a:prstGeom>
        </p:spPr>
      </p:pic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3823FCA6-53C2-3223-2608-69AA7951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1321" y="6492875"/>
            <a:ext cx="2743200" cy="365125"/>
          </a:xfrm>
        </p:spPr>
        <p:txBody>
          <a:bodyPr/>
          <a:lstStyle/>
          <a:p>
            <a:fld id="{3899FC77-40C7-4C49-9A19-86BDE9B75E8A}" type="slidenum">
              <a:rPr lang="en-CA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fld>
            <a:endParaRPr lang="en-CA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46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16FCF-965B-417B-9C48-C3F0A918A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F9B7D-37C6-6302-B1AA-10313FFB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2</a:t>
            </a:fld>
            <a:endParaRPr lang="en-CA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C2CBF-E878-53C7-4EA1-4823EE37C388}"/>
              </a:ext>
            </a:extLst>
          </p:cNvPr>
          <p:cNvSpPr txBox="1"/>
          <p:nvPr/>
        </p:nvSpPr>
        <p:spPr>
          <a:xfrm>
            <a:off x="838200" y="1401147"/>
            <a:ext cx="927201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Automate pairwise structural alignment with PyMol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endParaRPr lang="en-US" dirty="0">
              <a:latin typeface="Georgia Pro" panose="02040502050405020303" pitchFamily="18" charset="0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Finalize manually curated list of gold-standard bacteria-human protein pairs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</a:rPr>
              <a:t>source: high-impact literature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</a:rPr>
              <a:t>purpose: to serve as positive control in subsequent analysis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</a:rPr>
              <a:t>criteria: bacterial homology to human, proof of bacterial immune function</a:t>
            </a:r>
            <a:endParaRPr lang="en-US" dirty="0">
              <a:latin typeface="Georgia Pro" panose="02040502050405020303" pitchFamily="18" charset="0"/>
            </a:endParaRPr>
          </a:p>
          <a:p>
            <a:pPr lvl="1">
              <a:spcAft>
                <a:spcPts val="600"/>
              </a:spcAft>
            </a:pPr>
            <a:endParaRPr lang="en-US" dirty="0">
              <a:latin typeface="Georgia Pro" panose="02040502050405020303" pitchFamily="18" charset="0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Build a user interface for interactive analysis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</a:rPr>
              <a:t>target users: C Trost lab, J Moran, bacterial protein research community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</a:rPr>
              <a:t>features: structural alignment visualization, sequence alignment visualization, domain annotation overlay</a:t>
            </a:r>
          </a:p>
          <a:p>
            <a:pPr lvl="1">
              <a:spcAft>
                <a:spcPts val="600"/>
              </a:spcAft>
            </a:pPr>
            <a:endParaRPr lang="en-US" sz="1200" dirty="0">
              <a:latin typeface="Lucida Console" panose="020B0609040504020204" pitchFamily="49" charset="0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Get gene list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  <a:cs typeface="Courier New" panose="02070309020205020404" pitchFamily="49" charset="0"/>
              </a:rPr>
              <a:t>target users: C Marshall clinical research group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  <a:cs typeface="Courier New" panose="02070309020205020404" pitchFamily="49" charset="0"/>
              </a:rPr>
              <a:t>purpose: improve diagnostic yield for rare single-variant immune disease from genome sequencing</a:t>
            </a:r>
          </a:p>
          <a:p>
            <a:pPr lvl="1">
              <a:spcAft>
                <a:spcPts val="600"/>
              </a:spcAft>
            </a:pPr>
            <a:endParaRPr lang="en-US" dirty="0">
              <a:latin typeface="Georgia Pro" panose="02040502050405020303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BA7778-ADAB-D7DC-51F1-3527DE2F3E77}"/>
              </a:ext>
            </a:extLst>
          </p:cNvPr>
          <p:cNvSpPr/>
          <p:nvPr/>
        </p:nvSpPr>
        <p:spPr>
          <a:xfrm>
            <a:off x="315257" y="267370"/>
            <a:ext cx="6204416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7E3C52-B774-3588-1211-3716B2FAB3B6}"/>
              </a:ext>
            </a:extLst>
          </p:cNvPr>
          <p:cNvSpPr txBox="1"/>
          <p:nvPr/>
        </p:nvSpPr>
        <p:spPr>
          <a:xfrm>
            <a:off x="527960" y="335519"/>
            <a:ext cx="57790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Review – next steps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422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F24223-3E5F-C954-8038-017E4C42796F}"/>
              </a:ext>
            </a:extLst>
          </p:cNvPr>
          <p:cNvSpPr/>
          <p:nvPr/>
        </p:nvSpPr>
        <p:spPr>
          <a:xfrm>
            <a:off x="315257" y="267370"/>
            <a:ext cx="8289248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A579F-3DAD-E76A-FDBB-D0A5681F25E7}"/>
              </a:ext>
            </a:extLst>
          </p:cNvPr>
          <p:cNvSpPr txBox="1"/>
          <p:nvPr/>
        </p:nvSpPr>
        <p:spPr>
          <a:xfrm>
            <a:off x="527960" y="335519"/>
            <a:ext cx="71804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Why validate with structural alignment?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200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D5AEA-25A4-23EF-061E-6033EBF9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963EFC-F093-3F28-A109-DC88635409FE}"/>
              </a:ext>
            </a:extLst>
          </p:cNvPr>
          <p:cNvSpPr/>
          <p:nvPr/>
        </p:nvSpPr>
        <p:spPr>
          <a:xfrm>
            <a:off x="315257" y="267370"/>
            <a:ext cx="8289248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6B9E2-84D2-B174-67D9-7AEE69C49D76}"/>
              </a:ext>
            </a:extLst>
          </p:cNvPr>
          <p:cNvSpPr txBox="1"/>
          <p:nvPr/>
        </p:nvSpPr>
        <p:spPr>
          <a:xfrm>
            <a:off x="527960" y="335519"/>
            <a:ext cx="71804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Gold standard list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FE8C64-B8A3-94B5-6509-02098D59E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926015"/>
              </p:ext>
            </p:extLst>
          </p:nvPr>
        </p:nvGraphicFramePr>
        <p:xfrm>
          <a:off x="1241192" y="2618867"/>
          <a:ext cx="5347208" cy="3595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0540">
                  <a:extLst>
                    <a:ext uri="{9D8B030D-6E8A-4147-A177-3AD203B41FA5}">
                      <a16:colId xmlns:a16="http://schemas.microsoft.com/office/drawing/2014/main" val="529853741"/>
                    </a:ext>
                  </a:extLst>
                </a:gridCol>
                <a:gridCol w="2130668">
                  <a:extLst>
                    <a:ext uri="{9D8B030D-6E8A-4147-A177-3AD203B41FA5}">
                      <a16:colId xmlns:a16="http://schemas.microsoft.com/office/drawing/2014/main" val="243001995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749239967"/>
                    </a:ext>
                  </a:extLst>
                </a:gridCol>
              </a:tblGrid>
              <a:tr h="1403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PMID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Bacterial gene name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Human gene name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5437008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30787435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cdnE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CGAS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662312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30787435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cdnE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CGAS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748293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40705877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ThsA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FAM118B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02613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40705877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ThsA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SIRT1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979640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40705877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ThsA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SIRT2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362416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40705877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ThsA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SIRT4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554006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40705877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ThsA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SIRT5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022963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40705877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ThsA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SIRT6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113074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40705877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ThsA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SIRT7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711567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vip6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25769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vip8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671522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vip15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060587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vip21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524863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vip47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47763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vip50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979791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vip56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7395982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vip58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9730952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vip60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42526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DA5EAAB-16B0-2623-CF1A-2B61D1BF787A}"/>
              </a:ext>
            </a:extLst>
          </p:cNvPr>
          <p:cNvSpPr txBox="1"/>
          <p:nvPr/>
        </p:nvSpPr>
        <p:spPr>
          <a:xfrm>
            <a:off x="1241192" y="1004062"/>
            <a:ext cx="4489704" cy="138499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Source: high-impact literature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Criteria: bacterial homology to human, proof of bacterial immune function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Purpose: positive control for subsequence analysis</a:t>
            </a:r>
            <a:endParaRPr lang="en-CA" sz="1200" dirty="0">
              <a:latin typeface="Lucida Console" panose="020B060904050402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7F113A-51DC-5CB6-7C05-0C559A2EC737}"/>
              </a:ext>
            </a:extLst>
          </p:cNvPr>
          <p:cNvCxnSpPr>
            <a:cxnSpLocks/>
          </p:cNvCxnSpPr>
          <p:nvPr/>
        </p:nvCxnSpPr>
        <p:spPr>
          <a:xfrm>
            <a:off x="6318504" y="1696559"/>
            <a:ext cx="0" cy="9223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24020F-D695-FDE0-F782-285CFA8CE4CF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730896" y="1696560"/>
            <a:ext cx="5876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A6E3BA6-4697-4E8A-416B-A332B9C216CB}"/>
              </a:ext>
            </a:extLst>
          </p:cNvPr>
          <p:cNvSpPr txBox="1"/>
          <p:nvPr/>
        </p:nvSpPr>
        <p:spPr>
          <a:xfrm>
            <a:off x="1232048" y="6222191"/>
            <a:ext cx="267004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Total number: 18 pairs</a:t>
            </a:r>
            <a:endParaRPr lang="en-CA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586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232</Words>
  <Application>Microsoft Office PowerPoint</Application>
  <PresentationFormat>Widescreen</PresentationFormat>
  <Paragraphs>90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Georgia Pro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Moran</dc:creator>
  <cp:lastModifiedBy>Julian Moran</cp:lastModifiedBy>
  <cp:revision>17</cp:revision>
  <dcterms:created xsi:type="dcterms:W3CDTF">2026-04-01T17:28:23Z</dcterms:created>
  <dcterms:modified xsi:type="dcterms:W3CDTF">2026-04-01T19:22:08Z</dcterms:modified>
</cp:coreProperties>
</file>