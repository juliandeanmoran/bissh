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6" r:id="rId3"/>
    <p:sldId id="282" r:id="rId4"/>
    <p:sldId id="281" r:id="rId5"/>
    <p:sldId id="257" r:id="rId6"/>
    <p:sldId id="285" r:id="rId7"/>
    <p:sldId id="269" r:id="rId8"/>
    <p:sldId id="270" r:id="rId9"/>
    <p:sldId id="271" r:id="rId10"/>
    <p:sldId id="275" r:id="rId11"/>
    <p:sldId id="274" r:id="rId12"/>
    <p:sldId id="277" r:id="rId13"/>
    <p:sldId id="278" r:id="rId14"/>
    <p:sldId id="267" r:id="rId15"/>
    <p:sldId id="276" r:id="rId16"/>
    <p:sldId id="279" r:id="rId17"/>
    <p:sldId id="280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926E"/>
    <a:srgbClr val="0162B3"/>
    <a:srgbClr val="EEEEEE"/>
    <a:srgbClr val="0000FF"/>
    <a:srgbClr val="0000A5"/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087" autoAdjust="0"/>
  </p:normalViewPr>
  <p:slideViewPr>
    <p:cSldViewPr snapToGrid="0">
      <p:cViewPr>
        <p:scale>
          <a:sx n="75" d="100"/>
          <a:sy n="75" d="100"/>
        </p:scale>
        <p:origin x="19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C651-C459-48E3-86F1-CED449A3498B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8BC55-598C-4AA3-BC46-22AAD297F9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22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 list is for C Marshall</a:t>
            </a:r>
          </a:p>
          <a:p>
            <a:r>
              <a:rPr lang="en-US" dirty="0"/>
              <a:t>Used for improving diagnostic yield</a:t>
            </a:r>
            <a:r>
              <a:rPr lang="en-CA" dirty="0"/>
              <a:t> for pre-existing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671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Convincing domain-specific alignment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3458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Convincing domain-specific alignment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4435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 convincing; alignment length is an important qualification.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4030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Convincing structural homology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1867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BD46-A852-83BD-0DE7-6BBA1991F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B405E-D449-2FC1-FD38-066244525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563D2-F3B9-D0B3-A97A-FD0888FD5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 list is for C Marshall</a:t>
            </a:r>
          </a:p>
          <a:p>
            <a:r>
              <a:rPr lang="en-US" dirty="0"/>
              <a:t>Used for improving diagnostic yield</a:t>
            </a:r>
            <a:r>
              <a:rPr lang="en-CA" dirty="0"/>
              <a:t> for pre-existing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95A25-DAD5-3C59-76BD-35850174D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8320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3405-564D-8412-3665-E5640462C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CBA71-D5D7-C119-3618-4A51E1C2A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0E559-1F0D-BC59-C157-DC6771C4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1C5E0-9EB8-B455-3207-E757D762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9DD1-6F3F-C7D6-9102-96DB688A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15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27BD-1999-C1B6-43C4-A0ED3C65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CCF1-C96B-5345-42FF-AFBC0216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B1BF3-E848-E712-FBF5-90F5D4F5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CE954-7A6B-E876-D777-8551470D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B99DB-26F4-47EA-167E-F887E6F1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1078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2263-9485-7531-6204-5B504D11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5757A-BD5A-3274-5E51-DF0992B3A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8C0FA-9820-9A02-D4F7-C5BEFC0F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C944C-9E72-F178-61A8-B3B32D01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73EB2-5575-7CA3-2906-852384A9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800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183D-B811-8FE1-796C-9E19EEC5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DE7D-E336-2569-26DF-60A6E975C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A97DD-92A9-8A7C-42AF-8E4655A0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32366-F14A-D59F-F448-7E6E8F46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E665C-8D9D-6118-D3CB-C77984F0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3875-7EE2-A044-5DE9-D639E9CE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938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57C4-D061-F1AA-F34E-C95B2B16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ABB81-94A5-7725-7A84-4BE3C4D47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1C367-EDD3-48F5-4BD0-69A189A65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F6FF0-2520-A342-8D8F-CFC6CCFFA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D147F-B577-83ED-7213-2E2162512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1680C-BF13-9377-04BE-779A1633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369D0-A215-17DF-BC24-E6FDA688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A22B1-B2A0-B603-063C-962D7DA9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270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E1A2-6AEC-6EC0-D9F1-64A3BF00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51E5A-A540-6668-6364-1ED5129F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1332B-9BD2-9800-738D-47EE1B18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ACAFA-1FC1-CE5D-95C9-6EE67E64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97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84D1BB-83D8-7065-8EF2-1BD0EBC0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B910E-77CF-2E20-951E-48D9E594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841D1-1312-EFDB-F5BD-54068F3F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799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3785-CE7A-391D-6042-D7DD319FD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C71C-D4D6-A938-814A-5608D2FCA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67C7-379A-C028-EF7E-3A4EBDD45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C7590-E23A-C56B-C563-8FB230CA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FD81E-05B1-090E-30FE-AD2F2844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FD7BF-74EC-9EAC-6035-7CB6C5C9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377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9CF0-E867-F66A-554A-4175E61C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21B9F-8790-FE9E-1CBC-97F6D6FFE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C898A-CA48-F0C2-DF2F-CDC1582A4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03A8B-B949-FCCB-30D4-13E59756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36B81-D8C2-D68C-BC67-22BFC81A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33F87-5A19-199E-41DD-D1249254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94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7FDC-C24F-6FBE-85CE-E5780EFF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A7BBC-AAAF-50CE-E378-2742E493A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10D55-75DE-0378-FF52-F1F35071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B4349-3822-9C30-7178-ABC2AE1D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45E82-6A5A-606D-9886-E78FD8B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753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BF2F1-10E6-F239-7124-6FB2A6822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D1B9B-BA41-2E31-0A65-BA2046C70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F3A0-A1AA-A5EA-A75B-3FC8C9FF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22D23-1C74-19E9-7400-80A3212F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AC07-68D7-C4E8-7720-CEEC0DDA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782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23011-03CD-D038-03E2-6F004698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7321A-5ED3-8B2F-C2A4-5AB4842DE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69918-9403-F470-7715-81F6D019B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EFF56-2492-48E5-B1E7-E04EEB44BBAA}" type="datetimeFigureOut">
              <a:rPr lang="en-CA" smtClean="0"/>
              <a:t>2026-04-10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B7D37-5892-ACB9-EA22-DD18A55B2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CAD6B-87BB-065D-BB5A-751EF84F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357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6.sv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4AC242-29D2-C020-AC7C-B4E54B89D3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84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AEFAB5-6682-B0B6-851C-6C6486FC1B55}"/>
              </a:ext>
            </a:extLst>
          </p:cNvPr>
          <p:cNvSpPr/>
          <p:nvPr/>
        </p:nvSpPr>
        <p:spPr>
          <a:xfrm>
            <a:off x="3140752" y="3239170"/>
            <a:ext cx="8944825" cy="3332606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FA40D477-A24B-CC6F-FA51-F4CD40A03F52}"/>
              </a:ext>
            </a:extLst>
          </p:cNvPr>
          <p:cNvSpPr txBox="1"/>
          <p:nvPr/>
        </p:nvSpPr>
        <p:spPr>
          <a:xfrm>
            <a:off x="5198295" y="3577498"/>
            <a:ext cx="6616011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400" b="1" dirty="0">
              <a:solidFill>
                <a:schemeClr val="bg1"/>
              </a:solidFill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dirty="0">
                <a:solidFill>
                  <a:schemeClr val="bg1"/>
                </a:solidFill>
                <a:latin typeface="Georgia Pro" panose="02040502050405020303" pitchFamily="18" charset="0"/>
                <a:cs typeface="Courier New" panose="02070309020205020404" pitchFamily="49" charset="0"/>
              </a:rPr>
              <a:t>IEI project: update 2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58A8BC8-CEBE-709C-2D19-85B5B4417DE9}"/>
              </a:ext>
            </a:extLst>
          </p:cNvPr>
          <p:cNvSpPr>
            <a:spLocks noGrp="1"/>
          </p:cNvSpPr>
          <p:nvPr/>
        </p:nvSpPr>
        <p:spPr>
          <a:xfrm>
            <a:off x="5202143" y="4850131"/>
            <a:ext cx="5580778" cy="1594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Julian Moran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2026-04-10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Centre for Applied Genomics, SickKids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46F31A-9D9C-32B6-F7EB-EC2699748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668" y="156850"/>
            <a:ext cx="2322549" cy="744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08C6D2-6225-C609-D6F3-280D4FC70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46" y="3423854"/>
            <a:ext cx="1400078" cy="2907728"/>
          </a:xfrm>
          <a:prstGeom prst="rect">
            <a:avLst/>
          </a:prstGeom>
        </p:spPr>
      </p:pic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3823FCA6-53C2-3223-2608-69AA7951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321" y="6492875"/>
            <a:ext cx="2743200" cy="365125"/>
          </a:xfrm>
        </p:spPr>
        <p:txBody>
          <a:bodyPr/>
          <a:lstStyle/>
          <a:p>
            <a:fld id="{3899FC77-40C7-4C49-9A19-86BDE9B75E8A}" type="slidenum">
              <a:rPr lang="en-CA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fld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6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6FCF-965B-417B-9C48-C3F0A918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F9B7D-37C6-6302-B1AA-10313FFB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2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C2CBF-E878-53C7-4EA1-4823EE37C388}"/>
              </a:ext>
            </a:extLst>
          </p:cNvPr>
          <p:cNvSpPr txBox="1"/>
          <p:nvPr/>
        </p:nvSpPr>
        <p:spPr>
          <a:xfrm>
            <a:off x="838200" y="1033157"/>
            <a:ext cx="9272016" cy="583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Automate pairwise structural alignment with PyMOL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endParaRPr lang="en-US" dirty="0">
              <a:latin typeface="Georgia Pro" panose="02040502050405020303" pitchFamily="18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Manually curate positive control set of bacteria-human protein pairs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source: high-impact literature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purpose: to serve as positive control in subsequent analysis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criteria: bacterial homology to human, proof of bacterial immune function</a:t>
            </a:r>
            <a:endParaRPr lang="en-US" dirty="0">
              <a:latin typeface="Georgia Pro" panose="02040502050405020303" pitchFamily="18" charset="0"/>
            </a:endParaRPr>
          </a:p>
          <a:p>
            <a:pPr lvl="1">
              <a:spcAft>
                <a:spcPts val="600"/>
              </a:spcAft>
            </a:pPr>
            <a:endParaRPr lang="en-US" dirty="0">
              <a:latin typeface="Georgia Pro" panose="02040502050405020303" pitchFamily="18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Build pipeline frontend user interface for interactive analysis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target users: C Trost lab, J Moran, bacterial protein research community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features: structural alignment visualization, sequence alignment visualization, domain annotation overlay</a:t>
            </a:r>
          </a:p>
          <a:p>
            <a:pPr lvl="1">
              <a:spcAft>
                <a:spcPts val="600"/>
              </a:spcAft>
            </a:pPr>
            <a:endParaRPr lang="en-US" sz="1200" dirty="0">
              <a:latin typeface="Lucida Console" panose="020B0609040504020204" pitchFamily="49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Run pipeline on all bacterial defense systems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incurs prioritization problem</a:t>
            </a:r>
          </a:p>
          <a:p>
            <a:pPr lvl="1">
              <a:spcAft>
                <a:spcPts val="600"/>
              </a:spcAft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Get gene list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target users: C Marshall clinical research group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purpose: improve diagnostic yield for rare single-variant immune disease from genome sequencing</a:t>
            </a:r>
          </a:p>
          <a:p>
            <a:pPr lvl="1">
              <a:spcAft>
                <a:spcPts val="600"/>
              </a:spcAft>
            </a:pPr>
            <a:endParaRPr lang="en-US" dirty="0">
              <a:latin typeface="Georgia Pro" panose="02040502050405020303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BA7778-ADAB-D7DC-51F1-3527DE2F3E77}"/>
              </a:ext>
            </a:extLst>
          </p:cNvPr>
          <p:cNvSpPr/>
          <p:nvPr/>
        </p:nvSpPr>
        <p:spPr>
          <a:xfrm>
            <a:off x="315257" y="267370"/>
            <a:ext cx="6204416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E3C52-B774-3588-1211-3716B2FAB3B6}"/>
              </a:ext>
            </a:extLst>
          </p:cNvPr>
          <p:cNvSpPr txBox="1"/>
          <p:nvPr/>
        </p:nvSpPr>
        <p:spPr>
          <a:xfrm>
            <a:off x="527960" y="335519"/>
            <a:ext cx="5779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Aims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42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A9FD-5862-351D-6BE3-3DBBA19E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627BFE-8645-59B3-D0C3-3CA9AE136834}"/>
              </a:ext>
            </a:extLst>
          </p:cNvPr>
          <p:cNvSpPr/>
          <p:nvPr/>
        </p:nvSpPr>
        <p:spPr>
          <a:xfrm>
            <a:off x="315257" y="267370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02217-6543-B35D-A4EC-34ED66C76FEB}"/>
              </a:ext>
            </a:extLst>
          </p:cNvPr>
          <p:cNvSpPr txBox="1"/>
          <p:nvPr/>
        </p:nvSpPr>
        <p:spPr>
          <a:xfrm>
            <a:off x="527959" y="335519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Why use PyMol to check structural alignment?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13799-639D-EB8E-C06C-18D2C0DBA52E}"/>
              </a:ext>
            </a:extLst>
          </p:cNvPr>
          <p:cNvSpPr txBox="1"/>
          <p:nvPr/>
        </p:nvSpPr>
        <p:spPr>
          <a:xfrm>
            <a:off x="7041441" y="1593816"/>
            <a:ext cx="4406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e-values [given by Foldseek] denote the probability of observing this level of structural alignment due to random chance </a:t>
            </a:r>
            <a:endParaRPr lang="en-CA" dirty="0">
              <a:latin typeface="Georgia Pro" panose="02040502050405020303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59AC40-C72A-5E68-B12A-DCC9B76AB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682" r="4200"/>
          <a:stretch>
            <a:fillRect/>
          </a:stretch>
        </p:blipFill>
        <p:spPr>
          <a:xfrm>
            <a:off x="1055892" y="1355651"/>
            <a:ext cx="5255941" cy="5010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C07C6B-D750-37FF-BAB8-AC0FF56841D7}"/>
              </a:ext>
            </a:extLst>
          </p:cNvPr>
          <p:cNvSpPr txBox="1"/>
          <p:nvPr/>
        </p:nvSpPr>
        <p:spPr>
          <a:xfrm>
            <a:off x="7035441" y="3214355"/>
            <a:ext cx="440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They are the principal measure of structural similarity in Foldseek</a:t>
            </a:r>
            <a:endParaRPr lang="en-CA" dirty="0">
              <a:latin typeface="Georgia Pro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0C93D-73AE-8A0D-3E58-D7ED60BEA928}"/>
              </a:ext>
            </a:extLst>
          </p:cNvPr>
          <p:cNvSpPr txBox="1"/>
          <p:nvPr/>
        </p:nvSpPr>
        <p:spPr>
          <a:xfrm>
            <a:off x="7035441" y="4280896"/>
            <a:ext cx="440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Why the discrepancy between e-value and PyMOL structural alignment?</a:t>
            </a:r>
            <a:endParaRPr lang="en-CA" dirty="0"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661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C6D10-FBBF-806D-9C45-72E2D855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B68AB6-2C13-2823-21AA-598AB34CA308}"/>
              </a:ext>
            </a:extLst>
          </p:cNvPr>
          <p:cNvSpPr/>
          <p:nvPr/>
        </p:nvSpPr>
        <p:spPr>
          <a:xfrm>
            <a:off x="315257" y="267370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5176D-3C4F-9CB5-B3AA-1CEA9CE73C25}"/>
              </a:ext>
            </a:extLst>
          </p:cNvPr>
          <p:cNvSpPr txBox="1"/>
          <p:nvPr/>
        </p:nvSpPr>
        <p:spPr>
          <a:xfrm>
            <a:off x="527959" y="335519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Why use PyMol to check structural alignment?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D03B7-105D-34B0-FD6E-F3024490F5A9}"/>
              </a:ext>
            </a:extLst>
          </p:cNvPr>
          <p:cNvSpPr txBox="1"/>
          <p:nvPr/>
        </p:nvSpPr>
        <p:spPr>
          <a:xfrm>
            <a:off x="7041441" y="1593816"/>
            <a:ext cx="4406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e-values [given by Foldseek] denote the probability of observing this level of structural alignment due to random chance </a:t>
            </a:r>
            <a:endParaRPr lang="en-CA" dirty="0">
              <a:latin typeface="Georgia Pro" panose="02040502050405020303" pitchFamily="18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07C78F-41B8-E667-9007-3E91B02E9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682" r="4200"/>
          <a:stretch>
            <a:fillRect/>
          </a:stretch>
        </p:blipFill>
        <p:spPr>
          <a:xfrm>
            <a:off x="1055892" y="1355651"/>
            <a:ext cx="5255941" cy="5010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54293D-DC59-A0AA-383F-8FD58BCFD888}"/>
              </a:ext>
            </a:extLst>
          </p:cNvPr>
          <p:cNvSpPr txBox="1"/>
          <p:nvPr/>
        </p:nvSpPr>
        <p:spPr>
          <a:xfrm>
            <a:off x="7035441" y="3214355"/>
            <a:ext cx="440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They are the principal measure of structural similarity in Foldseek</a:t>
            </a:r>
            <a:endParaRPr lang="en-CA" dirty="0">
              <a:latin typeface="Georgia Pro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2CD3E4-24D1-4D43-F041-EF9A1FB42534}"/>
              </a:ext>
            </a:extLst>
          </p:cNvPr>
          <p:cNvSpPr txBox="1"/>
          <p:nvPr/>
        </p:nvSpPr>
        <p:spPr>
          <a:xfrm>
            <a:off x="7035441" y="4280896"/>
            <a:ext cx="440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Why the discrepancy between e-value and PyMOL structural alignment?</a:t>
            </a:r>
            <a:endParaRPr lang="en-CA" dirty="0">
              <a:latin typeface="Georgia Pro" panose="02040502050405020303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AE3C5-C8A9-8205-DE63-38A4E28A68A9}"/>
              </a:ext>
            </a:extLst>
          </p:cNvPr>
          <p:cNvSpPr/>
          <p:nvPr/>
        </p:nvSpPr>
        <p:spPr>
          <a:xfrm>
            <a:off x="1761685" y="3585011"/>
            <a:ext cx="1282598" cy="217385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518C1C-E866-9FB8-D4E7-45732D4215FC}"/>
                  </a:ext>
                </a:extLst>
              </p:cNvPr>
              <p:cNvSpPr txBox="1"/>
              <p:nvPr/>
            </p:nvSpPr>
            <p:spPr>
              <a:xfrm>
                <a:off x="6386957" y="6258918"/>
                <a:ext cx="2715972" cy="401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FF0000"/>
                    </a:solidFill>
                    <a:latin typeface="Lucida Console" panose="020B0609040504020204" pitchFamily="49" charset="0"/>
                  </a:rPr>
                  <a:t>Better structural alignment according to Foldseek (</a:t>
                </a:r>
                <a14:m>
                  <m:oMath xmlns:m="http://schemas.openxmlformats.org/officeDocument/2006/math">
                    <m:r>
                      <a:rPr lang="en-US" sz="1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−35</m:t>
                        </m:r>
                      </m:sup>
                    </m:sSup>
                  </m:oMath>
                </a14:m>
                <a:r>
                  <a:rPr lang="en-US" sz="1000" dirty="0">
                    <a:solidFill>
                      <a:srgbClr val="FF0000"/>
                    </a:solidFill>
                    <a:latin typeface="Lucida Console" panose="020B0609040504020204" pitchFamily="49" charset="0"/>
                  </a:rPr>
                  <a:t>)</a:t>
                </a:r>
                <a:endParaRPr lang="en-CA" sz="1000" dirty="0">
                  <a:solidFill>
                    <a:srgbClr val="FF0000"/>
                  </a:solidFill>
                  <a:latin typeface="Lucida Console" panose="020B0609040504020204" pitchFamily="49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518C1C-E866-9FB8-D4E7-45732D421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957" y="6258918"/>
                <a:ext cx="2715972" cy="401777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7A61B5-C0D2-3BA0-F9D9-376E2934C8FF}"/>
              </a:ext>
            </a:extLst>
          </p:cNvPr>
          <p:cNvCxnSpPr>
            <a:cxnSpLocks/>
          </p:cNvCxnSpPr>
          <p:nvPr/>
        </p:nvCxnSpPr>
        <p:spPr>
          <a:xfrm>
            <a:off x="1761685" y="5773314"/>
            <a:ext cx="746493" cy="760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CE44E8-7871-EEBA-E2A9-B993E9C0C853}"/>
              </a:ext>
            </a:extLst>
          </p:cNvPr>
          <p:cNvSpPr txBox="1"/>
          <p:nvPr/>
        </p:nvSpPr>
        <p:spPr>
          <a:xfrm>
            <a:off x="2508178" y="6480192"/>
            <a:ext cx="2715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Worse structural alignment according to Foldseek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07E280-D226-6DE5-32F1-5288A0AFDB6F}"/>
              </a:ext>
            </a:extLst>
          </p:cNvPr>
          <p:cNvCxnSpPr>
            <a:cxnSpLocks/>
          </p:cNvCxnSpPr>
          <p:nvPr/>
        </p:nvCxnSpPr>
        <p:spPr>
          <a:xfrm>
            <a:off x="5945617" y="5773856"/>
            <a:ext cx="480053" cy="485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AA386C-FFDB-06D1-A994-49924ED12A8D}"/>
              </a:ext>
            </a:extLst>
          </p:cNvPr>
          <p:cNvCxnSpPr>
            <a:cxnSpLocks/>
          </p:cNvCxnSpPr>
          <p:nvPr/>
        </p:nvCxnSpPr>
        <p:spPr>
          <a:xfrm flipH="1" flipV="1">
            <a:off x="1245543" y="1488601"/>
            <a:ext cx="507516" cy="68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3AD220-823D-974D-A709-7A97CD6F7A1A}"/>
              </a:ext>
            </a:extLst>
          </p:cNvPr>
          <p:cNvSpPr txBox="1"/>
          <p:nvPr/>
        </p:nvSpPr>
        <p:spPr>
          <a:xfrm>
            <a:off x="134484" y="1057714"/>
            <a:ext cx="10492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Worse structural alignment according to PyMol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FFAC5B-4166-889A-6297-FD7FD4B4DA74}"/>
              </a:ext>
            </a:extLst>
          </p:cNvPr>
          <p:cNvCxnSpPr>
            <a:cxnSpLocks/>
          </p:cNvCxnSpPr>
          <p:nvPr/>
        </p:nvCxnSpPr>
        <p:spPr>
          <a:xfrm flipH="1" flipV="1">
            <a:off x="1051443" y="5500077"/>
            <a:ext cx="701616" cy="2685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9AD1D5-175A-784F-210A-EA7E469D06B0}"/>
              </a:ext>
            </a:extLst>
          </p:cNvPr>
          <p:cNvSpPr txBox="1"/>
          <p:nvPr/>
        </p:nvSpPr>
        <p:spPr>
          <a:xfrm>
            <a:off x="122666" y="5222893"/>
            <a:ext cx="9747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Better structural alignment according to PyMol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E04FEF-1EE9-16D3-0D49-DD56FC00BF5C}"/>
              </a:ext>
            </a:extLst>
          </p:cNvPr>
          <p:cNvSpPr/>
          <p:nvPr/>
        </p:nvSpPr>
        <p:spPr>
          <a:xfrm>
            <a:off x="3262680" y="1565435"/>
            <a:ext cx="2715972" cy="14900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1865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>
            <a:extLst>
              <a:ext uri="{FF2B5EF4-FFF2-40B4-BE49-F238E27FC236}">
                <a16:creationId xmlns:a16="http://schemas.microsoft.com/office/drawing/2014/main" id="{4B80CB5E-449A-1753-3D11-C3F4161CA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961" r="11111"/>
          <a:stretch>
            <a:fillRect/>
          </a:stretch>
        </p:blipFill>
        <p:spPr>
          <a:xfrm>
            <a:off x="937403" y="1418503"/>
            <a:ext cx="4876801" cy="493990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F24223-3E5F-C954-8038-017E4C42796F}"/>
              </a:ext>
            </a:extLst>
          </p:cNvPr>
          <p:cNvSpPr/>
          <p:nvPr/>
        </p:nvSpPr>
        <p:spPr>
          <a:xfrm>
            <a:off x="315257" y="267370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A579F-3DAD-E76A-FDBB-D0A5681F25E7}"/>
              </a:ext>
            </a:extLst>
          </p:cNvPr>
          <p:cNvSpPr txBox="1"/>
          <p:nvPr/>
        </p:nvSpPr>
        <p:spPr>
          <a:xfrm>
            <a:off x="527959" y="335519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Why use PyMol to check structural alignment?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7BE64-1534-7000-268E-B124775A2A0B}"/>
              </a:ext>
            </a:extLst>
          </p:cNvPr>
          <p:cNvSpPr txBox="1"/>
          <p:nvPr/>
        </p:nvSpPr>
        <p:spPr>
          <a:xfrm rot="16200000">
            <a:off x="4399222" y="3485074"/>
            <a:ext cx="3329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Verdana Pro" panose="020B0604030504040204" pitchFamily="34" charset="0"/>
              </a:rPr>
              <a:t>Alignment length [TMalign] (AAs)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74F961-8528-3336-C5C4-443279088605}"/>
              </a:ext>
            </a:extLst>
          </p:cNvPr>
          <p:cNvSpPr/>
          <p:nvPr/>
        </p:nvSpPr>
        <p:spPr>
          <a:xfrm>
            <a:off x="1639019" y="3562709"/>
            <a:ext cx="1035170" cy="217385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98B92D-3280-C895-1B51-E0E5DA2DEFEC}"/>
                  </a:ext>
                </a:extLst>
              </p:cNvPr>
              <p:cNvSpPr txBox="1"/>
              <p:nvPr/>
            </p:nvSpPr>
            <p:spPr>
              <a:xfrm>
                <a:off x="5450258" y="6236616"/>
                <a:ext cx="2715972" cy="401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FF0000"/>
                    </a:solidFill>
                    <a:latin typeface="Lucida Console" panose="020B0609040504020204" pitchFamily="49" charset="0"/>
                  </a:rPr>
                  <a:t>Better structural alignment according to Foldseek (</a:t>
                </a:r>
                <a14:m>
                  <m:oMath xmlns:m="http://schemas.openxmlformats.org/officeDocument/2006/math">
                    <m:r>
                      <a:rPr lang="en-US" sz="1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−35</m:t>
                        </m:r>
                      </m:sup>
                    </m:sSup>
                  </m:oMath>
                </a14:m>
                <a:r>
                  <a:rPr lang="en-US" sz="1000" dirty="0">
                    <a:solidFill>
                      <a:srgbClr val="FF0000"/>
                    </a:solidFill>
                    <a:latin typeface="Lucida Console" panose="020B0609040504020204" pitchFamily="49" charset="0"/>
                  </a:rPr>
                  <a:t>)</a:t>
                </a:r>
                <a:endParaRPr lang="en-CA" sz="1000" dirty="0">
                  <a:solidFill>
                    <a:srgbClr val="FF0000"/>
                  </a:solidFill>
                  <a:latin typeface="Lucida Console" panose="020B0609040504020204" pitchFamily="49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98B92D-3280-C895-1B51-E0E5DA2DE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258" y="6236616"/>
                <a:ext cx="2715972" cy="401777"/>
              </a:xfrm>
              <a:prstGeom prst="rect">
                <a:avLst/>
              </a:prstGeom>
              <a:blipFill>
                <a:blip r:embed="rId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86FC953-FF62-69F5-1EEA-F199BC01B871}"/>
              </a:ext>
            </a:extLst>
          </p:cNvPr>
          <p:cNvSpPr txBox="1"/>
          <p:nvPr/>
        </p:nvSpPr>
        <p:spPr>
          <a:xfrm>
            <a:off x="7035441" y="1897186"/>
            <a:ext cx="4406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e-values are contingent on alignment length, which means filtering for only the most significant e-values risks missing domain-specific alignment</a:t>
            </a:r>
            <a:endParaRPr lang="en-CA" dirty="0">
              <a:latin typeface="Georgia Pro" panose="02040502050405020303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1907DD-0F01-1B4A-8180-41627B8E2954}"/>
              </a:ext>
            </a:extLst>
          </p:cNvPr>
          <p:cNvCxnSpPr>
            <a:cxnSpLocks/>
          </p:cNvCxnSpPr>
          <p:nvPr/>
        </p:nvCxnSpPr>
        <p:spPr>
          <a:xfrm>
            <a:off x="1639019" y="5762163"/>
            <a:ext cx="746493" cy="760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AE1744-050F-FB4E-F9DA-551C055D9543}"/>
              </a:ext>
            </a:extLst>
          </p:cNvPr>
          <p:cNvSpPr txBox="1"/>
          <p:nvPr/>
        </p:nvSpPr>
        <p:spPr>
          <a:xfrm>
            <a:off x="2385512" y="6457890"/>
            <a:ext cx="2715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Worse structural alignment according to Foldseek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822B6A-3ACA-45D7-F609-9C766EAA0AB8}"/>
              </a:ext>
            </a:extLst>
          </p:cNvPr>
          <p:cNvCxnSpPr>
            <a:cxnSpLocks/>
          </p:cNvCxnSpPr>
          <p:nvPr/>
        </p:nvCxnSpPr>
        <p:spPr>
          <a:xfrm>
            <a:off x="5008918" y="5751554"/>
            <a:ext cx="480053" cy="485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CB2184-1362-D437-6BCF-0EF6DECA4288}"/>
              </a:ext>
            </a:extLst>
          </p:cNvPr>
          <p:cNvCxnSpPr>
            <a:cxnSpLocks/>
          </p:cNvCxnSpPr>
          <p:nvPr/>
        </p:nvCxnSpPr>
        <p:spPr>
          <a:xfrm flipH="1" flipV="1">
            <a:off x="1122877" y="1466299"/>
            <a:ext cx="507516" cy="68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61D2EC8-4532-1BCA-FFD7-852F8F1C26DD}"/>
              </a:ext>
            </a:extLst>
          </p:cNvPr>
          <p:cNvSpPr txBox="1"/>
          <p:nvPr/>
        </p:nvSpPr>
        <p:spPr>
          <a:xfrm>
            <a:off x="11818" y="1035412"/>
            <a:ext cx="10492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Worse structural alignment according to PyMol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B2067F-9586-BD5E-3AE4-437BF37581C8}"/>
              </a:ext>
            </a:extLst>
          </p:cNvPr>
          <p:cNvCxnSpPr>
            <a:cxnSpLocks/>
          </p:cNvCxnSpPr>
          <p:nvPr/>
        </p:nvCxnSpPr>
        <p:spPr>
          <a:xfrm flipH="1" flipV="1">
            <a:off x="928777" y="5477775"/>
            <a:ext cx="701616" cy="2685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A02446-24CA-A517-BA14-9F79233B7F36}"/>
              </a:ext>
            </a:extLst>
          </p:cNvPr>
          <p:cNvSpPr txBox="1"/>
          <p:nvPr/>
        </p:nvSpPr>
        <p:spPr>
          <a:xfrm>
            <a:off x="0" y="5200591"/>
            <a:ext cx="9747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Better structural alignment according to PyMol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2AA6D5-822F-B58D-0D88-D43E11D9A439}"/>
              </a:ext>
            </a:extLst>
          </p:cNvPr>
          <p:cNvSpPr/>
          <p:nvPr/>
        </p:nvSpPr>
        <p:spPr>
          <a:xfrm>
            <a:off x="3140014" y="1543132"/>
            <a:ext cx="1868903" cy="155438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48A122-3A77-CAF5-E908-9C6A8064B934}"/>
              </a:ext>
            </a:extLst>
          </p:cNvPr>
          <p:cNvSpPr txBox="1"/>
          <p:nvPr/>
        </p:nvSpPr>
        <p:spPr>
          <a:xfrm>
            <a:off x="7035441" y="3638962"/>
            <a:ext cx="440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Conversely, PyMOL alignments can be good but insignificant</a:t>
            </a:r>
            <a:endParaRPr lang="en-CA" dirty="0"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20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83B44F5-91B5-3090-4FA6-2B47B8FA9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29"/>
          <a:stretch>
            <a:fillRect/>
          </a:stretch>
        </p:blipFill>
        <p:spPr>
          <a:xfrm>
            <a:off x="114304" y="1511300"/>
            <a:ext cx="3801964" cy="40894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4DC41C0-D9E7-16FB-91C8-D34E0538F6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709"/>
          <a:stretch>
            <a:fillRect/>
          </a:stretch>
        </p:blipFill>
        <p:spPr>
          <a:xfrm>
            <a:off x="8293099" y="1511300"/>
            <a:ext cx="3815029" cy="4089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6BE1EE-A485-C9FD-879C-8DC205B3B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432"/>
          <a:stretch>
            <a:fillRect/>
          </a:stretch>
        </p:blipFill>
        <p:spPr>
          <a:xfrm>
            <a:off x="4152902" y="1511300"/>
            <a:ext cx="386729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7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14782A36-411B-BF91-D3A3-983BB97D9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68" r="7181"/>
          <a:stretch>
            <a:fillRect/>
          </a:stretch>
        </p:blipFill>
        <p:spPr>
          <a:xfrm>
            <a:off x="875222" y="1297636"/>
            <a:ext cx="5092460" cy="5027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200952-412A-5895-354A-B719DD9272A7}"/>
              </a:ext>
            </a:extLst>
          </p:cNvPr>
          <p:cNvSpPr txBox="1"/>
          <p:nvPr/>
        </p:nvSpPr>
        <p:spPr>
          <a:xfrm>
            <a:off x="4791075" y="1503203"/>
            <a:ext cx="94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Verdana Pro" panose="020B0604030504040204" pitchFamily="34" charset="0"/>
              </a:rPr>
              <a:t>n = 237</a:t>
            </a:r>
            <a:endParaRPr lang="en-CA" sz="1000" dirty="0">
              <a:latin typeface="Verdana Pro" panose="020B060403050404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DE0692-D05C-BB80-EDC6-E37435C6FA25}"/>
              </a:ext>
            </a:extLst>
          </p:cNvPr>
          <p:cNvSpPr/>
          <p:nvPr/>
        </p:nvSpPr>
        <p:spPr>
          <a:xfrm>
            <a:off x="315257" y="267370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6F973-03F9-14B6-88BB-FABBEC18960C}"/>
              </a:ext>
            </a:extLst>
          </p:cNvPr>
          <p:cNvSpPr txBox="1"/>
          <p:nvPr/>
        </p:nvSpPr>
        <p:spPr>
          <a:xfrm>
            <a:off x="527959" y="335519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Why use PyMol to check structural alignment?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6CD2DF-6E36-8BCD-7326-6881563C8621}"/>
              </a:ext>
            </a:extLst>
          </p:cNvPr>
          <p:cNvSpPr/>
          <p:nvPr/>
        </p:nvSpPr>
        <p:spPr>
          <a:xfrm>
            <a:off x="4885922" y="1588212"/>
            <a:ext cx="92075" cy="952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CBBA88-A498-EFBE-EAFC-A118DADA2326}"/>
              </a:ext>
            </a:extLst>
          </p:cNvPr>
          <p:cNvSpPr/>
          <p:nvPr/>
        </p:nvSpPr>
        <p:spPr>
          <a:xfrm>
            <a:off x="4791073" y="1530576"/>
            <a:ext cx="946151" cy="212498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96BCAD-5AA8-ED57-A337-0FC563367AAA}"/>
                  </a:ext>
                </a:extLst>
              </p:cNvPr>
              <p:cNvSpPr txBox="1"/>
              <p:nvPr/>
            </p:nvSpPr>
            <p:spPr>
              <a:xfrm>
                <a:off x="6644626" y="1992440"/>
                <a:ext cx="440690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Georgia Pro" panose="02040502050405020303" pitchFamily="18" charset="0"/>
                  </a:rPr>
                  <a:t>PyMol super can achieve good alignment when TM-align cannot </a:t>
                </a:r>
              </a:p>
              <a:p>
                <a:r>
                  <a:rPr lang="en-US" dirty="0">
                    <a:latin typeface="Georgia Pro" panose="02040502050405020303" pitchFamily="18" charset="0"/>
                  </a:rPr>
                  <a:t>(see top-left quadrant vs. bottom-right).</a:t>
                </a:r>
              </a:p>
              <a:p>
                <a:endParaRPr lang="en-US" dirty="0">
                  <a:latin typeface="Georgia Pro" panose="02040502050405020303" pitchFamily="18" charset="0"/>
                </a:endParaRPr>
              </a:p>
              <a:p>
                <a:r>
                  <a:rPr lang="en-US" dirty="0">
                    <a:latin typeface="Georgia Pro" panose="02040502050405020303" pitchFamily="18" charset="0"/>
                  </a:rPr>
                  <a:t>However, this should always be checked against a threshold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&lt;0.05</m:t>
                    </m:r>
                  </m:oMath>
                </a14:m>
                <a:r>
                  <a:rPr lang="en-CA" dirty="0">
                    <a:latin typeface="Georgia Pro" panose="02040502050405020303" pitchFamily="18" charset="0"/>
                  </a:rPr>
                  <a:t> (after multiple hypothesis correction) to confirm that the alignment is not due to random chance.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96BCAD-5AA8-ED57-A337-0FC563367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626" y="1992440"/>
                <a:ext cx="4406900" cy="2585323"/>
              </a:xfrm>
              <a:prstGeom prst="rect">
                <a:avLst/>
              </a:prstGeom>
              <a:blipFill>
                <a:blip r:embed="rId3"/>
                <a:stretch>
                  <a:fillRect l="-1245" t="-1415" r="-138" b="-283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810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2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61CE14-D010-B97D-F7F8-7C47881F3AD7}"/>
              </a:ext>
            </a:extLst>
          </p:cNvPr>
          <p:cNvSpPr txBox="1"/>
          <p:nvPr/>
        </p:nvSpPr>
        <p:spPr>
          <a:xfrm>
            <a:off x="1072904" y="2312101"/>
            <a:ext cx="548491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To this end, we have incorporated PyMol super into our pipeline for interactive filtering</a:t>
            </a:r>
          </a:p>
        </p:txBody>
      </p:sp>
    </p:spTree>
    <p:extLst>
      <p:ext uri="{BB962C8B-B14F-4D97-AF65-F5344CB8AC3E}">
        <p14:creationId xmlns:p14="http://schemas.microsoft.com/office/powerpoint/2010/main" val="297338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B4B0AFB-FFE7-9A7B-2F17-394EE482F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86" t="59641" r="27865" b="4620"/>
          <a:stretch>
            <a:fillRect/>
          </a:stretch>
        </p:blipFill>
        <p:spPr>
          <a:xfrm>
            <a:off x="8772524" y="2742724"/>
            <a:ext cx="2019301" cy="17320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3CFE49-F1C6-2C66-ECB0-2A5C9EB61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7" t="7716" r="183" b="4529"/>
          <a:stretch>
            <a:fillRect/>
          </a:stretch>
        </p:blipFill>
        <p:spPr>
          <a:xfrm>
            <a:off x="3585442" y="512119"/>
            <a:ext cx="5140806" cy="372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407528-094B-67C7-E59F-E1CA3AA5F3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99" t="60851" r="35851" b="3410"/>
          <a:stretch>
            <a:fillRect/>
          </a:stretch>
        </p:blipFill>
        <p:spPr>
          <a:xfrm>
            <a:off x="8651879" y="452614"/>
            <a:ext cx="2019301" cy="173204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5CC6B1A-4BD4-6DC4-E9B1-9BF4BB86DAED}"/>
              </a:ext>
            </a:extLst>
          </p:cNvPr>
          <p:cNvSpPr/>
          <p:nvPr/>
        </p:nvSpPr>
        <p:spPr>
          <a:xfrm>
            <a:off x="3540154" y="4749290"/>
            <a:ext cx="7184996" cy="845389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EF9DD2-491B-07EC-E3CE-BE6687E3939B}"/>
              </a:ext>
            </a:extLst>
          </p:cNvPr>
          <p:cNvGrpSpPr/>
          <p:nvPr/>
        </p:nvGrpSpPr>
        <p:grpSpPr>
          <a:xfrm>
            <a:off x="238963" y="1167443"/>
            <a:ext cx="2955856" cy="2994101"/>
            <a:chOff x="1144437" y="1392623"/>
            <a:chExt cx="4876801" cy="493990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0E4A038-5461-8D29-E0E7-7CFF778FD5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9961" r="11111"/>
            <a:stretch>
              <a:fillRect/>
            </a:stretch>
          </p:blipFill>
          <p:spPr>
            <a:xfrm>
              <a:off x="1144437" y="1392623"/>
              <a:ext cx="4876801" cy="493990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4E0E19-7D89-7B31-ADCD-5A948D28A8A1}"/>
                </a:ext>
              </a:extLst>
            </p:cNvPr>
            <p:cNvSpPr/>
            <p:nvPr/>
          </p:nvSpPr>
          <p:spPr>
            <a:xfrm>
              <a:off x="4929993" y="4957313"/>
              <a:ext cx="250166" cy="1897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DC40ED7-46A1-6D64-E396-B3B63DEAF208}"/>
              </a:ext>
            </a:extLst>
          </p:cNvPr>
          <p:cNvSpPr txBox="1"/>
          <p:nvPr/>
        </p:nvSpPr>
        <p:spPr>
          <a:xfrm>
            <a:off x="3590957" y="4744527"/>
            <a:ext cx="4781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A0A0H4VDC2 [A. atlanticus]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D8FDB-4AE2-2F03-A2CE-B9B10FE063F9}"/>
              </a:ext>
            </a:extLst>
          </p:cNvPr>
          <p:cNvSpPr txBox="1"/>
          <p:nvPr/>
        </p:nvSpPr>
        <p:spPr>
          <a:xfrm>
            <a:off x="3590957" y="5631956"/>
            <a:ext cx="3314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X5D2E5 [H. sapiens][CHD1L]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D168B8-08B1-F533-7A81-96D13D2A7D21}"/>
              </a:ext>
            </a:extLst>
          </p:cNvPr>
          <p:cNvSpPr/>
          <p:nvPr/>
        </p:nvSpPr>
        <p:spPr>
          <a:xfrm>
            <a:off x="3540153" y="5607169"/>
            <a:ext cx="7184997" cy="84538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BDB83-65E6-2783-6790-F079ABBA6765}"/>
              </a:ext>
            </a:extLst>
          </p:cNvPr>
          <p:cNvSpPr txBox="1"/>
          <p:nvPr/>
        </p:nvSpPr>
        <p:spPr>
          <a:xfrm>
            <a:off x="8267700" y="452614"/>
            <a:ext cx="1660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Verdana Pro" panose="020B0604030504040204" pitchFamily="34" charset="0"/>
              </a:rPr>
              <a:t>A0A0H4VDC2</a:t>
            </a:r>
            <a:endParaRPr lang="en-CA" sz="1400" dirty="0">
              <a:solidFill>
                <a:srgbClr val="0000FF"/>
              </a:solidFill>
              <a:latin typeface="Verdana Pro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F31115-57CE-131C-E179-A1A88D21C6CF}"/>
              </a:ext>
            </a:extLst>
          </p:cNvPr>
          <p:cNvSpPr txBox="1"/>
          <p:nvPr/>
        </p:nvSpPr>
        <p:spPr>
          <a:xfrm>
            <a:off x="3590958" y="4961302"/>
            <a:ext cx="5010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unreviewed, uncharacterised protein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660C3D-F7A9-893E-EC26-9CCE55758F5A}"/>
              </a:ext>
            </a:extLst>
          </p:cNvPr>
          <p:cNvSpPr txBox="1"/>
          <p:nvPr/>
        </p:nvSpPr>
        <p:spPr>
          <a:xfrm>
            <a:off x="3590957" y="5163595"/>
            <a:ext cx="5060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strong sequence homology to ATP-, DEAD-box helicases in other bacterial species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079CE4-C678-786D-0CDC-049477D09BDE}"/>
              </a:ext>
            </a:extLst>
          </p:cNvPr>
          <p:cNvSpPr txBox="1"/>
          <p:nvPr/>
        </p:nvSpPr>
        <p:spPr>
          <a:xfrm>
            <a:off x="3540154" y="5866698"/>
            <a:ext cx="4984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ATP-binding, helicase activity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AE85AE-0BD2-4E2B-1374-B9EFE1F4405A}"/>
              </a:ext>
            </a:extLst>
          </p:cNvPr>
          <p:cNvSpPr txBox="1"/>
          <p:nvPr/>
        </p:nvSpPr>
        <p:spPr>
          <a:xfrm>
            <a:off x="3533805" y="6045500"/>
            <a:ext cx="5060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"binds histones that are poly-ADP-</a:t>
            </a:r>
            <a:r>
              <a:rPr lang="en-US" sz="1200" dirty="0" err="1">
                <a:latin typeface="Verdana Pro" panose="020B0604030504040204" pitchFamily="34" charset="0"/>
                <a:cs typeface="Courier New" panose="02070309020205020404" pitchFamily="49" charset="0"/>
              </a:rPr>
              <a:t>ribosylated</a:t>
            </a: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 on serine residues in response to DNA damage"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F0C6DF-D3A6-61BC-BB2C-1774F8E9A11E}"/>
              </a:ext>
            </a:extLst>
          </p:cNvPr>
          <p:cNvSpPr txBox="1"/>
          <p:nvPr/>
        </p:nvSpPr>
        <p:spPr>
          <a:xfrm>
            <a:off x="8401429" y="2918317"/>
            <a:ext cx="1034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  <a:latin typeface="Verdana Pro" panose="020B0604030504040204" pitchFamily="34" charset="0"/>
              </a:rPr>
              <a:t>X5D2E5</a:t>
            </a:r>
            <a:endParaRPr lang="en-CA" sz="1400" dirty="0">
              <a:solidFill>
                <a:srgbClr val="FF0000"/>
              </a:solidFill>
              <a:latin typeface="Verdana Pro" panose="020B060403050404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30EE701-DBFE-C350-4142-4C6967DA8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44382"/>
              </p:ext>
            </p:extLst>
          </p:nvPr>
        </p:nvGraphicFramePr>
        <p:xfrm>
          <a:off x="411929" y="4961302"/>
          <a:ext cx="278289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079">
                  <a:extLst>
                    <a:ext uri="{9D8B030D-6E8A-4147-A177-3AD203B41FA5}">
                      <a16:colId xmlns:a16="http://schemas.microsoft.com/office/drawing/2014/main" val="1461492322"/>
                    </a:ext>
                  </a:extLst>
                </a:gridCol>
                <a:gridCol w="1624811">
                  <a:extLst>
                    <a:ext uri="{9D8B030D-6E8A-4147-A177-3AD203B41FA5}">
                      <a16:colId xmlns:a16="http://schemas.microsoft.com/office/drawing/2014/main" val="3072927139"/>
                    </a:ext>
                  </a:extLst>
                </a:gridCol>
              </a:tblGrid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System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Zorya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81202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e-value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3.8e</a:t>
                      </a:r>
                      <a:r>
                        <a:rPr lang="en-US" sz="1200" baseline="300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-34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59828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PyMol RMSD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1.47 Å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042579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Aln length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636 AAs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461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09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E2D1-0D4A-B807-37A6-B425C90F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494934C-AADA-807E-DCC0-6A6F2A976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51" t="59941" r="38054" b="3682"/>
          <a:stretch>
            <a:fillRect/>
          </a:stretch>
        </p:blipFill>
        <p:spPr>
          <a:xfrm>
            <a:off x="8254390" y="2746454"/>
            <a:ext cx="1760830" cy="19143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9B67B6-0446-6666-8D67-7D8E7E8DB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8" t="59941" r="35667"/>
          <a:stretch>
            <a:fillRect/>
          </a:stretch>
        </p:blipFill>
        <p:spPr>
          <a:xfrm>
            <a:off x="7926935" y="620089"/>
            <a:ext cx="2256230" cy="210812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871C24D-B23D-320B-B22A-0340DC5A592B}"/>
              </a:ext>
            </a:extLst>
          </p:cNvPr>
          <p:cNvSpPr/>
          <p:nvPr/>
        </p:nvSpPr>
        <p:spPr>
          <a:xfrm>
            <a:off x="3540154" y="4749290"/>
            <a:ext cx="6984971" cy="845389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A039E2-639C-EAD7-307A-80C46BC23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961" r="11111"/>
          <a:stretch>
            <a:fillRect/>
          </a:stretch>
        </p:blipFill>
        <p:spPr>
          <a:xfrm>
            <a:off x="313877" y="1501316"/>
            <a:ext cx="2955856" cy="29941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05AB22-9A15-EBA8-03D4-1BF07BEFEAE9}"/>
              </a:ext>
            </a:extLst>
          </p:cNvPr>
          <p:cNvSpPr txBox="1"/>
          <p:nvPr/>
        </p:nvSpPr>
        <p:spPr>
          <a:xfrm>
            <a:off x="3590957" y="4744527"/>
            <a:ext cx="4781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A0A5B8XTL3 [M. marinus]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A37E64-EE84-94FD-A9D3-80E019E35561}"/>
              </a:ext>
            </a:extLst>
          </p:cNvPr>
          <p:cNvSpPr txBox="1"/>
          <p:nvPr/>
        </p:nvSpPr>
        <p:spPr>
          <a:xfrm>
            <a:off x="3590957" y="5631956"/>
            <a:ext cx="51053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A0A0A0MSH9 [H. sapiens][CHD1L]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E202E3-E150-136F-F1F5-3311AE3B76E9}"/>
              </a:ext>
            </a:extLst>
          </p:cNvPr>
          <p:cNvSpPr/>
          <p:nvPr/>
        </p:nvSpPr>
        <p:spPr>
          <a:xfrm>
            <a:off x="3540154" y="5607169"/>
            <a:ext cx="6984972" cy="84538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9485D5-FDEF-1950-B818-54F2A6BA3422}"/>
              </a:ext>
            </a:extLst>
          </p:cNvPr>
          <p:cNvSpPr txBox="1"/>
          <p:nvPr/>
        </p:nvSpPr>
        <p:spPr>
          <a:xfrm>
            <a:off x="7727496" y="669509"/>
            <a:ext cx="1643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Verdana Pro" panose="020B0604030504040204" pitchFamily="34" charset="0"/>
              </a:rPr>
              <a:t>A0A5B8XTL3</a:t>
            </a:r>
            <a:endParaRPr lang="en-CA" sz="1400" dirty="0">
              <a:solidFill>
                <a:srgbClr val="0000FF"/>
              </a:solidFill>
              <a:latin typeface="Verdana Pro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EB2AB1-34C8-D7A6-26BF-BDA6D9204579}"/>
              </a:ext>
            </a:extLst>
          </p:cNvPr>
          <p:cNvSpPr txBox="1"/>
          <p:nvPr/>
        </p:nvSpPr>
        <p:spPr>
          <a:xfrm>
            <a:off x="3590958" y="4961302"/>
            <a:ext cx="4921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DEAD-box helicase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E73559-04E4-E01C-A736-A77CC7596E70}"/>
              </a:ext>
            </a:extLst>
          </p:cNvPr>
          <p:cNvSpPr txBox="1"/>
          <p:nvPr/>
        </p:nvSpPr>
        <p:spPr>
          <a:xfrm>
            <a:off x="3540155" y="5866698"/>
            <a:ext cx="4708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ATP-binding, helicase activity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BBC020-7E96-8989-33C6-C4AF9DA1F6EA}"/>
              </a:ext>
            </a:extLst>
          </p:cNvPr>
          <p:cNvSpPr txBox="1"/>
          <p:nvPr/>
        </p:nvSpPr>
        <p:spPr>
          <a:xfrm>
            <a:off x="3533805" y="6045500"/>
            <a:ext cx="497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"binds histones that are poly-ADP-</a:t>
            </a:r>
            <a:r>
              <a:rPr lang="en-US" sz="1200" dirty="0" err="1">
                <a:latin typeface="Verdana Pro" panose="020B0604030504040204" pitchFamily="34" charset="0"/>
                <a:cs typeface="Courier New" panose="02070309020205020404" pitchFamily="49" charset="0"/>
              </a:rPr>
              <a:t>ribosylated</a:t>
            </a: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 on serine residues in response to DNA damage"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CE26BE-A28E-E0F5-A0D4-425D853F513A}"/>
              </a:ext>
            </a:extLst>
          </p:cNvPr>
          <p:cNvSpPr txBox="1"/>
          <p:nvPr/>
        </p:nvSpPr>
        <p:spPr>
          <a:xfrm>
            <a:off x="7972575" y="2707018"/>
            <a:ext cx="1505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  <a:latin typeface="Verdana Pro" panose="020B0604030504040204" pitchFamily="34" charset="0"/>
              </a:rPr>
              <a:t>A0A0A0MSH9</a:t>
            </a:r>
            <a:endParaRPr lang="en-CA" sz="1400" dirty="0">
              <a:solidFill>
                <a:srgbClr val="FF0000"/>
              </a:solidFill>
              <a:latin typeface="Verdana Pro" panose="020B060403050404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0253E48-B34A-09B0-01E1-6EA8AD444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692871"/>
              </p:ext>
            </p:extLst>
          </p:nvPr>
        </p:nvGraphicFramePr>
        <p:xfrm>
          <a:off x="486843" y="4932583"/>
          <a:ext cx="278289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079">
                  <a:extLst>
                    <a:ext uri="{9D8B030D-6E8A-4147-A177-3AD203B41FA5}">
                      <a16:colId xmlns:a16="http://schemas.microsoft.com/office/drawing/2014/main" val="1461492322"/>
                    </a:ext>
                  </a:extLst>
                </a:gridCol>
                <a:gridCol w="1624811">
                  <a:extLst>
                    <a:ext uri="{9D8B030D-6E8A-4147-A177-3AD203B41FA5}">
                      <a16:colId xmlns:a16="http://schemas.microsoft.com/office/drawing/2014/main" val="3072927139"/>
                    </a:ext>
                  </a:extLst>
                </a:gridCol>
              </a:tblGrid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System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Zorya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81202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e-value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2.21e</a:t>
                      </a:r>
                      <a:r>
                        <a:rPr lang="en-US" sz="1200" baseline="300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-27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59828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PyMol RMSD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1.56 Å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042579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Aln length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623 AAs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46156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32D3732-7C80-A3ED-8783-56C29CB229EA}"/>
              </a:ext>
            </a:extLst>
          </p:cNvPr>
          <p:cNvSpPr/>
          <p:nvPr/>
        </p:nvSpPr>
        <p:spPr>
          <a:xfrm>
            <a:off x="2214880" y="3610408"/>
            <a:ext cx="160146" cy="121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F453C3-7C58-7772-1638-F7BAF91DA6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819" y="756099"/>
            <a:ext cx="5317903" cy="39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98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C671E-77B7-F256-D8E0-29A815F6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2724986-C337-7545-45C8-EDD49ABAC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6" t="62018" r="30381" b="12984"/>
          <a:stretch>
            <a:fillRect/>
          </a:stretch>
        </p:blipFill>
        <p:spPr>
          <a:xfrm>
            <a:off x="7853800" y="1108453"/>
            <a:ext cx="3034895" cy="16026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D1DA5C-5D00-7D2B-8D8A-525BE8E74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0" t="59666" r="44725" b="9516"/>
          <a:stretch>
            <a:fillRect/>
          </a:stretch>
        </p:blipFill>
        <p:spPr>
          <a:xfrm>
            <a:off x="7922252" y="2381542"/>
            <a:ext cx="1733142" cy="197578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B7E53FD-3B6C-6871-B74A-A418007335B0}"/>
              </a:ext>
            </a:extLst>
          </p:cNvPr>
          <p:cNvSpPr/>
          <p:nvPr/>
        </p:nvSpPr>
        <p:spPr>
          <a:xfrm>
            <a:off x="3540153" y="4415915"/>
            <a:ext cx="7442171" cy="845389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5E9BC3-B27B-50A7-2B8E-518F49C04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9961" r="11111"/>
          <a:stretch>
            <a:fillRect/>
          </a:stretch>
        </p:blipFill>
        <p:spPr>
          <a:xfrm>
            <a:off x="276405" y="1081718"/>
            <a:ext cx="2955856" cy="29941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03563C-B735-E51A-9135-7D8AC3FF4A91}"/>
              </a:ext>
            </a:extLst>
          </p:cNvPr>
          <p:cNvSpPr txBox="1"/>
          <p:nvPr/>
        </p:nvSpPr>
        <p:spPr>
          <a:xfrm>
            <a:off x="3590957" y="4411152"/>
            <a:ext cx="4781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A0A4Y6RC84 [J. tructae]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85717-71A8-DF47-108D-FECB7FD44CBE}"/>
              </a:ext>
            </a:extLst>
          </p:cNvPr>
          <p:cNvSpPr txBox="1"/>
          <p:nvPr/>
        </p:nvSpPr>
        <p:spPr>
          <a:xfrm>
            <a:off x="3590957" y="5298581"/>
            <a:ext cx="3314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B4DLS6 [H. sapiens][unreviewed]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31D19A-B186-ACCF-8683-7BF670FA72DE}"/>
              </a:ext>
            </a:extLst>
          </p:cNvPr>
          <p:cNvSpPr/>
          <p:nvPr/>
        </p:nvSpPr>
        <p:spPr>
          <a:xfrm>
            <a:off x="3540153" y="5273794"/>
            <a:ext cx="7442172" cy="84538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D6309-34D2-B8B0-1F99-86FF5CCF905F}"/>
              </a:ext>
            </a:extLst>
          </p:cNvPr>
          <p:cNvSpPr txBox="1"/>
          <p:nvPr/>
        </p:nvSpPr>
        <p:spPr>
          <a:xfrm>
            <a:off x="3590958" y="4627927"/>
            <a:ext cx="5107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ATP-dependent helicase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F166F2-7F85-9440-0E1B-2EA771FF7EC3}"/>
              </a:ext>
            </a:extLst>
          </p:cNvPr>
          <p:cNvSpPr txBox="1"/>
          <p:nvPr/>
        </p:nvSpPr>
        <p:spPr>
          <a:xfrm>
            <a:off x="3590957" y="4830220"/>
            <a:ext cx="5114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unreviewed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A1A7CC-E4E2-A8C5-D520-FF73BF026379}"/>
              </a:ext>
            </a:extLst>
          </p:cNvPr>
          <p:cNvSpPr txBox="1"/>
          <p:nvPr/>
        </p:nvSpPr>
        <p:spPr>
          <a:xfrm>
            <a:off x="3540155" y="5533323"/>
            <a:ext cx="5032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"highly similar to Homo sapiens chromodomain helicase DNA binding protein 1-like (CHD1L)"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61DE8E-1729-9231-5374-ECB14D65D21B}"/>
              </a:ext>
            </a:extLst>
          </p:cNvPr>
          <p:cNvSpPr txBox="1"/>
          <p:nvPr/>
        </p:nvSpPr>
        <p:spPr>
          <a:xfrm>
            <a:off x="8335930" y="2605642"/>
            <a:ext cx="2421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  <a:latin typeface="Verdana Pro" panose="020B0604030504040204" pitchFamily="34" charset="0"/>
              </a:rPr>
              <a:t>B4DLS6</a:t>
            </a:r>
            <a:endParaRPr lang="en-CA" sz="1400" dirty="0">
              <a:solidFill>
                <a:srgbClr val="FF0000"/>
              </a:solidFill>
              <a:latin typeface="Verdana Pro" panose="020B060403050404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3887FE4-41B4-23D7-5603-63D9A7844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061072"/>
              </p:ext>
            </p:extLst>
          </p:nvPr>
        </p:nvGraphicFramePr>
        <p:xfrm>
          <a:off x="362888" y="4647043"/>
          <a:ext cx="278289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079">
                  <a:extLst>
                    <a:ext uri="{9D8B030D-6E8A-4147-A177-3AD203B41FA5}">
                      <a16:colId xmlns:a16="http://schemas.microsoft.com/office/drawing/2014/main" val="1461492322"/>
                    </a:ext>
                  </a:extLst>
                </a:gridCol>
                <a:gridCol w="1624811">
                  <a:extLst>
                    <a:ext uri="{9D8B030D-6E8A-4147-A177-3AD203B41FA5}">
                      <a16:colId xmlns:a16="http://schemas.microsoft.com/office/drawing/2014/main" val="3072927139"/>
                    </a:ext>
                  </a:extLst>
                </a:gridCol>
              </a:tblGrid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System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Zorya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81202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e-value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1.55e</a:t>
                      </a:r>
                      <a:r>
                        <a:rPr lang="en-US" sz="1200" baseline="300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-13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59828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PyMol RMSD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1.17 Å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042579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Aln length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267 AAs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46156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07AB880-A85D-7983-736B-80F77854A0CA}"/>
              </a:ext>
            </a:extLst>
          </p:cNvPr>
          <p:cNvSpPr/>
          <p:nvPr/>
        </p:nvSpPr>
        <p:spPr>
          <a:xfrm>
            <a:off x="1405374" y="3416972"/>
            <a:ext cx="160146" cy="121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53DB15-2FB2-36B0-929F-97BFB73CECF2}"/>
              </a:ext>
            </a:extLst>
          </p:cNvPr>
          <p:cNvSpPr txBox="1"/>
          <p:nvPr/>
        </p:nvSpPr>
        <p:spPr>
          <a:xfrm>
            <a:off x="8467548" y="738817"/>
            <a:ext cx="2421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Verdana Pro" panose="020B0604030504040204" pitchFamily="34" charset="0"/>
              </a:rPr>
              <a:t>A0A4Y6RC84</a:t>
            </a:r>
            <a:endParaRPr lang="en-CA" sz="1400" dirty="0">
              <a:solidFill>
                <a:srgbClr val="0000FF"/>
              </a:solidFill>
              <a:latin typeface="Verdana Pro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227FA-4A37-A558-9DEB-DAB326CBF1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4" t="25149" r="11826" b="20684"/>
          <a:stretch>
            <a:fillRect/>
          </a:stretch>
        </p:blipFill>
        <p:spPr>
          <a:xfrm>
            <a:off x="3232261" y="863012"/>
            <a:ext cx="4972051" cy="321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87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1ED0-1BD3-612A-3F05-214A8251E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014C88-8AC4-6AE7-605B-0BF554056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5" t="7520" r="21094" b="15745"/>
          <a:stretch>
            <a:fillRect/>
          </a:stretch>
        </p:blipFill>
        <p:spPr>
          <a:xfrm>
            <a:off x="3533804" y="455645"/>
            <a:ext cx="4386432" cy="3696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FCA25C-C618-51FB-36CB-E534671EDB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6" t="60028" r="35785" b="5597"/>
          <a:stretch>
            <a:fillRect/>
          </a:stretch>
        </p:blipFill>
        <p:spPr>
          <a:xfrm>
            <a:off x="7939286" y="500618"/>
            <a:ext cx="2193512" cy="18403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FBD10F-DC06-DA84-984A-2FCA404A54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94" t="57483" r="37761" b="5555"/>
          <a:stretch>
            <a:fillRect/>
          </a:stretch>
        </p:blipFill>
        <p:spPr>
          <a:xfrm>
            <a:off x="8893066" y="2057621"/>
            <a:ext cx="1152525" cy="19787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41B1F10-52DD-5E5F-D460-F043D31C0F78}"/>
              </a:ext>
            </a:extLst>
          </p:cNvPr>
          <p:cNvSpPr/>
          <p:nvPr/>
        </p:nvSpPr>
        <p:spPr>
          <a:xfrm>
            <a:off x="3540154" y="4246444"/>
            <a:ext cx="6746846" cy="845389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68F3E02-50E2-4E48-5A93-DD3F142E23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9961" r="11111"/>
          <a:stretch>
            <a:fillRect/>
          </a:stretch>
        </p:blipFill>
        <p:spPr>
          <a:xfrm>
            <a:off x="261242" y="1158179"/>
            <a:ext cx="2955856" cy="29941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DFB4A9-A4A6-B629-62D7-62E9C475DA37}"/>
              </a:ext>
            </a:extLst>
          </p:cNvPr>
          <p:cNvSpPr txBox="1"/>
          <p:nvPr/>
        </p:nvSpPr>
        <p:spPr>
          <a:xfrm>
            <a:off x="3590957" y="4241681"/>
            <a:ext cx="4781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A0A6L8M512 [A. baumannii]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FCCD0A-331F-9592-81A1-B2CD9EC98C5D}"/>
              </a:ext>
            </a:extLst>
          </p:cNvPr>
          <p:cNvSpPr txBox="1"/>
          <p:nvPr/>
        </p:nvSpPr>
        <p:spPr>
          <a:xfrm>
            <a:off x="3590957" y="5129110"/>
            <a:ext cx="3314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Q8N6J1 [H. sapiens][BTAF1]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B6EA16-E711-D462-5868-A98DF44D0B86}"/>
              </a:ext>
            </a:extLst>
          </p:cNvPr>
          <p:cNvSpPr/>
          <p:nvPr/>
        </p:nvSpPr>
        <p:spPr>
          <a:xfrm>
            <a:off x="3540153" y="5104323"/>
            <a:ext cx="6746847" cy="84538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74FEC1-9620-3DF3-8DA7-9BC6B4D33573}"/>
              </a:ext>
            </a:extLst>
          </p:cNvPr>
          <p:cNvSpPr txBox="1"/>
          <p:nvPr/>
        </p:nvSpPr>
        <p:spPr>
          <a:xfrm>
            <a:off x="6905625" y="458073"/>
            <a:ext cx="2421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Verdana Pro" panose="020B0604030504040204" pitchFamily="34" charset="0"/>
              </a:rPr>
              <a:t>A0A6L8M512</a:t>
            </a:r>
            <a:endParaRPr lang="en-CA" sz="1400" dirty="0">
              <a:solidFill>
                <a:srgbClr val="0000FF"/>
              </a:solidFill>
              <a:latin typeface="Verdana Pro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18341F-9B09-FC1C-6A64-BA49AFDC9748}"/>
              </a:ext>
            </a:extLst>
          </p:cNvPr>
          <p:cNvSpPr txBox="1"/>
          <p:nvPr/>
        </p:nvSpPr>
        <p:spPr>
          <a:xfrm>
            <a:off x="3590958" y="4458456"/>
            <a:ext cx="5029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DEAD box helicase protein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7B93A9-B52D-A44E-A92C-B459CD2D0E52}"/>
              </a:ext>
            </a:extLst>
          </p:cNvPr>
          <p:cNvSpPr txBox="1"/>
          <p:nvPr/>
        </p:nvSpPr>
        <p:spPr>
          <a:xfrm>
            <a:off x="3540154" y="5363852"/>
            <a:ext cx="50799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evidence of existence only at transcript level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3AAF28-D7C8-F5FC-0EF3-FE424467C035}"/>
              </a:ext>
            </a:extLst>
          </p:cNvPr>
          <p:cNvSpPr txBox="1"/>
          <p:nvPr/>
        </p:nvSpPr>
        <p:spPr>
          <a:xfrm>
            <a:off x="3533804" y="5542654"/>
            <a:ext cx="5086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predicted helicase, hydrolase activity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778E7F-25DD-FBA0-8782-FCD7A89D9B24}"/>
              </a:ext>
            </a:extLst>
          </p:cNvPr>
          <p:cNvSpPr txBox="1"/>
          <p:nvPr/>
        </p:nvSpPr>
        <p:spPr>
          <a:xfrm>
            <a:off x="8372475" y="2243217"/>
            <a:ext cx="1045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  <a:latin typeface="Verdana Pro" panose="020B0604030504040204" pitchFamily="34" charset="0"/>
              </a:rPr>
              <a:t>Q8N6J1</a:t>
            </a:r>
            <a:endParaRPr lang="en-CA" sz="1400" dirty="0">
              <a:solidFill>
                <a:srgbClr val="FF0000"/>
              </a:solidFill>
              <a:latin typeface="Verdana Pro" panose="020B060403050404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8843CC1-E262-28F7-FA80-61CA22921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63635"/>
              </p:ext>
            </p:extLst>
          </p:nvPr>
        </p:nvGraphicFramePr>
        <p:xfrm>
          <a:off x="434208" y="4445374"/>
          <a:ext cx="278289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079">
                  <a:extLst>
                    <a:ext uri="{9D8B030D-6E8A-4147-A177-3AD203B41FA5}">
                      <a16:colId xmlns:a16="http://schemas.microsoft.com/office/drawing/2014/main" val="1461492322"/>
                    </a:ext>
                  </a:extLst>
                </a:gridCol>
                <a:gridCol w="1624811">
                  <a:extLst>
                    <a:ext uri="{9D8B030D-6E8A-4147-A177-3AD203B41FA5}">
                      <a16:colId xmlns:a16="http://schemas.microsoft.com/office/drawing/2014/main" val="3072927139"/>
                    </a:ext>
                  </a:extLst>
                </a:gridCol>
              </a:tblGrid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System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Zorya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81202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e-value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5.65e</a:t>
                      </a:r>
                      <a:r>
                        <a:rPr lang="en-US" sz="1200" baseline="300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-32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59828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PyMol RMSD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3.41 Å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042579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Aln length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553 AAs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46156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14B2D47-5432-F556-F3B5-30689A5B4CC6}"/>
              </a:ext>
            </a:extLst>
          </p:cNvPr>
          <p:cNvSpPr/>
          <p:nvPr/>
        </p:nvSpPr>
        <p:spPr>
          <a:xfrm>
            <a:off x="2423674" y="2154697"/>
            <a:ext cx="160146" cy="121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366B7-A273-F1D9-1418-E8528A16271B}"/>
              </a:ext>
            </a:extLst>
          </p:cNvPr>
          <p:cNvSpPr/>
          <p:nvPr/>
        </p:nvSpPr>
        <p:spPr>
          <a:xfrm>
            <a:off x="1583473" y="2154697"/>
            <a:ext cx="1137425" cy="162128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D6ED56-73BF-A3C3-C3B6-D263A8EE0B80}"/>
              </a:ext>
            </a:extLst>
          </p:cNvPr>
          <p:cNvSpPr/>
          <p:nvPr/>
        </p:nvSpPr>
        <p:spPr>
          <a:xfrm>
            <a:off x="1076122" y="2154696"/>
            <a:ext cx="484360" cy="90073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6650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2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9E216-7F09-313F-5677-BFC8F304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58D43-2BF7-3E2C-D998-E51F09ABC191}"/>
              </a:ext>
            </a:extLst>
          </p:cNvPr>
          <p:cNvSpPr txBox="1"/>
          <p:nvPr/>
        </p:nvSpPr>
        <p:spPr>
          <a:xfrm>
            <a:off x="1047504" y="889701"/>
            <a:ext cx="548491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Curating a positive control set of homologous bacterial-human protein pairs from high-impact literature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B90585-0040-3FBD-8C49-2A58A5C3C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71206"/>
              </p:ext>
            </p:extLst>
          </p:nvPr>
        </p:nvGraphicFramePr>
        <p:xfrm>
          <a:off x="1288804" y="3429000"/>
          <a:ext cx="3372096" cy="225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2096">
                  <a:extLst>
                    <a:ext uri="{9D8B030D-6E8A-4147-A177-3AD203B41FA5}">
                      <a16:colId xmlns:a16="http://schemas.microsoft.com/office/drawing/2014/main" val="2740920184"/>
                    </a:ext>
                  </a:extLst>
                </a:gridCol>
              </a:tblGrid>
              <a:tr h="4014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Experimental criteria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478066"/>
                  </a:ext>
                </a:extLst>
              </a:tr>
              <a:tr h="28244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 protein accession for bacterial protein</a:t>
                      </a:r>
                      <a:endParaRPr lang="en-CA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214207"/>
                  </a:ext>
                </a:extLst>
              </a:tr>
              <a:tr h="28244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express in new organism</a:t>
                      </a:r>
                      <a:endParaRPr lang="en-CA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40798"/>
                  </a:ext>
                </a:extLst>
              </a:tr>
              <a:tr h="28244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perform functional assay proving bacterial immune system action</a:t>
                      </a:r>
                      <a:endParaRPr lang="en-CA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239055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647ED3-0B8A-D494-D0B1-8E84549A8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404553"/>
              </p:ext>
            </p:extLst>
          </p:nvPr>
        </p:nvGraphicFramePr>
        <p:xfrm>
          <a:off x="5606804" y="3429000"/>
          <a:ext cx="3372096" cy="195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2096">
                  <a:extLst>
                    <a:ext uri="{9D8B030D-6E8A-4147-A177-3AD203B41FA5}">
                      <a16:colId xmlns:a16="http://schemas.microsoft.com/office/drawing/2014/main" val="2740920184"/>
                    </a:ext>
                  </a:extLst>
                </a:gridCol>
              </a:tblGrid>
              <a:tr h="4014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Homology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criteria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478066"/>
                  </a:ext>
                </a:extLst>
              </a:tr>
              <a:tr h="28244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provide protein accession for human protein</a:t>
                      </a:r>
                      <a:endParaRPr lang="en-CA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214207"/>
                  </a:ext>
                </a:extLst>
              </a:tr>
              <a:tr h="28244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present convincing evidence of sequence or structure homology</a:t>
                      </a:r>
                      <a:endParaRPr lang="en-CA" sz="140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818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168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D5AEA-25A4-23EF-061E-6033EBF9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963EFC-F093-3F28-A109-DC88635409FE}"/>
              </a:ext>
            </a:extLst>
          </p:cNvPr>
          <p:cNvSpPr/>
          <p:nvPr/>
        </p:nvSpPr>
        <p:spPr>
          <a:xfrm>
            <a:off x="315257" y="267370"/>
            <a:ext cx="8289248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6B9E2-84D2-B174-67D9-7AEE69C49D76}"/>
              </a:ext>
            </a:extLst>
          </p:cNvPr>
          <p:cNvSpPr txBox="1"/>
          <p:nvPr/>
        </p:nvSpPr>
        <p:spPr>
          <a:xfrm>
            <a:off x="527960" y="335519"/>
            <a:ext cx="71804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Positive control set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FE8C64-B8A3-94B5-6509-02098D59E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801861"/>
              </p:ext>
            </p:extLst>
          </p:nvPr>
        </p:nvGraphicFramePr>
        <p:xfrm>
          <a:off x="181153" y="2618867"/>
          <a:ext cx="6476258" cy="3595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399">
                  <a:extLst>
                    <a:ext uri="{9D8B030D-6E8A-4147-A177-3AD203B41FA5}">
                      <a16:colId xmlns:a16="http://schemas.microsoft.com/office/drawing/2014/main" val="529853741"/>
                    </a:ext>
                  </a:extLst>
                </a:gridCol>
                <a:gridCol w="1354348">
                  <a:extLst>
                    <a:ext uri="{9D8B030D-6E8A-4147-A177-3AD203B41FA5}">
                      <a16:colId xmlns:a16="http://schemas.microsoft.com/office/drawing/2014/main" val="165409373"/>
                    </a:ext>
                  </a:extLst>
                </a:gridCol>
                <a:gridCol w="1509622">
                  <a:extLst>
                    <a:ext uri="{9D8B030D-6E8A-4147-A177-3AD203B41FA5}">
                      <a16:colId xmlns:a16="http://schemas.microsoft.com/office/drawing/2014/main" val="2430019957"/>
                    </a:ext>
                  </a:extLst>
                </a:gridCol>
                <a:gridCol w="1270553">
                  <a:extLst>
                    <a:ext uri="{9D8B030D-6E8A-4147-A177-3AD203B41FA5}">
                      <a16:colId xmlns:a16="http://schemas.microsoft.com/office/drawing/2014/main" val="3918155899"/>
                    </a:ext>
                  </a:extLst>
                </a:gridCol>
                <a:gridCol w="1427336">
                  <a:extLst>
                    <a:ext uri="{9D8B030D-6E8A-4147-A177-3AD203B41FA5}">
                      <a16:colId xmlns:a16="http://schemas.microsoft.com/office/drawing/2014/main" val="3749239967"/>
                    </a:ext>
                  </a:extLst>
                </a:gridCol>
              </a:tblGrid>
              <a:tr h="1403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PMID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Bact. UniProt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Bact. gene name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H.s. UniProt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ucida Console" panose="020B0609040504020204" pitchFamily="49" charset="0"/>
                        </a:rPr>
                        <a:t>H.s. gene name</a:t>
                      </a:r>
                      <a:endParaRPr lang="en-CA" sz="12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437008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30787435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Q6XGD5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cdnE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Q8N884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CGAS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662312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30787435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G2SLH8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cdnE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Q8N884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CGAS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74829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J8G6Z1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Q9BPY3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FAM118B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0261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J8G6Z1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Q96EB6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979640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J8G6Z1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Q8IXJ6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362416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J8G6Z1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Q9Y6E7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SIRT4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554006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J8G6Z1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Q9NXA8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SIRT5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02296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J8G6Z1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Q8N6T7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113074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40705877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J8G6Z1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ThsA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Q9NRC8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SIRT7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711567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A0A1H0NKS3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25769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P0DW49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671522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D5EID4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vip15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1060587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P0DW52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vip21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52486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A0A1S1YUU1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vip47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247763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A0A110A2W7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vip50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979791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A0A1M7D0R2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vip56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395982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A0A244CMP0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vip58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730952"/>
                  </a:ext>
                </a:extLst>
              </a:tr>
              <a:tr h="1061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32937646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P0DW53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vip60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Q8WXG1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RSAD2</a:t>
                      </a:r>
                    </a:p>
                  </a:txBody>
                  <a:tcPr marL="6350" marR="6350" marT="6350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42526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A5EAAB-16B0-2623-CF1A-2B61D1BF787A}"/>
              </a:ext>
            </a:extLst>
          </p:cNvPr>
          <p:cNvSpPr txBox="1"/>
          <p:nvPr/>
        </p:nvSpPr>
        <p:spPr>
          <a:xfrm>
            <a:off x="1241192" y="1004062"/>
            <a:ext cx="4489704" cy="138499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Source: high-impact literature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Criteria: bacterial homology to human, proof of bacterial immune function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Purpose: positive control for subsequence analysis</a:t>
            </a:r>
            <a:endParaRPr lang="en-CA" sz="1200" dirty="0">
              <a:latin typeface="Lucida Console" panose="020B060904050402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7F113A-51DC-5CB6-7C05-0C559A2EC737}"/>
              </a:ext>
            </a:extLst>
          </p:cNvPr>
          <p:cNvCxnSpPr>
            <a:cxnSpLocks/>
          </p:cNvCxnSpPr>
          <p:nvPr/>
        </p:nvCxnSpPr>
        <p:spPr>
          <a:xfrm>
            <a:off x="6318504" y="1696559"/>
            <a:ext cx="0" cy="9223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24020F-D695-FDE0-F782-285CFA8CE4C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730896" y="1696560"/>
            <a:ext cx="5876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6E3BA6-4697-4E8A-416B-A332B9C216CB}"/>
              </a:ext>
            </a:extLst>
          </p:cNvPr>
          <p:cNvSpPr txBox="1"/>
          <p:nvPr/>
        </p:nvSpPr>
        <p:spPr>
          <a:xfrm>
            <a:off x="181153" y="6214237"/>
            <a:ext cx="2670048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Total number: 18 pairs</a:t>
            </a:r>
            <a:endParaRPr lang="en-CA" sz="1200" dirty="0">
              <a:latin typeface="Lucida Console" panose="020B0609040504020204" pitchFamily="49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7A16E8-B5E1-C5E3-E508-1CB08B5FBD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849" r="8850"/>
          <a:stretch>
            <a:fillRect/>
          </a:stretch>
        </p:blipFill>
        <p:spPr>
          <a:xfrm>
            <a:off x="6931613" y="1587259"/>
            <a:ext cx="4559865" cy="445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86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4C07A-574B-C0FB-6B6A-352D625C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62F843-E61B-7533-0B3B-20DF2B843C81}"/>
              </a:ext>
            </a:extLst>
          </p:cNvPr>
          <p:cNvSpPr/>
          <p:nvPr/>
        </p:nvSpPr>
        <p:spPr>
          <a:xfrm>
            <a:off x="3540154" y="4447846"/>
            <a:ext cx="7242865" cy="845389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6C356E-3C31-A753-9CA0-CE0423EA7453}"/>
              </a:ext>
            </a:extLst>
          </p:cNvPr>
          <p:cNvSpPr txBox="1"/>
          <p:nvPr/>
        </p:nvSpPr>
        <p:spPr>
          <a:xfrm>
            <a:off x="3590957" y="4443083"/>
            <a:ext cx="4781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A0A1S1YUU1 [F. pacifica][vip47]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9E3406-0236-89C5-A5D8-F2EB822D005F}"/>
              </a:ext>
            </a:extLst>
          </p:cNvPr>
          <p:cNvSpPr txBox="1"/>
          <p:nvPr/>
        </p:nvSpPr>
        <p:spPr>
          <a:xfrm>
            <a:off x="3590957" y="5330512"/>
            <a:ext cx="3314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Q8WXG1 [H. sapiens][RSAD2]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4275AF-D0DD-991F-26B8-0CA14B4CAF09}"/>
              </a:ext>
            </a:extLst>
          </p:cNvPr>
          <p:cNvSpPr/>
          <p:nvPr/>
        </p:nvSpPr>
        <p:spPr>
          <a:xfrm>
            <a:off x="3540154" y="5305725"/>
            <a:ext cx="7242864" cy="84538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92BFEF-3670-7431-E825-C26F3EA5261D}"/>
              </a:ext>
            </a:extLst>
          </p:cNvPr>
          <p:cNvSpPr txBox="1"/>
          <p:nvPr/>
        </p:nvSpPr>
        <p:spPr>
          <a:xfrm>
            <a:off x="7039691" y="586752"/>
            <a:ext cx="2421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Verdana Pro" panose="020B0604030504040204" pitchFamily="34" charset="0"/>
              </a:rPr>
              <a:t>A0A1S1YUU1</a:t>
            </a:r>
            <a:endParaRPr lang="en-CA" sz="1400" dirty="0">
              <a:solidFill>
                <a:srgbClr val="0000FF"/>
              </a:solidFill>
              <a:latin typeface="Verdana Pro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30B619-BE73-D220-2975-36983892F15D}"/>
              </a:ext>
            </a:extLst>
          </p:cNvPr>
          <p:cNvSpPr txBox="1"/>
          <p:nvPr/>
        </p:nvSpPr>
        <p:spPr>
          <a:xfrm>
            <a:off x="3590958" y="4659858"/>
            <a:ext cx="51078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confers resistance to phage P1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048DEE-644A-8143-97BE-0B642B879A33}"/>
              </a:ext>
            </a:extLst>
          </p:cNvPr>
          <p:cNvSpPr txBox="1"/>
          <p:nvPr/>
        </p:nvSpPr>
        <p:spPr>
          <a:xfrm>
            <a:off x="3548781" y="5565254"/>
            <a:ext cx="4982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interferon-inducible antiviral protein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08E850-A266-DB59-3DA2-7F3E04AE9942}"/>
              </a:ext>
            </a:extLst>
          </p:cNvPr>
          <p:cNvSpPr txBox="1"/>
          <p:nvPr/>
        </p:nvSpPr>
        <p:spPr>
          <a:xfrm>
            <a:off x="3547827" y="5744056"/>
            <a:ext cx="5078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initiates pathway to repress RNA polymerase action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27DF3C-9EBD-A011-CBF6-171BEC3D3583}"/>
              </a:ext>
            </a:extLst>
          </p:cNvPr>
          <p:cNvSpPr txBox="1"/>
          <p:nvPr/>
        </p:nvSpPr>
        <p:spPr>
          <a:xfrm>
            <a:off x="6640705" y="2080663"/>
            <a:ext cx="2421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  <a:latin typeface="Verdana Pro" panose="020B0604030504040204" pitchFamily="34" charset="0"/>
              </a:rPr>
              <a:t>Q8WXG1</a:t>
            </a:r>
            <a:endParaRPr lang="en-CA" sz="1400" dirty="0">
              <a:solidFill>
                <a:srgbClr val="FF0000"/>
              </a:solidFill>
              <a:latin typeface="Verdana Pro" panose="020B060403050404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DD823E7-66A5-82B0-2C1D-F9E57CC68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075749"/>
              </p:ext>
            </p:extLst>
          </p:nvPr>
        </p:nvGraphicFramePr>
        <p:xfrm>
          <a:off x="334082" y="4722579"/>
          <a:ext cx="278289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079">
                  <a:extLst>
                    <a:ext uri="{9D8B030D-6E8A-4147-A177-3AD203B41FA5}">
                      <a16:colId xmlns:a16="http://schemas.microsoft.com/office/drawing/2014/main" val="1461492322"/>
                    </a:ext>
                  </a:extLst>
                </a:gridCol>
                <a:gridCol w="1624811">
                  <a:extLst>
                    <a:ext uri="{9D8B030D-6E8A-4147-A177-3AD203B41FA5}">
                      <a16:colId xmlns:a16="http://schemas.microsoft.com/office/drawing/2014/main" val="3072927139"/>
                    </a:ext>
                  </a:extLst>
                </a:gridCol>
              </a:tblGrid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System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Vipirin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81202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PyMol RMSD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0.89 Å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042579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Aln length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1423 atoms</a:t>
                      </a:r>
                    </a:p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[75 AAs]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461568"/>
                  </a:ext>
                </a:extLst>
              </a:tr>
            </a:tbl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0C580C62-E4AB-4F46-7942-18AC8424A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849" r="8850"/>
          <a:stretch>
            <a:fillRect/>
          </a:stretch>
        </p:blipFill>
        <p:spPr>
          <a:xfrm>
            <a:off x="105518" y="894529"/>
            <a:ext cx="3011454" cy="29454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0CA59B-CC7E-D170-4365-9D00A04D14C8}"/>
              </a:ext>
            </a:extLst>
          </p:cNvPr>
          <p:cNvSpPr/>
          <p:nvPr/>
        </p:nvSpPr>
        <p:spPr>
          <a:xfrm>
            <a:off x="609618" y="997688"/>
            <a:ext cx="158750" cy="93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2F44B-8358-1567-FCC1-1319D17054EF}"/>
              </a:ext>
            </a:extLst>
          </p:cNvPr>
          <p:cNvSpPr txBox="1"/>
          <p:nvPr/>
        </p:nvSpPr>
        <p:spPr>
          <a:xfrm>
            <a:off x="3590957" y="4839476"/>
            <a:ext cx="5114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represses T7 RNA-polymerase action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665F2-2467-7F1C-7B6C-40CFBA21E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5" t="18994" r="28632" b="11516"/>
          <a:stretch>
            <a:fillRect/>
          </a:stretch>
        </p:blipFill>
        <p:spPr>
          <a:xfrm>
            <a:off x="3840219" y="460159"/>
            <a:ext cx="4109981" cy="398341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CDA7D12-0464-48D9-38EE-19DEF771E4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09" t="67171" r="37259"/>
          <a:stretch>
            <a:fillRect/>
          </a:stretch>
        </p:blipFill>
        <p:spPr>
          <a:xfrm>
            <a:off x="7824207" y="2043615"/>
            <a:ext cx="2972164" cy="23582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F0B3C77-5F6E-1991-4200-9D9E25584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47" t="73289" r="39931" b="-63"/>
          <a:stretch>
            <a:fillRect/>
          </a:stretch>
        </p:blipFill>
        <p:spPr>
          <a:xfrm>
            <a:off x="8372475" y="604065"/>
            <a:ext cx="2128368" cy="19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603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5337-A1A9-09A2-FDE4-7696368E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599B7-D838-FDFF-8B87-B69F97760476}"/>
              </a:ext>
            </a:extLst>
          </p:cNvPr>
          <p:cNvSpPr/>
          <p:nvPr/>
        </p:nvSpPr>
        <p:spPr>
          <a:xfrm>
            <a:off x="3540154" y="4761874"/>
            <a:ext cx="7445346" cy="845389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13B0A3-8D80-DC7F-37F6-BADD830D5CAB}"/>
              </a:ext>
            </a:extLst>
          </p:cNvPr>
          <p:cNvSpPr txBox="1"/>
          <p:nvPr/>
        </p:nvSpPr>
        <p:spPr>
          <a:xfrm>
            <a:off x="3590957" y="4757111"/>
            <a:ext cx="4781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Q6XGD5 [E. coli][cdnE]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05969E-BA91-1E8F-3740-1C4EBCE5EB28}"/>
              </a:ext>
            </a:extLst>
          </p:cNvPr>
          <p:cNvSpPr txBox="1"/>
          <p:nvPr/>
        </p:nvSpPr>
        <p:spPr>
          <a:xfrm>
            <a:off x="3590957" y="5644540"/>
            <a:ext cx="3314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Q8N884 [H. sapiens][CGAS]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63E170-939F-9687-F701-832A6C5E8A7E}"/>
              </a:ext>
            </a:extLst>
          </p:cNvPr>
          <p:cNvSpPr/>
          <p:nvPr/>
        </p:nvSpPr>
        <p:spPr>
          <a:xfrm>
            <a:off x="3540153" y="5619753"/>
            <a:ext cx="7445347" cy="84538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8A91DA-7491-BECE-5A94-ED7ED4100471}"/>
              </a:ext>
            </a:extLst>
          </p:cNvPr>
          <p:cNvSpPr txBox="1"/>
          <p:nvPr/>
        </p:nvSpPr>
        <p:spPr>
          <a:xfrm>
            <a:off x="6582804" y="439278"/>
            <a:ext cx="2421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Verdana Pro" panose="020B0604030504040204" pitchFamily="34" charset="0"/>
              </a:rPr>
              <a:t>Q6XGD5</a:t>
            </a:r>
            <a:endParaRPr lang="en-CA" sz="1400" dirty="0">
              <a:solidFill>
                <a:srgbClr val="0000FF"/>
              </a:solidFill>
              <a:latin typeface="Verdana Pro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4F3F6C-FACB-BB70-E369-56D6801E91D9}"/>
              </a:ext>
            </a:extLst>
          </p:cNvPr>
          <p:cNvSpPr txBox="1"/>
          <p:nvPr/>
        </p:nvSpPr>
        <p:spPr>
          <a:xfrm>
            <a:off x="3590958" y="4973886"/>
            <a:ext cx="5107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Cyclic nucleotide synthase (second messenger synthesis) in CBASS system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FB4D5A-77F8-7F70-776B-9183BB442DE5}"/>
              </a:ext>
            </a:extLst>
          </p:cNvPr>
          <p:cNvSpPr txBox="1"/>
          <p:nvPr/>
        </p:nvSpPr>
        <p:spPr>
          <a:xfrm>
            <a:off x="3548781" y="5879282"/>
            <a:ext cx="4982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nucleotidyltransferase catalyzing formation of cyclic GMP-AMP; plays role in innate immunity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F06483-848C-7C5D-27F2-45278FA99187}"/>
              </a:ext>
            </a:extLst>
          </p:cNvPr>
          <p:cNvSpPr txBox="1"/>
          <p:nvPr/>
        </p:nvSpPr>
        <p:spPr>
          <a:xfrm>
            <a:off x="6582805" y="2110867"/>
            <a:ext cx="2421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  <a:latin typeface="Verdana Pro" panose="020B0604030504040204" pitchFamily="34" charset="0"/>
              </a:rPr>
              <a:t>Q8N884</a:t>
            </a:r>
            <a:endParaRPr lang="en-CA" sz="1400" dirty="0">
              <a:solidFill>
                <a:srgbClr val="FF0000"/>
              </a:solidFill>
              <a:latin typeface="Verdana Pro" panose="020B060403050404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B5E299E-F9C4-86A8-9515-04FA20C80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270993"/>
              </p:ext>
            </p:extLst>
          </p:nvPr>
        </p:nvGraphicFramePr>
        <p:xfrm>
          <a:off x="448364" y="5116833"/>
          <a:ext cx="278289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079">
                  <a:extLst>
                    <a:ext uri="{9D8B030D-6E8A-4147-A177-3AD203B41FA5}">
                      <a16:colId xmlns:a16="http://schemas.microsoft.com/office/drawing/2014/main" val="1461492322"/>
                    </a:ext>
                  </a:extLst>
                </a:gridCol>
                <a:gridCol w="1624811">
                  <a:extLst>
                    <a:ext uri="{9D8B030D-6E8A-4147-A177-3AD203B41FA5}">
                      <a16:colId xmlns:a16="http://schemas.microsoft.com/office/drawing/2014/main" val="3072927139"/>
                    </a:ext>
                  </a:extLst>
                </a:gridCol>
              </a:tblGrid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System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CBASS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81202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PyMol RMSD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5.53 Å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042579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Aln length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1385 atoms</a:t>
                      </a:r>
                    </a:p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[73 AAs]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461568"/>
                  </a:ext>
                </a:extLst>
              </a:tr>
            </a:tbl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3D7881BF-EBA7-A1A0-8F19-0FD5880F2F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0849" r="8850"/>
          <a:stretch>
            <a:fillRect/>
          </a:stretch>
        </p:blipFill>
        <p:spPr>
          <a:xfrm>
            <a:off x="219800" y="1385293"/>
            <a:ext cx="3011454" cy="294540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DBEF63E-33ED-8D98-5B30-F4F5C5956DEA}"/>
              </a:ext>
            </a:extLst>
          </p:cNvPr>
          <p:cNvSpPr/>
          <p:nvPr/>
        </p:nvSpPr>
        <p:spPr>
          <a:xfrm>
            <a:off x="1860550" y="1661056"/>
            <a:ext cx="158750" cy="93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7FE4B-2CC6-3D45-48A6-471835C06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6" r="22135" b="13290"/>
          <a:stretch>
            <a:fillRect/>
          </a:stretch>
        </p:blipFill>
        <p:spPr>
          <a:xfrm>
            <a:off x="3425869" y="568235"/>
            <a:ext cx="4367510" cy="40646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C65CB3-2FEF-EABD-3D6A-BC8864300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23" t="69182" r="39358"/>
          <a:stretch>
            <a:fillRect/>
          </a:stretch>
        </p:blipFill>
        <p:spPr>
          <a:xfrm>
            <a:off x="8372475" y="360362"/>
            <a:ext cx="1740245" cy="19602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18336F-2397-0EF1-4EBA-A626ED12BB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95" t="60625" r="38916"/>
          <a:stretch>
            <a:fillRect/>
          </a:stretch>
        </p:blipFill>
        <p:spPr>
          <a:xfrm>
            <a:off x="7582618" y="2005014"/>
            <a:ext cx="2560363" cy="250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318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2B96-FB69-526B-80F1-486BE515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7CA461C-AB95-3E4B-73EB-87FFCB666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8" t="66578" r="34644"/>
          <a:stretch>
            <a:fillRect/>
          </a:stretch>
        </p:blipFill>
        <p:spPr>
          <a:xfrm>
            <a:off x="8071324" y="2349284"/>
            <a:ext cx="2790765" cy="231574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B15CA2F-4F07-6703-1917-EF06DBBCDC7C}"/>
              </a:ext>
            </a:extLst>
          </p:cNvPr>
          <p:cNvSpPr txBox="1"/>
          <p:nvPr/>
        </p:nvSpPr>
        <p:spPr>
          <a:xfrm>
            <a:off x="7789866" y="392858"/>
            <a:ext cx="1266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00FF"/>
                </a:solidFill>
                <a:latin typeface="Verdana Pro" panose="020B0604030504040204" pitchFamily="34" charset="0"/>
              </a:rPr>
              <a:t>J8G6Z1</a:t>
            </a:r>
            <a:endParaRPr lang="en-CA" sz="1400" dirty="0">
              <a:solidFill>
                <a:srgbClr val="0000FF"/>
              </a:solidFill>
              <a:latin typeface="Verdana Pro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7B76DD-E0D2-F564-E423-3A77E5A1E798}"/>
              </a:ext>
            </a:extLst>
          </p:cNvPr>
          <p:cNvSpPr/>
          <p:nvPr/>
        </p:nvSpPr>
        <p:spPr>
          <a:xfrm>
            <a:off x="3540154" y="4761874"/>
            <a:ext cx="7000846" cy="845389"/>
          </a:xfrm>
          <a:prstGeom prst="rect">
            <a:avLst/>
          </a:pr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1D4D55-792F-E6CB-7F48-9704C1D9C701}"/>
              </a:ext>
            </a:extLst>
          </p:cNvPr>
          <p:cNvSpPr txBox="1"/>
          <p:nvPr/>
        </p:nvSpPr>
        <p:spPr>
          <a:xfrm>
            <a:off x="3590957" y="4757111"/>
            <a:ext cx="4781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J8G6Z1 [B. cereus][thsA]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00AA5-4C4C-00DF-4E9A-AAF9B5650E0D}"/>
              </a:ext>
            </a:extLst>
          </p:cNvPr>
          <p:cNvSpPr txBox="1"/>
          <p:nvPr/>
        </p:nvSpPr>
        <p:spPr>
          <a:xfrm>
            <a:off x="3590957" y="5644540"/>
            <a:ext cx="3314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Q9BPY3 [H. sapiens][FAM118B]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E8BE26-53CA-8612-2BF2-34D7549440C7}"/>
              </a:ext>
            </a:extLst>
          </p:cNvPr>
          <p:cNvSpPr/>
          <p:nvPr/>
        </p:nvSpPr>
        <p:spPr>
          <a:xfrm>
            <a:off x="3540153" y="5619753"/>
            <a:ext cx="7000847" cy="84538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  <a:latin typeface="Verdana Pro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696AAF-EF99-A7A2-3A32-7483C0EF0E63}"/>
              </a:ext>
            </a:extLst>
          </p:cNvPr>
          <p:cNvSpPr txBox="1"/>
          <p:nvPr/>
        </p:nvSpPr>
        <p:spPr>
          <a:xfrm>
            <a:off x="3590958" y="4973886"/>
            <a:ext cx="4940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NAD+ hydrolyzing component (NADase) of Thoeris antiviral defense system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9CF23C-ACC0-0A61-1F9A-D137D7927C64}"/>
              </a:ext>
            </a:extLst>
          </p:cNvPr>
          <p:cNvSpPr txBox="1"/>
          <p:nvPr/>
        </p:nvSpPr>
        <p:spPr>
          <a:xfrm>
            <a:off x="3548781" y="5879282"/>
            <a:ext cx="4982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Verdana Pro" panose="020B0604030504040204" pitchFamily="34" charset="0"/>
                <a:cs typeface="Courier New" panose="02070309020205020404" pitchFamily="49" charset="0"/>
              </a:rPr>
              <a:t>Cajal body regulation</a:t>
            </a:r>
            <a:endParaRPr lang="en-CA" sz="1200" dirty="0">
              <a:latin typeface="Verdana Pro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7BDDA1-243D-C75E-752F-BCD63BCB3EF9}"/>
              </a:ext>
            </a:extLst>
          </p:cNvPr>
          <p:cNvSpPr txBox="1"/>
          <p:nvPr/>
        </p:nvSpPr>
        <p:spPr>
          <a:xfrm>
            <a:off x="7921419" y="1939049"/>
            <a:ext cx="1135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F0000"/>
                </a:solidFill>
                <a:latin typeface="Verdana Pro" panose="020B0604030504040204" pitchFamily="34" charset="0"/>
              </a:rPr>
              <a:t>Q9BPY3</a:t>
            </a:r>
            <a:endParaRPr lang="en-CA" sz="1400" dirty="0">
              <a:solidFill>
                <a:srgbClr val="FF0000"/>
              </a:solidFill>
              <a:latin typeface="Verdana Pro" panose="020B060403050404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7BD3758-FFC0-88EE-19AE-21535738F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86360"/>
              </p:ext>
            </p:extLst>
          </p:nvPr>
        </p:nvGraphicFramePr>
        <p:xfrm>
          <a:off x="448364" y="5095593"/>
          <a:ext cx="2782890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8079">
                  <a:extLst>
                    <a:ext uri="{9D8B030D-6E8A-4147-A177-3AD203B41FA5}">
                      <a16:colId xmlns:a16="http://schemas.microsoft.com/office/drawing/2014/main" val="1461492322"/>
                    </a:ext>
                  </a:extLst>
                </a:gridCol>
                <a:gridCol w="1624811">
                  <a:extLst>
                    <a:ext uri="{9D8B030D-6E8A-4147-A177-3AD203B41FA5}">
                      <a16:colId xmlns:a16="http://schemas.microsoft.com/office/drawing/2014/main" val="3072927139"/>
                    </a:ext>
                  </a:extLst>
                </a:gridCol>
              </a:tblGrid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System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SIR2 antiphage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812024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PyMol RMSD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3.88 Å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042579"/>
                  </a:ext>
                </a:extLst>
              </a:tr>
              <a:tr h="20426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</a:rPr>
                        <a:t>Aln length</a:t>
                      </a:r>
                      <a:endParaRPr lang="en-CA" sz="1200" dirty="0">
                        <a:latin typeface="Verdana Pro" panose="020B060403050404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1252 atoms</a:t>
                      </a:r>
                    </a:p>
                    <a:p>
                      <a:r>
                        <a:rPr lang="en-US" sz="1200" dirty="0">
                          <a:latin typeface="Verdana Pro" panose="020B0604030504040204" pitchFamily="34" charset="0"/>
                          <a:cs typeface="Courier New" panose="02070309020205020404" pitchFamily="49" charset="0"/>
                        </a:rPr>
                        <a:t>[66 AAs]</a:t>
                      </a:r>
                      <a:endParaRPr lang="en-CA" sz="1200" dirty="0">
                        <a:latin typeface="Verdana Pro" panose="020B0604030504040204" pitchFamily="34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461568"/>
                  </a:ext>
                </a:extLst>
              </a:tr>
            </a:tbl>
          </a:graphicData>
        </a:graphic>
      </p:graphicFrame>
      <p:pic>
        <p:nvPicPr>
          <p:cNvPr id="3" name="Graphic 2">
            <a:extLst>
              <a:ext uri="{FF2B5EF4-FFF2-40B4-BE49-F238E27FC236}">
                <a16:creationId xmlns:a16="http://schemas.microsoft.com/office/drawing/2014/main" id="{9AF6A182-4FF9-CFAE-0BC9-E814B90DA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849" r="8850"/>
          <a:stretch>
            <a:fillRect/>
          </a:stretch>
        </p:blipFill>
        <p:spPr>
          <a:xfrm>
            <a:off x="219800" y="1182093"/>
            <a:ext cx="3011454" cy="294540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7B46E29-E8BA-FD3A-1927-3AADE4609CA7}"/>
              </a:ext>
            </a:extLst>
          </p:cNvPr>
          <p:cNvSpPr/>
          <p:nvPr/>
        </p:nvSpPr>
        <p:spPr>
          <a:xfrm>
            <a:off x="1454150" y="1722761"/>
            <a:ext cx="158750" cy="93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C8650-AB27-C535-5337-57A9A96AC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6" t="7467" r="21790"/>
          <a:stretch>
            <a:fillRect/>
          </a:stretch>
        </p:blipFill>
        <p:spPr>
          <a:xfrm>
            <a:off x="3500153" y="365519"/>
            <a:ext cx="4302272" cy="4299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9C0F12-5F8D-F474-1E8D-B708B6BFAE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5" t="74322" r="36286" b="4700"/>
          <a:stretch>
            <a:fillRect/>
          </a:stretch>
        </p:blipFill>
        <p:spPr>
          <a:xfrm>
            <a:off x="8174388" y="743943"/>
            <a:ext cx="2527485" cy="145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17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DDCF-9877-BB0E-77F5-0E4B2A6B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59D6C-186E-FB87-6875-039B8DFC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18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CC149-56F8-D0FE-FDF7-2E8A44BE12F1}"/>
              </a:ext>
            </a:extLst>
          </p:cNvPr>
          <p:cNvSpPr txBox="1"/>
          <p:nvPr/>
        </p:nvSpPr>
        <p:spPr>
          <a:xfrm>
            <a:off x="863600" y="1528457"/>
            <a:ext cx="9272016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Work with V Furlan to further develop composite score for protein pair prioritization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endParaRPr lang="en-US" dirty="0">
              <a:latin typeface="Georgia Pro" panose="02040502050405020303" pitchFamily="18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Use V Furlan's pipeline frontend to conduct prioritization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</a:rPr>
              <a:t>develop Blastp canonical protein flagger tool and integrate with frontend</a:t>
            </a:r>
          </a:p>
          <a:p>
            <a:pPr lvl="1">
              <a:spcAft>
                <a:spcPts val="600"/>
              </a:spcAft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Work with V Furlan to get a gene list by next meeting (1 - 2 months)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target users: C Marshall clinical research group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Lucida Console" panose="020B0609040504020204" pitchFamily="49" charset="0"/>
                <a:cs typeface="Courier New" panose="02070309020205020404" pitchFamily="49" charset="0"/>
              </a:rPr>
              <a:t>purpose: improve diagnostic yield for rare single-variant immune disease from genome sequencing</a:t>
            </a:r>
            <a:endParaRPr lang="en-US" dirty="0">
              <a:latin typeface="Georgia Pro" panose="02040502050405020303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B01CEC-11C5-581C-E64C-95DD1E05A5CC}"/>
              </a:ext>
            </a:extLst>
          </p:cNvPr>
          <p:cNvSpPr/>
          <p:nvPr/>
        </p:nvSpPr>
        <p:spPr>
          <a:xfrm>
            <a:off x="315257" y="267370"/>
            <a:ext cx="6204416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AB3A2-9926-3BC4-CE71-F9A9183C5B7A}"/>
              </a:ext>
            </a:extLst>
          </p:cNvPr>
          <p:cNvSpPr txBox="1"/>
          <p:nvPr/>
        </p:nvSpPr>
        <p:spPr>
          <a:xfrm>
            <a:off x="527960" y="335519"/>
            <a:ext cx="5779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Next steps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29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1071</Words>
  <Application>Microsoft Office PowerPoint</Application>
  <PresentationFormat>Widescreen</PresentationFormat>
  <Paragraphs>289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Courier New</vt:lpstr>
      <vt:lpstr>Georgia Pro</vt:lpstr>
      <vt:lpstr>Lucida Console</vt:lpstr>
      <vt:lpstr>Verdana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Moran</dc:creator>
  <cp:lastModifiedBy>Julian Moran</cp:lastModifiedBy>
  <cp:revision>142</cp:revision>
  <dcterms:created xsi:type="dcterms:W3CDTF">2026-04-01T17:28:23Z</dcterms:created>
  <dcterms:modified xsi:type="dcterms:W3CDTF">2026-04-10T15:00:08Z</dcterms:modified>
</cp:coreProperties>
</file>