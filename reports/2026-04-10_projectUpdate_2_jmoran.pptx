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6" r:id="rId3"/>
    <p:sldId id="272" r:id="rId4"/>
    <p:sldId id="257" r:id="rId5"/>
    <p:sldId id="269" r:id="rId6"/>
    <p:sldId id="270" r:id="rId7"/>
    <p:sldId id="271" r:id="rId8"/>
    <p:sldId id="275" r:id="rId9"/>
    <p:sldId id="274" r:id="rId10"/>
    <p:sldId id="277" r:id="rId11"/>
    <p:sldId id="267" r:id="rId12"/>
    <p:sldId id="27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EE"/>
    <a:srgbClr val="0000FF"/>
    <a:srgbClr val="0000A5"/>
    <a:srgbClr val="0162B3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915" autoAdjust="0"/>
  </p:normalViewPr>
  <p:slideViewPr>
    <p:cSldViewPr snapToGrid="0">
      <p:cViewPr>
        <p:scale>
          <a:sx n="75" d="100"/>
          <a:sy n="75" d="100"/>
        </p:scale>
        <p:origin x="191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Finalize manually curated list of gold-standard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89DF-987B-2A7F-4626-B4E08794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292F4919-8567-DB6E-55ED-474C8E40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001313-65AD-9DB7-0BD3-1EB7FF747852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A7A31-E022-1369-F8F6-D2ABFBE6FD69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4B163-8567-7BFB-C8D0-1B3990F811D6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509A3A-4238-29FE-0EE9-85349C94DDF6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26A21C-F8E0-979D-4C78-5AD8F626206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2400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160BD795-A9BE-A5C8-129A-FA59DDE23C1F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20195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A1410C-3E75-3DA4-B14E-C13268097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460" y="405443"/>
            <a:ext cx="3068612" cy="254134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372D3B-10A7-BA1C-E1C1-2FF420E6F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60" y="2946790"/>
            <a:ext cx="3068611" cy="27915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5CC6B1A-4BD4-6DC4-E9B1-9BF4BB86DAED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EF9DD2-491B-07EC-E3CE-BE6687E3939B}"/>
              </a:ext>
            </a:extLst>
          </p:cNvPr>
          <p:cNvGrpSpPr/>
          <p:nvPr/>
        </p:nvGrpSpPr>
        <p:grpSpPr>
          <a:xfrm>
            <a:off x="276405" y="405443"/>
            <a:ext cx="2955856" cy="2994101"/>
            <a:chOff x="1144437" y="1392623"/>
            <a:chExt cx="4876801" cy="493990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0E4A038-5461-8D29-E0E7-7CFF778FD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9961" r="11111"/>
            <a:stretch>
              <a:fillRect/>
            </a:stretch>
          </p:blipFill>
          <p:spPr>
            <a:xfrm>
              <a:off x="1144437" y="1392623"/>
              <a:ext cx="4876801" cy="493990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4E0E19-7D89-7B31-ADCD-5A948D28A8A1}"/>
                </a:ext>
              </a:extLst>
            </p:cNvPr>
            <p:cNvSpPr/>
            <p:nvPr/>
          </p:nvSpPr>
          <p:spPr>
            <a:xfrm>
              <a:off x="4929993" y="4957313"/>
              <a:ext cx="250166" cy="189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DC40ED7-46A1-6D64-E396-B3B63DEAF208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 [A. atlanticus]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8FDB-4AE2-2F03-A2CE-B9B10FE063F9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D168B8-08B1-F533-7A81-96D13D2A7D21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75E2953-C92B-DD97-A158-9DF0CD353A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405443"/>
            <a:ext cx="5171306" cy="433908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39BDB83-65E6-2783-6790-F079ABBA6765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31115-57CE-131C-E179-A1A88D21C6CF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unreviewed, uncharacterised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60C3D-F7A9-893E-EC26-9CCE55758F5A}"/>
              </a:ext>
            </a:extLst>
          </p:cNvPr>
          <p:cNvSpPr txBox="1"/>
          <p:nvPr/>
        </p:nvSpPr>
        <p:spPr>
          <a:xfrm>
            <a:off x="3590957" y="5163595"/>
            <a:ext cx="5114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strong sequence homology to ATP-, DEAD-box helicases in other bacterial species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79CE4-C678-786D-0CDC-049477D09BDE}"/>
              </a:ext>
            </a:extLst>
          </p:cNvPr>
          <p:cNvSpPr txBox="1"/>
          <p:nvPr/>
        </p:nvSpPr>
        <p:spPr>
          <a:xfrm>
            <a:off x="3540154" y="5866698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AE85AE-0BD2-4E2B-1374-B9EFE1F4405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0C6DF-D3A6-61BC-BB2C-1774F8E9A11E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30EE701-DBFE-C350-4142-4C6967DA8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99706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-34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1.47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636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6E2D1-0D4A-B807-37A6-B425C90F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9B9206-4383-222B-653B-DC4D92132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809" y="2574759"/>
            <a:ext cx="3052737" cy="28761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8B2DC9-11AE-F408-0C77-180D3EB66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09" y="114300"/>
            <a:ext cx="3059385" cy="24604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871C24D-B23D-320B-B22A-0340DC5A592B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A039E2-639C-EAD7-307A-80C46BC23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05AB22-9A15-EBA8-03D4-1BF07BEFEAE9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 [M. marinus]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37E64-EE84-94FD-A9D3-80E019E35561}"/>
              </a:ext>
            </a:extLst>
          </p:cNvPr>
          <p:cNvSpPr txBox="1"/>
          <p:nvPr/>
        </p:nvSpPr>
        <p:spPr>
          <a:xfrm>
            <a:off x="3590957" y="5631956"/>
            <a:ext cx="5105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E202E3-E150-136F-F1F5-3311AE3B76E9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485D5-FDEF-1950-B818-54F2A6BA3422}"/>
              </a:ext>
            </a:extLst>
          </p:cNvPr>
          <p:cNvSpPr txBox="1"/>
          <p:nvPr/>
        </p:nvSpPr>
        <p:spPr>
          <a:xfrm>
            <a:off x="9394672" y="10699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EB2AB1-34C8-D7A6-26BF-BDA6D9204579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DEAD-box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E73559-04E4-E01C-A736-A77CC7596E70}"/>
              </a:ext>
            </a:extLst>
          </p:cNvPr>
          <p:cNvSpPr txBox="1"/>
          <p:nvPr/>
        </p:nvSpPr>
        <p:spPr>
          <a:xfrm>
            <a:off x="3540154" y="5866698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C020-7E96-8989-33C6-C4AF9DA1F6E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CE26BE-A28E-E0F5-A0D4-425D853F513A}"/>
              </a:ext>
            </a:extLst>
          </p:cNvPr>
          <p:cNvSpPr txBox="1"/>
          <p:nvPr/>
        </p:nvSpPr>
        <p:spPr>
          <a:xfrm>
            <a:off x="9394672" y="251503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0253E48-B34A-09B0-01E1-6EA8AD44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456144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2.21e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-27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1.56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623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32D3732-7C80-A3ED-8783-56C29CB229EA}"/>
              </a:ext>
            </a:extLst>
          </p:cNvPr>
          <p:cNvSpPr/>
          <p:nvPr/>
        </p:nvSpPr>
        <p:spPr>
          <a:xfrm>
            <a:off x="2176780" y="2515033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418ABC-1873-F644-A689-9C5929950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114300"/>
            <a:ext cx="5168872" cy="463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984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671E-77B7-F256-D8E0-29A815F6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B619D5C-1957-C731-D7C7-99ABC25BBDD9}"/>
              </a:ext>
            </a:extLst>
          </p:cNvPr>
          <p:cNvSpPr/>
          <p:nvPr/>
        </p:nvSpPr>
        <p:spPr>
          <a:xfrm>
            <a:off x="8711460" y="2785987"/>
            <a:ext cx="3059085" cy="262797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7E53FD-3B6C-6871-B74A-A418007335B0}"/>
              </a:ext>
            </a:extLst>
          </p:cNvPr>
          <p:cNvSpPr/>
          <p:nvPr/>
        </p:nvSpPr>
        <p:spPr>
          <a:xfrm>
            <a:off x="3540154" y="3920615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E9BC3-B27B-50A7-2B8E-518F49C04C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03563C-B735-E51A-9135-7D8AC3FF4A91}"/>
              </a:ext>
            </a:extLst>
          </p:cNvPr>
          <p:cNvSpPr txBox="1"/>
          <p:nvPr/>
        </p:nvSpPr>
        <p:spPr>
          <a:xfrm>
            <a:off x="3590957" y="3915852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 [J. tructae]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5717-71A8-DF47-108D-FECB7FD44CBE}"/>
              </a:ext>
            </a:extLst>
          </p:cNvPr>
          <p:cNvSpPr txBox="1"/>
          <p:nvPr/>
        </p:nvSpPr>
        <p:spPr>
          <a:xfrm>
            <a:off x="3590957" y="4803281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 [H. sapiens][unreviewed]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1D19A-B186-ACCF-8683-7BF670FA72DE}"/>
              </a:ext>
            </a:extLst>
          </p:cNvPr>
          <p:cNvSpPr/>
          <p:nvPr/>
        </p:nvSpPr>
        <p:spPr>
          <a:xfrm>
            <a:off x="3540154" y="4778494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D6309-34D2-B8B0-1F99-86FF5CCF905F}"/>
              </a:ext>
            </a:extLst>
          </p:cNvPr>
          <p:cNvSpPr txBox="1"/>
          <p:nvPr/>
        </p:nvSpPr>
        <p:spPr>
          <a:xfrm>
            <a:off x="3590958" y="4132627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ATP-dependent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166F2-7F85-9440-0E1B-2EA771FF7EC3}"/>
              </a:ext>
            </a:extLst>
          </p:cNvPr>
          <p:cNvSpPr txBox="1"/>
          <p:nvPr/>
        </p:nvSpPr>
        <p:spPr>
          <a:xfrm>
            <a:off x="3590957" y="4334920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A1A7CC-E4E2-A8C5-D520-FF73BF026379}"/>
              </a:ext>
            </a:extLst>
          </p:cNvPr>
          <p:cNvSpPr txBox="1"/>
          <p:nvPr/>
        </p:nvSpPr>
        <p:spPr>
          <a:xfrm>
            <a:off x="3540154" y="5038023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"highly similar to Homo sapiens chromodomain helicase DNA binding protein 1-like (CHD1L)"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1DE8E-1729-9231-5374-ECB14D65D21B}"/>
              </a:ext>
            </a:extLst>
          </p:cNvPr>
          <p:cNvSpPr txBox="1"/>
          <p:nvPr/>
        </p:nvSpPr>
        <p:spPr>
          <a:xfrm>
            <a:off x="9349397" y="278598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3887FE4-41B4-23D7-5603-63D9A7844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028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-13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1.17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267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07AB880-A85D-7983-736B-80F77854A0CA}"/>
              </a:ext>
            </a:extLst>
          </p:cNvPr>
          <p:cNvSpPr/>
          <p:nvPr/>
        </p:nvSpPr>
        <p:spPr>
          <a:xfrm>
            <a:off x="1405374" y="275022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BDC0A7-B788-0015-0D36-BD5E1319F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372" y="559331"/>
            <a:ext cx="5162279" cy="3348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1AB855-A635-3FCC-D993-3997626F1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60" y="559331"/>
            <a:ext cx="3062834" cy="224512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753DB15-2FB2-36B0-929F-97BFB73CECF2}"/>
              </a:ext>
            </a:extLst>
          </p:cNvPr>
          <p:cNvSpPr txBox="1"/>
          <p:nvPr/>
        </p:nvSpPr>
        <p:spPr>
          <a:xfrm>
            <a:off x="9349398" y="559331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13C82C-7182-409C-E2EA-E67D63249E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7237" y="2783050"/>
            <a:ext cx="2069389" cy="259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187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1ED0-1BD3-612A-3F05-214A8251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ECFF34D-EF51-9242-5410-5F51BAC36330}"/>
              </a:ext>
            </a:extLst>
          </p:cNvPr>
          <p:cNvSpPr/>
          <p:nvPr/>
        </p:nvSpPr>
        <p:spPr>
          <a:xfrm>
            <a:off x="8711459" y="405442"/>
            <a:ext cx="3059085" cy="239175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A8A3A6-B805-4754-949B-A2994CFE8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902" y="405442"/>
            <a:ext cx="2823973" cy="238845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E82F74D-D5FE-D9CF-114A-0F5783339A1D}"/>
              </a:ext>
            </a:extLst>
          </p:cNvPr>
          <p:cNvSpPr/>
          <p:nvPr/>
        </p:nvSpPr>
        <p:spPr>
          <a:xfrm>
            <a:off x="8711460" y="2785987"/>
            <a:ext cx="3059085" cy="316372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430691-1876-0115-553C-DEAE389813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05"/>
          <a:stretch>
            <a:fillRect/>
          </a:stretch>
        </p:blipFill>
        <p:spPr>
          <a:xfrm>
            <a:off x="8711460" y="2946791"/>
            <a:ext cx="2934109" cy="3002921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41B1F10-52DD-5E5F-D460-F043D31C0F78}"/>
              </a:ext>
            </a:extLst>
          </p:cNvPr>
          <p:cNvSpPr/>
          <p:nvPr/>
        </p:nvSpPr>
        <p:spPr>
          <a:xfrm>
            <a:off x="3540154" y="424644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8F3E02-50E2-4E48-5A93-DD3F142E2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DFB4A9-A4A6-B629-62D7-62E9C475DA37}"/>
              </a:ext>
            </a:extLst>
          </p:cNvPr>
          <p:cNvSpPr txBox="1"/>
          <p:nvPr/>
        </p:nvSpPr>
        <p:spPr>
          <a:xfrm>
            <a:off x="3590957" y="424168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 [A. baumannii]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CCD0A-331F-9592-81A1-B2CD9EC98C5D}"/>
              </a:ext>
            </a:extLst>
          </p:cNvPr>
          <p:cNvSpPr txBox="1"/>
          <p:nvPr/>
        </p:nvSpPr>
        <p:spPr>
          <a:xfrm>
            <a:off x="3590957" y="512911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 [H. sapiens][BTAF1]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B6EA16-E711-D462-5868-A98DF44D0B86}"/>
              </a:ext>
            </a:extLst>
          </p:cNvPr>
          <p:cNvSpPr/>
          <p:nvPr/>
        </p:nvSpPr>
        <p:spPr>
          <a:xfrm>
            <a:off x="3540154" y="510432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74FEC1-9620-3DF3-8DA7-9BC6B4D33573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8341F-9B09-FC1C-6A64-BA49AFDC9748}"/>
              </a:ext>
            </a:extLst>
          </p:cNvPr>
          <p:cNvSpPr txBox="1"/>
          <p:nvPr/>
        </p:nvSpPr>
        <p:spPr>
          <a:xfrm>
            <a:off x="3590958" y="4458456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 box helicase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7B93A9-B52D-A44E-A92C-B459CD2D0E52}"/>
              </a:ext>
            </a:extLst>
          </p:cNvPr>
          <p:cNvSpPr txBox="1"/>
          <p:nvPr/>
        </p:nvSpPr>
        <p:spPr>
          <a:xfrm>
            <a:off x="3540154" y="5363852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evidence of existence only at transcript level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3AAF28-D7C8-F5FC-0EF3-FE424467C035}"/>
              </a:ext>
            </a:extLst>
          </p:cNvPr>
          <p:cNvSpPr txBox="1"/>
          <p:nvPr/>
        </p:nvSpPr>
        <p:spPr>
          <a:xfrm>
            <a:off x="3533804" y="5542654"/>
            <a:ext cx="51649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 helicase, hydrolase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778E7F-25DD-FBA0-8782-FCD7A89D9B24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843CC1-E262-28F7-FA80-61CA22921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874521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5.65e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-32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3.41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553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14B2D47-5432-F556-F3B5-30689A5B4CC6}"/>
              </a:ext>
            </a:extLst>
          </p:cNvPr>
          <p:cNvSpPr/>
          <p:nvPr/>
        </p:nvSpPr>
        <p:spPr>
          <a:xfrm>
            <a:off x="2438837" y="1401961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0F643-970A-26FF-175C-D976A558A2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405443"/>
            <a:ext cx="5171304" cy="381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0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Gold standard list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926015"/>
              </p:ext>
            </p:extLst>
          </p:nvPr>
        </p:nvGraphicFramePr>
        <p:xfrm>
          <a:off x="1241192" y="2618867"/>
          <a:ext cx="534720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30540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2130668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Bacterial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Human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1232048" y="6222191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C07A-574B-C0FB-6B6A-352D625C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26B94E5-A8B0-D7E4-D948-58A57B2102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460" y="405443"/>
            <a:ext cx="3068612" cy="254134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74506DE-11C2-1C10-17E2-3E8CE1F00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60" y="2946790"/>
            <a:ext cx="3068611" cy="27915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A62F843-E61B-7533-0B3B-20DF2B843C81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0E63486-0799-AD73-7B2C-7A985FEA44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B6C356E-3C31-A753-9CA0-CE0423EA7453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txt [txt]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3406-0236-89C5-A5D8-F2EB822D005F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txt [H. sapiens][txt]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4275AF-D0DD-991F-26B8-0CA14B4CAF09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A470E5D-62D8-6B57-EFB1-5495D21A20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405443"/>
            <a:ext cx="5171306" cy="433908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092BFEF-3670-7431-E825-C26F3EA5261D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txt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0B619-BE73-D220-2975-36983892F15D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8658D8-1D35-A3A3-4E73-0A27B49BF945}"/>
              </a:ext>
            </a:extLst>
          </p:cNvPr>
          <p:cNvSpPr txBox="1"/>
          <p:nvPr/>
        </p:nvSpPr>
        <p:spPr>
          <a:xfrm>
            <a:off x="3590957" y="5163595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8DEE-644A-8143-97BE-0B642B879A33}"/>
              </a:ext>
            </a:extLst>
          </p:cNvPr>
          <p:cNvSpPr txBox="1"/>
          <p:nvPr/>
        </p:nvSpPr>
        <p:spPr>
          <a:xfrm>
            <a:off x="3540154" y="5866698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08E850-A266-DB59-3DA2-7F3E04AE9942}"/>
              </a:ext>
            </a:extLst>
          </p:cNvPr>
          <p:cNvSpPr txBox="1"/>
          <p:nvPr/>
        </p:nvSpPr>
        <p:spPr>
          <a:xfrm>
            <a:off x="3533804" y="6045500"/>
            <a:ext cx="51649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27DF3C-9EBD-A011-CBF6-171BEC3D3583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txt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EDD823E7-66A5-82B0-2C1D-F9E57CC68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018598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txt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txt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txt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86174E7A-99F5-9D90-8801-343C4A48BE9A}"/>
              </a:ext>
            </a:extLst>
          </p:cNvPr>
          <p:cNvSpPr/>
          <p:nvPr/>
        </p:nvSpPr>
        <p:spPr>
          <a:xfrm>
            <a:off x="1405374" y="275022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0603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674</Words>
  <Application>Microsoft Office PowerPoint</Application>
  <PresentationFormat>Widescreen</PresentationFormat>
  <Paragraphs>185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66</cp:revision>
  <dcterms:created xsi:type="dcterms:W3CDTF">2026-04-01T17:28:23Z</dcterms:created>
  <dcterms:modified xsi:type="dcterms:W3CDTF">2026-04-07T21:59:04Z</dcterms:modified>
</cp:coreProperties>
</file>