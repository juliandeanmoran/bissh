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66" r:id="rId3"/>
    <p:sldId id="272" r:id="rId4"/>
    <p:sldId id="257" r:id="rId5"/>
    <p:sldId id="269" r:id="rId6"/>
    <p:sldId id="270" r:id="rId7"/>
    <p:sldId id="271" r:id="rId8"/>
    <p:sldId id="275" r:id="rId9"/>
    <p:sldId id="274" r:id="rId10"/>
    <p:sldId id="277" r:id="rId11"/>
    <p:sldId id="278" r:id="rId12"/>
    <p:sldId id="267" r:id="rId13"/>
    <p:sldId id="276" r:id="rId14"/>
    <p:sldId id="279" r:id="rId15"/>
    <p:sldId id="28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926E"/>
    <a:srgbClr val="0162B3"/>
    <a:srgbClr val="EEEEEE"/>
    <a:srgbClr val="0000FF"/>
    <a:srgbClr val="0000A5"/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915" autoAdjust="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1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1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2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2026-04-10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401147"/>
            <a:ext cx="9272016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Manually curate positive control set of bacteria-human protein pairs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purpose: to serve as positive control in subsequent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  <a:endParaRPr lang="en-US" dirty="0">
              <a:latin typeface="Georgia Pro" panose="02040502050405020303" pitchFamily="18" charset="0"/>
            </a:endParaRP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Build a user interface for interactive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target users: C Trost lab, J Moran, bacterial protein research community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features: structural alignment visualization, sequence alignment visualization, domain annotation overlay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Get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Review – next steps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689DF-987B-2A7F-4626-B4E087943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292F4919-8567-DB6E-55ED-474C8E402F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001313-65AD-9DB7-0BD3-1EB7FF747852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9A7A31-E022-1369-F8F6-D2ABFBE6FD69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4B163-8567-7BFB-C8D0-1B3990F811D6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509A3A-4238-29FE-0EE9-85349C94DDF6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26A21C-F8E0-979D-4C78-5AD8F626206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2400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160BD795-A9BE-A5C8-129A-FA59DDE23C1F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201957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461CE14-D010-B97D-F7F8-7C47881F3AD7}"/>
              </a:ext>
            </a:extLst>
          </p:cNvPr>
          <p:cNvSpPr txBox="1"/>
          <p:nvPr/>
        </p:nvSpPr>
        <p:spPr>
          <a:xfrm>
            <a:off x="1072904" y="23121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To this end, we have incorporated PyMol super into our pipeline for interactive filtering</a:t>
            </a:r>
          </a:p>
        </p:txBody>
      </p:sp>
    </p:spTree>
    <p:extLst>
      <p:ext uri="{BB962C8B-B14F-4D97-AF65-F5344CB8AC3E}">
        <p14:creationId xmlns:p14="http://schemas.microsoft.com/office/powerpoint/2010/main" val="2973388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CA1410C-3E75-3DA4-B14E-C13268097F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1460" y="405443"/>
            <a:ext cx="3068612" cy="254134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372D3B-10A7-BA1C-E1C1-2FF420E6F2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460" y="2946790"/>
            <a:ext cx="3068611" cy="279151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5CC6B1A-4BD4-6DC4-E9B1-9BF4BB86DAED}"/>
              </a:ext>
            </a:extLst>
          </p:cNvPr>
          <p:cNvSpPr/>
          <p:nvPr/>
        </p:nvSpPr>
        <p:spPr>
          <a:xfrm>
            <a:off x="3540154" y="4749290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EF9DD2-491B-07EC-E3CE-BE6687E3939B}"/>
              </a:ext>
            </a:extLst>
          </p:cNvPr>
          <p:cNvGrpSpPr/>
          <p:nvPr/>
        </p:nvGrpSpPr>
        <p:grpSpPr>
          <a:xfrm>
            <a:off x="276405" y="405443"/>
            <a:ext cx="2955856" cy="2994101"/>
            <a:chOff x="1144437" y="1392623"/>
            <a:chExt cx="4876801" cy="4939901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E0E4A038-5461-8D29-E0E7-7CFF778FD5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9961" r="11111"/>
            <a:stretch>
              <a:fillRect/>
            </a:stretch>
          </p:blipFill>
          <p:spPr>
            <a:xfrm>
              <a:off x="1144437" y="1392623"/>
              <a:ext cx="4876801" cy="493990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34E0E19-7D89-7B31-ADCD-5A948D28A8A1}"/>
                </a:ext>
              </a:extLst>
            </p:cNvPr>
            <p:cNvSpPr/>
            <p:nvPr/>
          </p:nvSpPr>
          <p:spPr>
            <a:xfrm>
              <a:off x="4929993" y="4957313"/>
              <a:ext cx="250166" cy="18978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DC40ED7-46A1-6D64-E396-B3B63DEAF208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 [A. atlanticus]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AD8FDB-4AE2-2F03-A2CE-B9B10FE063F9}"/>
              </a:ext>
            </a:extLst>
          </p:cNvPr>
          <p:cNvSpPr txBox="1"/>
          <p:nvPr/>
        </p:nvSpPr>
        <p:spPr>
          <a:xfrm>
            <a:off x="3590957" y="5631956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 [H. sapiens][CHD1L]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D168B8-08B1-F533-7A81-96D13D2A7D21}"/>
              </a:ext>
            </a:extLst>
          </p:cNvPr>
          <p:cNvSpPr/>
          <p:nvPr/>
        </p:nvSpPr>
        <p:spPr>
          <a:xfrm>
            <a:off x="3540154" y="5607169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75E2953-C92B-DD97-A158-9DF0CD353A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3804" y="405443"/>
            <a:ext cx="5171306" cy="433908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39BDB83-65E6-2783-6790-F079ABBA6765}"/>
              </a:ext>
            </a:extLst>
          </p:cNvPr>
          <p:cNvSpPr txBox="1"/>
          <p:nvPr/>
        </p:nvSpPr>
        <p:spPr>
          <a:xfrm>
            <a:off x="9394672" y="4054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F31115-57CE-131C-E179-A1A88D21C6CF}"/>
              </a:ext>
            </a:extLst>
          </p:cNvPr>
          <p:cNvSpPr txBox="1"/>
          <p:nvPr/>
        </p:nvSpPr>
        <p:spPr>
          <a:xfrm>
            <a:off x="3590958" y="4961302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unreviewed, uncharacterised protein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660C3D-F7A9-893E-EC26-9CCE55758F5A}"/>
              </a:ext>
            </a:extLst>
          </p:cNvPr>
          <p:cNvSpPr txBox="1"/>
          <p:nvPr/>
        </p:nvSpPr>
        <p:spPr>
          <a:xfrm>
            <a:off x="3590957" y="5163595"/>
            <a:ext cx="5114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strong sequence homology to ATP-, DEAD-box helicases in other bacterial species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079CE4-C678-786D-0CDC-049477D09BDE}"/>
              </a:ext>
            </a:extLst>
          </p:cNvPr>
          <p:cNvSpPr txBox="1"/>
          <p:nvPr/>
        </p:nvSpPr>
        <p:spPr>
          <a:xfrm>
            <a:off x="3540154" y="5866698"/>
            <a:ext cx="5419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AE85AE-0BD2-4E2B-1374-B9EFE1F4405A}"/>
              </a:ext>
            </a:extLst>
          </p:cNvPr>
          <p:cNvSpPr txBox="1"/>
          <p:nvPr/>
        </p:nvSpPr>
        <p:spPr>
          <a:xfrm>
            <a:off x="3533804" y="6045500"/>
            <a:ext cx="5164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F0C6DF-D3A6-61BC-BB2C-1774F8E9A11E}"/>
              </a:ext>
            </a:extLst>
          </p:cNvPr>
          <p:cNvSpPr txBox="1"/>
          <p:nvPr/>
        </p:nvSpPr>
        <p:spPr>
          <a:xfrm>
            <a:off x="9349399" y="30917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30EE701-DBFE-C350-4142-4C6967DA8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997062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-34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1.47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636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092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6E2D1-0D4A-B807-37A6-B425C90F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29B9206-4383-222B-653B-DC4D92132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809" y="2574759"/>
            <a:ext cx="3052737" cy="28761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8B2DC9-11AE-F408-0C77-180D3EB66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809" y="114300"/>
            <a:ext cx="3059385" cy="246045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871C24D-B23D-320B-B22A-0340DC5A592B}"/>
              </a:ext>
            </a:extLst>
          </p:cNvPr>
          <p:cNvSpPr/>
          <p:nvPr/>
        </p:nvSpPr>
        <p:spPr>
          <a:xfrm>
            <a:off x="3540154" y="4749290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A039E2-639C-EAD7-307A-80C46BC23E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05AB22-9A15-EBA8-03D4-1BF07BEFEAE9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 [M. marinus]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A37E64-EE84-94FD-A9D3-80E019E35561}"/>
              </a:ext>
            </a:extLst>
          </p:cNvPr>
          <p:cNvSpPr txBox="1"/>
          <p:nvPr/>
        </p:nvSpPr>
        <p:spPr>
          <a:xfrm>
            <a:off x="3590957" y="5631956"/>
            <a:ext cx="51053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 [H. sapiens][CHD1L]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E202E3-E150-136F-F1F5-3311AE3B76E9}"/>
              </a:ext>
            </a:extLst>
          </p:cNvPr>
          <p:cNvSpPr/>
          <p:nvPr/>
        </p:nvSpPr>
        <p:spPr>
          <a:xfrm>
            <a:off x="3540154" y="5607169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485D5-FDEF-1950-B818-54F2A6BA3422}"/>
              </a:ext>
            </a:extLst>
          </p:cNvPr>
          <p:cNvSpPr txBox="1"/>
          <p:nvPr/>
        </p:nvSpPr>
        <p:spPr>
          <a:xfrm>
            <a:off x="9394672" y="10699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EB2AB1-34C8-D7A6-26BF-BDA6D9204579}"/>
              </a:ext>
            </a:extLst>
          </p:cNvPr>
          <p:cNvSpPr txBox="1"/>
          <p:nvPr/>
        </p:nvSpPr>
        <p:spPr>
          <a:xfrm>
            <a:off x="3590958" y="4961302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DEAD-box helicase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E73559-04E4-E01C-A736-A77CC7596E70}"/>
              </a:ext>
            </a:extLst>
          </p:cNvPr>
          <p:cNvSpPr txBox="1"/>
          <p:nvPr/>
        </p:nvSpPr>
        <p:spPr>
          <a:xfrm>
            <a:off x="3540154" y="5866698"/>
            <a:ext cx="5419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BBC020-7E96-8989-33C6-C4AF9DA1F6EA}"/>
              </a:ext>
            </a:extLst>
          </p:cNvPr>
          <p:cNvSpPr txBox="1"/>
          <p:nvPr/>
        </p:nvSpPr>
        <p:spPr>
          <a:xfrm>
            <a:off x="3533804" y="6045500"/>
            <a:ext cx="5164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CE26BE-A28E-E0F5-A0D4-425D853F513A}"/>
              </a:ext>
            </a:extLst>
          </p:cNvPr>
          <p:cNvSpPr txBox="1"/>
          <p:nvPr/>
        </p:nvSpPr>
        <p:spPr>
          <a:xfrm>
            <a:off x="9394672" y="251503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0253E48-B34A-09B0-01E1-6EA8AD444D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456144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2.21e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-27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1.56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623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32D3732-7C80-A3ED-8783-56C29CB229EA}"/>
              </a:ext>
            </a:extLst>
          </p:cNvPr>
          <p:cNvSpPr/>
          <p:nvPr/>
        </p:nvSpPr>
        <p:spPr>
          <a:xfrm>
            <a:off x="2176780" y="2515033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418ABC-1873-F644-A689-9C5929950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3804" y="114300"/>
            <a:ext cx="5168872" cy="4630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984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671E-77B7-F256-D8E0-29A815F6B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B619D5C-1957-C731-D7C7-99ABC25BBDD9}"/>
              </a:ext>
            </a:extLst>
          </p:cNvPr>
          <p:cNvSpPr/>
          <p:nvPr/>
        </p:nvSpPr>
        <p:spPr>
          <a:xfrm>
            <a:off x="8711460" y="2785987"/>
            <a:ext cx="3059085" cy="2627976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7E53FD-3B6C-6871-B74A-A418007335B0}"/>
              </a:ext>
            </a:extLst>
          </p:cNvPr>
          <p:cNvSpPr/>
          <p:nvPr/>
        </p:nvSpPr>
        <p:spPr>
          <a:xfrm>
            <a:off x="3540154" y="3920615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5E9BC3-B27B-50A7-2B8E-518F49C04C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03563C-B735-E51A-9135-7D8AC3FF4A91}"/>
              </a:ext>
            </a:extLst>
          </p:cNvPr>
          <p:cNvSpPr txBox="1"/>
          <p:nvPr/>
        </p:nvSpPr>
        <p:spPr>
          <a:xfrm>
            <a:off x="3590957" y="3915852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 [J. tructae]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85717-71A8-DF47-108D-FECB7FD44CBE}"/>
              </a:ext>
            </a:extLst>
          </p:cNvPr>
          <p:cNvSpPr txBox="1"/>
          <p:nvPr/>
        </p:nvSpPr>
        <p:spPr>
          <a:xfrm>
            <a:off x="3590957" y="4803281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 [H. sapiens][unreviewed]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31D19A-B186-ACCF-8683-7BF670FA72DE}"/>
              </a:ext>
            </a:extLst>
          </p:cNvPr>
          <p:cNvSpPr/>
          <p:nvPr/>
        </p:nvSpPr>
        <p:spPr>
          <a:xfrm>
            <a:off x="3540154" y="4778494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AD6309-34D2-B8B0-1F99-86FF5CCF905F}"/>
              </a:ext>
            </a:extLst>
          </p:cNvPr>
          <p:cNvSpPr txBox="1"/>
          <p:nvPr/>
        </p:nvSpPr>
        <p:spPr>
          <a:xfrm>
            <a:off x="3590958" y="4132627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ATP-dependent helicase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F166F2-7F85-9440-0E1B-2EA771FF7EC3}"/>
              </a:ext>
            </a:extLst>
          </p:cNvPr>
          <p:cNvSpPr txBox="1"/>
          <p:nvPr/>
        </p:nvSpPr>
        <p:spPr>
          <a:xfrm>
            <a:off x="3590957" y="4334920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unreviewed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A1A7CC-E4E2-A8C5-D520-FF73BF026379}"/>
              </a:ext>
            </a:extLst>
          </p:cNvPr>
          <p:cNvSpPr txBox="1"/>
          <p:nvPr/>
        </p:nvSpPr>
        <p:spPr>
          <a:xfrm>
            <a:off x="3540154" y="5038023"/>
            <a:ext cx="5419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"highly similar to Homo sapiens chromodomain helicase DNA binding protein 1-like (CHD1L)"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61DE8E-1729-9231-5374-ECB14D65D21B}"/>
              </a:ext>
            </a:extLst>
          </p:cNvPr>
          <p:cNvSpPr txBox="1"/>
          <p:nvPr/>
        </p:nvSpPr>
        <p:spPr>
          <a:xfrm>
            <a:off x="9349397" y="278598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03887FE4-41B4-23D7-5603-63D9A78446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920282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-13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1.17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267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207AB880-A85D-7983-736B-80F77854A0CA}"/>
              </a:ext>
            </a:extLst>
          </p:cNvPr>
          <p:cNvSpPr/>
          <p:nvPr/>
        </p:nvSpPr>
        <p:spPr>
          <a:xfrm>
            <a:off x="1405374" y="2750222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BDC0A7-B788-0015-0D36-BD5E1319F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372" y="559331"/>
            <a:ext cx="5162279" cy="33487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51AB855-A635-3FCC-D993-3997626F1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60" y="559331"/>
            <a:ext cx="3062834" cy="224512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753DB15-2FB2-36B0-929F-97BFB73CECF2}"/>
              </a:ext>
            </a:extLst>
          </p:cNvPr>
          <p:cNvSpPr txBox="1"/>
          <p:nvPr/>
        </p:nvSpPr>
        <p:spPr>
          <a:xfrm>
            <a:off x="9349398" y="559331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713C82C-7182-409C-E2EA-E67D63249E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7237" y="2783050"/>
            <a:ext cx="2069389" cy="259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187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51ED0-1BD3-612A-3F05-214A8251E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ECFF34D-EF51-9242-5410-5F51BAC36330}"/>
              </a:ext>
            </a:extLst>
          </p:cNvPr>
          <p:cNvSpPr/>
          <p:nvPr/>
        </p:nvSpPr>
        <p:spPr>
          <a:xfrm>
            <a:off x="8711459" y="405442"/>
            <a:ext cx="3059085" cy="2391754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0A8A3A6-B805-4754-949B-A2994CFE8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8902" y="405442"/>
            <a:ext cx="2823973" cy="238845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E82F74D-D5FE-D9CF-114A-0F5783339A1D}"/>
              </a:ext>
            </a:extLst>
          </p:cNvPr>
          <p:cNvSpPr/>
          <p:nvPr/>
        </p:nvSpPr>
        <p:spPr>
          <a:xfrm>
            <a:off x="8711460" y="2785987"/>
            <a:ext cx="3059085" cy="3163726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430691-1876-0115-553C-DEAE389813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305"/>
          <a:stretch>
            <a:fillRect/>
          </a:stretch>
        </p:blipFill>
        <p:spPr>
          <a:xfrm>
            <a:off x="8711460" y="2946791"/>
            <a:ext cx="2934109" cy="3002921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41B1F10-52DD-5E5F-D460-F043D31C0F78}"/>
              </a:ext>
            </a:extLst>
          </p:cNvPr>
          <p:cNvSpPr/>
          <p:nvPr/>
        </p:nvSpPr>
        <p:spPr>
          <a:xfrm>
            <a:off x="3540154" y="4246444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68F3E02-50E2-4E48-5A93-DD3F142E23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ADFB4A9-A4A6-B629-62D7-62E9C475DA37}"/>
              </a:ext>
            </a:extLst>
          </p:cNvPr>
          <p:cNvSpPr txBox="1"/>
          <p:nvPr/>
        </p:nvSpPr>
        <p:spPr>
          <a:xfrm>
            <a:off x="3590957" y="424168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 [A. baumannii]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FCCD0A-331F-9592-81A1-B2CD9EC98C5D}"/>
              </a:ext>
            </a:extLst>
          </p:cNvPr>
          <p:cNvSpPr txBox="1"/>
          <p:nvPr/>
        </p:nvSpPr>
        <p:spPr>
          <a:xfrm>
            <a:off x="3590957" y="512911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 [H. sapiens][BTAF1]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B6EA16-E711-D462-5868-A98DF44D0B86}"/>
              </a:ext>
            </a:extLst>
          </p:cNvPr>
          <p:cNvSpPr/>
          <p:nvPr/>
        </p:nvSpPr>
        <p:spPr>
          <a:xfrm>
            <a:off x="3540154" y="5104323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74FEC1-9620-3DF3-8DA7-9BC6B4D33573}"/>
              </a:ext>
            </a:extLst>
          </p:cNvPr>
          <p:cNvSpPr txBox="1"/>
          <p:nvPr/>
        </p:nvSpPr>
        <p:spPr>
          <a:xfrm>
            <a:off x="9394672" y="4054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18341F-9B09-FC1C-6A64-BA49AFDC9748}"/>
              </a:ext>
            </a:extLst>
          </p:cNvPr>
          <p:cNvSpPr txBox="1"/>
          <p:nvPr/>
        </p:nvSpPr>
        <p:spPr>
          <a:xfrm>
            <a:off x="3590958" y="4458456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DEAD box helicase protein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7B93A9-B52D-A44E-A92C-B459CD2D0E52}"/>
              </a:ext>
            </a:extLst>
          </p:cNvPr>
          <p:cNvSpPr txBox="1"/>
          <p:nvPr/>
        </p:nvSpPr>
        <p:spPr>
          <a:xfrm>
            <a:off x="3540154" y="5363852"/>
            <a:ext cx="5419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evidence of existence only at transcript level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3AAF28-D7C8-F5FC-0EF3-FE424467C035}"/>
              </a:ext>
            </a:extLst>
          </p:cNvPr>
          <p:cNvSpPr txBox="1"/>
          <p:nvPr/>
        </p:nvSpPr>
        <p:spPr>
          <a:xfrm>
            <a:off x="3533804" y="5542654"/>
            <a:ext cx="51649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predicted helicase, hydrolase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778E7F-25DD-FBA0-8782-FCD7A89D9B24}"/>
              </a:ext>
            </a:extLst>
          </p:cNvPr>
          <p:cNvSpPr txBox="1"/>
          <p:nvPr/>
        </p:nvSpPr>
        <p:spPr>
          <a:xfrm>
            <a:off x="9349399" y="30917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8843CC1-E262-28F7-FA80-61CA229212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874521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5.65e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-32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3.41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553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514B2D47-5432-F556-F3B5-30689A5B4CC6}"/>
              </a:ext>
            </a:extLst>
          </p:cNvPr>
          <p:cNvSpPr/>
          <p:nvPr/>
        </p:nvSpPr>
        <p:spPr>
          <a:xfrm>
            <a:off x="2438837" y="1401961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0F643-970A-26FF-175C-D976A558A2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154" y="405443"/>
            <a:ext cx="5171304" cy="3815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650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69E216-7F09-313F-5677-BFC8F3040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F58D43-2BF7-3E2C-D998-E51F09ABC191}"/>
              </a:ext>
            </a:extLst>
          </p:cNvPr>
          <p:cNvSpPr txBox="1"/>
          <p:nvPr/>
        </p:nvSpPr>
        <p:spPr>
          <a:xfrm>
            <a:off x="1047504" y="8897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Curating a positive control set of homologous bacterial-human protein pairs from high-impact literature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6B90585-0040-3FBD-8C49-2A58A5C3C1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471206"/>
              </p:ext>
            </p:extLst>
          </p:nvPr>
        </p:nvGraphicFramePr>
        <p:xfrm>
          <a:off x="1288804" y="3429000"/>
          <a:ext cx="3372096" cy="2255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2096">
                  <a:extLst>
                    <a:ext uri="{9D8B030D-6E8A-4147-A177-3AD203B41FA5}">
                      <a16:colId xmlns:a16="http://schemas.microsoft.com/office/drawing/2014/main" val="2740920184"/>
                    </a:ext>
                  </a:extLst>
                </a:gridCol>
              </a:tblGrid>
              <a:tr h="401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Experimental criteria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478066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provide protein accession for bacterial protein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14207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 in new organism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640798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perform functional assay proving bacterial immune system action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239055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4647ED3-0B8A-D494-D0B1-8E84549A81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9404553"/>
              </p:ext>
            </p:extLst>
          </p:nvPr>
        </p:nvGraphicFramePr>
        <p:xfrm>
          <a:off x="5606804" y="3429000"/>
          <a:ext cx="3372096" cy="1950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2096">
                  <a:extLst>
                    <a:ext uri="{9D8B030D-6E8A-4147-A177-3AD203B41FA5}">
                      <a16:colId xmlns:a16="http://schemas.microsoft.com/office/drawing/2014/main" val="2740920184"/>
                    </a:ext>
                  </a:extLst>
                </a:gridCol>
              </a:tblGrid>
              <a:tr h="401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Homology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criteria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478066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provide protein accession for human protein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14207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present convincing evidence of sequence or structure homology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38183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41688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D5AEA-25A4-23EF-061E-6033EBF9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63EFC-F093-3F28-A109-DC88635409FE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A6B9E2-84D2-B174-67D9-7AEE69C49D76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Positive control set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4FE8C64-B8A3-94B5-6509-02098D59E0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4926015"/>
              </p:ext>
            </p:extLst>
          </p:nvPr>
        </p:nvGraphicFramePr>
        <p:xfrm>
          <a:off x="1241192" y="2618867"/>
          <a:ext cx="5347208" cy="35953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0540">
                  <a:extLst>
                    <a:ext uri="{9D8B030D-6E8A-4147-A177-3AD203B41FA5}">
                      <a16:colId xmlns:a16="http://schemas.microsoft.com/office/drawing/2014/main" val="529853741"/>
                    </a:ext>
                  </a:extLst>
                </a:gridCol>
                <a:gridCol w="2130668">
                  <a:extLst>
                    <a:ext uri="{9D8B030D-6E8A-4147-A177-3AD203B41FA5}">
                      <a16:colId xmlns:a16="http://schemas.microsoft.com/office/drawing/2014/main" val="2430019957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749239967"/>
                    </a:ext>
                  </a:extLst>
                </a:gridCol>
              </a:tblGrid>
              <a:tr h="1403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PMID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Bacterial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Human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437008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866231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674829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FAM118B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0261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979640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36241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55400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80229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113074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71156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25769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67152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vip15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06058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vip21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15248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vip47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2477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3979791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739598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973095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4252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DA5EAAB-16B0-2623-CF1A-2B61D1BF787A}"/>
              </a:ext>
            </a:extLst>
          </p:cNvPr>
          <p:cNvSpPr txBox="1"/>
          <p:nvPr/>
        </p:nvSpPr>
        <p:spPr>
          <a:xfrm>
            <a:off x="1241192" y="1004062"/>
            <a:ext cx="4489704" cy="138499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Purpose: positive control for subsequence analysis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D7F113A-51DC-5CB6-7C05-0C559A2EC737}"/>
              </a:ext>
            </a:extLst>
          </p:cNvPr>
          <p:cNvCxnSpPr>
            <a:cxnSpLocks/>
          </p:cNvCxnSpPr>
          <p:nvPr/>
        </p:nvCxnSpPr>
        <p:spPr>
          <a:xfrm>
            <a:off x="6318504" y="1696559"/>
            <a:ext cx="0" cy="9223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24020F-D695-FDE0-F782-285CFA8CE4C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730896" y="1696560"/>
            <a:ext cx="5876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6E3BA6-4697-4E8A-416B-A332B9C216CB}"/>
              </a:ext>
            </a:extLst>
          </p:cNvPr>
          <p:cNvSpPr txBox="1"/>
          <p:nvPr/>
        </p:nvSpPr>
        <p:spPr>
          <a:xfrm>
            <a:off x="1232048" y="6222191"/>
            <a:ext cx="2670048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Total number: 18 pairs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97A16E8-B5E1-C5E3-E508-1CB08B5FBD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6931613" y="1587259"/>
            <a:ext cx="4559865" cy="445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586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4C07A-574B-C0FB-6B6A-352D625C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60892281-A612-FA53-E8FB-6D1DE9E9A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3998" y="518096"/>
            <a:ext cx="3055583" cy="32502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2532399-C48E-5C46-EC46-47F6748A9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3999" y="3696091"/>
            <a:ext cx="3074211" cy="239574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BA62F843-E61B-7533-0B3B-20DF2B843C81}"/>
              </a:ext>
            </a:extLst>
          </p:cNvPr>
          <p:cNvSpPr/>
          <p:nvPr/>
        </p:nvSpPr>
        <p:spPr>
          <a:xfrm>
            <a:off x="3540154" y="4447846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6C356E-3C31-A753-9CA0-CE0423EA7453}"/>
              </a:ext>
            </a:extLst>
          </p:cNvPr>
          <p:cNvSpPr txBox="1"/>
          <p:nvPr/>
        </p:nvSpPr>
        <p:spPr>
          <a:xfrm>
            <a:off x="3590957" y="4443083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A0A1S1YUU1 [F. pacifica][vip47]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9E3406-0236-89C5-A5D8-F2EB822D005F}"/>
              </a:ext>
            </a:extLst>
          </p:cNvPr>
          <p:cNvSpPr txBox="1"/>
          <p:nvPr/>
        </p:nvSpPr>
        <p:spPr>
          <a:xfrm>
            <a:off x="3590957" y="5330512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Q8WXG1 [H. sapiens][RSAD2]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4275AF-D0DD-991F-26B8-0CA14B4CAF09}"/>
              </a:ext>
            </a:extLst>
          </p:cNvPr>
          <p:cNvSpPr/>
          <p:nvPr/>
        </p:nvSpPr>
        <p:spPr>
          <a:xfrm>
            <a:off x="3540154" y="5305725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092BFEF-3670-7431-E825-C26F3EA5261D}"/>
              </a:ext>
            </a:extLst>
          </p:cNvPr>
          <p:cNvSpPr txBox="1"/>
          <p:nvPr/>
        </p:nvSpPr>
        <p:spPr>
          <a:xfrm>
            <a:off x="9394672" y="5959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A0A1S1YUU1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30B619-BE73-D220-2975-36983892F15D}"/>
              </a:ext>
            </a:extLst>
          </p:cNvPr>
          <p:cNvSpPr txBox="1"/>
          <p:nvPr/>
        </p:nvSpPr>
        <p:spPr>
          <a:xfrm>
            <a:off x="3590958" y="4659858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confers resistance to phage P1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048DEE-644A-8143-97BE-0B642B879A33}"/>
              </a:ext>
            </a:extLst>
          </p:cNvPr>
          <p:cNvSpPr txBox="1"/>
          <p:nvPr/>
        </p:nvSpPr>
        <p:spPr>
          <a:xfrm>
            <a:off x="3548781" y="5565254"/>
            <a:ext cx="4982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interferon-inducible antiviral protein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08E850-A266-DB59-3DA2-7F3E04AE9942}"/>
              </a:ext>
            </a:extLst>
          </p:cNvPr>
          <p:cNvSpPr txBox="1"/>
          <p:nvPr/>
        </p:nvSpPr>
        <p:spPr>
          <a:xfrm>
            <a:off x="3547827" y="5744056"/>
            <a:ext cx="5078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initiates pathway to repress RNA polymerase action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27DF3C-9EBD-A011-CBF6-171BEC3D3583}"/>
              </a:ext>
            </a:extLst>
          </p:cNvPr>
          <p:cNvSpPr txBox="1"/>
          <p:nvPr/>
        </p:nvSpPr>
        <p:spPr>
          <a:xfrm>
            <a:off x="9349399" y="37739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Q8WXG1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EDD823E7-66A5-82B0-2C1D-F9E57CC683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146353"/>
              </p:ext>
            </p:extLst>
          </p:nvPr>
        </p:nvGraphicFramePr>
        <p:xfrm>
          <a:off x="411929" y="382840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Vipirin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0.89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1423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[75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0C580C62-E4AB-4F46-7942-18AC8424A7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0849" r="8850"/>
          <a:stretch>
            <a:fillRect/>
          </a:stretch>
        </p:blipFill>
        <p:spPr>
          <a:xfrm>
            <a:off x="219800" y="483593"/>
            <a:ext cx="3011454" cy="29454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E0CA59B-CC7E-D170-4365-9D00A04D14C8}"/>
              </a:ext>
            </a:extLst>
          </p:cNvPr>
          <p:cNvSpPr/>
          <p:nvPr/>
        </p:nvSpPr>
        <p:spPr>
          <a:xfrm>
            <a:off x="723900" y="586752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E5CB3A-1BF6-F93D-2280-4A44891774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162" y="516376"/>
            <a:ext cx="5156163" cy="38865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B2F44B-8358-1567-FCC1-1319D17054EF}"/>
              </a:ext>
            </a:extLst>
          </p:cNvPr>
          <p:cNvSpPr txBox="1"/>
          <p:nvPr/>
        </p:nvSpPr>
        <p:spPr>
          <a:xfrm>
            <a:off x="3590957" y="4839476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represses T7 RNA-polymerase action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0603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85337-A1A9-09A2-FDE4-7696368E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B1769DC9-071C-942B-7241-1434998AF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360" y="3607360"/>
            <a:ext cx="3067478" cy="28663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50C085-A054-8291-7541-982601739D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0959" y="504772"/>
            <a:ext cx="3060280" cy="310664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12599B7-D838-FDFF-8B87-B69F97760476}"/>
              </a:ext>
            </a:extLst>
          </p:cNvPr>
          <p:cNvSpPr/>
          <p:nvPr/>
        </p:nvSpPr>
        <p:spPr>
          <a:xfrm>
            <a:off x="3540154" y="4761874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13B0A3-8D80-DC7F-37F6-BADD830D5CAB}"/>
              </a:ext>
            </a:extLst>
          </p:cNvPr>
          <p:cNvSpPr txBox="1"/>
          <p:nvPr/>
        </p:nvSpPr>
        <p:spPr>
          <a:xfrm>
            <a:off x="3590957" y="475711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Q6XGD5 [E. coli][cdnE]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05969E-BA91-1E8F-3740-1C4EBCE5EB28}"/>
              </a:ext>
            </a:extLst>
          </p:cNvPr>
          <p:cNvSpPr txBox="1"/>
          <p:nvPr/>
        </p:nvSpPr>
        <p:spPr>
          <a:xfrm>
            <a:off x="3590957" y="564454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Q8N884 [H. sapiens][CGAS]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63E170-939F-9687-F701-832A6C5E8A7E}"/>
              </a:ext>
            </a:extLst>
          </p:cNvPr>
          <p:cNvSpPr/>
          <p:nvPr/>
        </p:nvSpPr>
        <p:spPr>
          <a:xfrm>
            <a:off x="3540154" y="5619753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8A91DA-7491-BECE-5A94-ED7ED4100471}"/>
              </a:ext>
            </a:extLst>
          </p:cNvPr>
          <p:cNvSpPr txBox="1"/>
          <p:nvPr/>
        </p:nvSpPr>
        <p:spPr>
          <a:xfrm>
            <a:off x="9394672" y="568235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Q6XGD5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4F3F6C-FACB-BB70-E369-56D6801E91D9}"/>
              </a:ext>
            </a:extLst>
          </p:cNvPr>
          <p:cNvSpPr txBox="1"/>
          <p:nvPr/>
        </p:nvSpPr>
        <p:spPr>
          <a:xfrm>
            <a:off x="3590958" y="4973886"/>
            <a:ext cx="51078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Cyclic nucleotide synthase (second messenger synthesis) in CBASS system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FB4D5A-77F8-7F70-776B-9183BB442DE5}"/>
              </a:ext>
            </a:extLst>
          </p:cNvPr>
          <p:cNvSpPr txBox="1"/>
          <p:nvPr/>
        </p:nvSpPr>
        <p:spPr>
          <a:xfrm>
            <a:off x="3548781" y="5879282"/>
            <a:ext cx="4982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nucleotidyltransferase catalyzing formation of cyclic GMP-AMP; plays role in innate immunity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F06483-848C-7C5D-27F2-45278FA99187}"/>
              </a:ext>
            </a:extLst>
          </p:cNvPr>
          <p:cNvSpPr txBox="1"/>
          <p:nvPr/>
        </p:nvSpPr>
        <p:spPr>
          <a:xfrm>
            <a:off x="9375440" y="352099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Q8N884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B5E299E-F9C4-86A8-9515-04FA20C80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1089354"/>
              </p:ext>
            </p:extLst>
          </p:nvPr>
        </p:nvGraphicFramePr>
        <p:xfrm>
          <a:off x="411929" y="382840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CBASS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5.53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1385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[73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3D7881BF-EBA7-A1A0-8F19-0FD5880F2F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0849" r="8850"/>
          <a:stretch>
            <a:fillRect/>
          </a:stretch>
        </p:blipFill>
        <p:spPr>
          <a:xfrm>
            <a:off x="219800" y="483593"/>
            <a:ext cx="3011454" cy="2945407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5DBEF63E-33ED-8D98-5B30-F4F5C5956DEA}"/>
              </a:ext>
            </a:extLst>
          </p:cNvPr>
          <p:cNvSpPr/>
          <p:nvPr/>
        </p:nvSpPr>
        <p:spPr>
          <a:xfrm>
            <a:off x="1860550" y="759356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E56A6B-1F75-72CB-CF5D-77E89748A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154" y="505185"/>
            <a:ext cx="5173131" cy="423597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15541B2-51F2-28FA-A2E0-CE5A70B2B1C1}"/>
              </a:ext>
            </a:extLst>
          </p:cNvPr>
          <p:cNvSpPr txBox="1"/>
          <p:nvPr/>
        </p:nvSpPr>
        <p:spPr>
          <a:xfrm>
            <a:off x="8769613" y="6248589"/>
            <a:ext cx="179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Courier New" panose="02070309020205020404" pitchFamily="49" charset="0"/>
                <a:cs typeface="Courier New" panose="02070309020205020404" pitchFamily="49" charset="0"/>
              </a:rPr>
              <a:t>X-ray cryst. [PDB]</a:t>
            </a:r>
            <a:endParaRPr lang="en-CA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3181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52B96-FB69-526B-80F1-486BE5154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A7EA34A-389B-294B-1509-395D7C8036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61" r="6923"/>
          <a:stretch>
            <a:fillRect/>
          </a:stretch>
        </p:blipFill>
        <p:spPr>
          <a:xfrm>
            <a:off x="9396646" y="522917"/>
            <a:ext cx="2216709" cy="420848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8002850-0030-6EF1-A0D7-7E47C33C2A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05" r="7569"/>
          <a:stretch>
            <a:fillRect/>
          </a:stretch>
        </p:blipFill>
        <p:spPr>
          <a:xfrm>
            <a:off x="6764284" y="522917"/>
            <a:ext cx="2632363" cy="420848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527B76DD-E0D2-F564-E423-3A77E5A1E798}"/>
              </a:ext>
            </a:extLst>
          </p:cNvPr>
          <p:cNvSpPr/>
          <p:nvPr/>
        </p:nvSpPr>
        <p:spPr>
          <a:xfrm>
            <a:off x="3540154" y="4761874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1D4D55-792F-E6CB-7F48-9704C1D9C701}"/>
              </a:ext>
            </a:extLst>
          </p:cNvPr>
          <p:cNvSpPr txBox="1"/>
          <p:nvPr/>
        </p:nvSpPr>
        <p:spPr>
          <a:xfrm>
            <a:off x="3590957" y="475711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J8G6Z1 [B. cereus][thsA]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300AA5-4C4C-00DF-4E9A-AAF9B5650E0D}"/>
              </a:ext>
            </a:extLst>
          </p:cNvPr>
          <p:cNvSpPr txBox="1"/>
          <p:nvPr/>
        </p:nvSpPr>
        <p:spPr>
          <a:xfrm>
            <a:off x="3590957" y="564454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Q9BPY3 [H. sapiens][FAM118B]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E8BE26-53CA-8612-2BF2-34D7549440C7}"/>
              </a:ext>
            </a:extLst>
          </p:cNvPr>
          <p:cNvSpPr/>
          <p:nvPr/>
        </p:nvSpPr>
        <p:spPr>
          <a:xfrm>
            <a:off x="3540154" y="5619753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15CA2F-4F07-6703-1917-EF06DBBCDC7C}"/>
              </a:ext>
            </a:extLst>
          </p:cNvPr>
          <p:cNvSpPr txBox="1"/>
          <p:nvPr/>
        </p:nvSpPr>
        <p:spPr>
          <a:xfrm>
            <a:off x="6869891" y="526109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J8G6Z1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696AAF-EF99-A7A2-3A32-7483C0EF0E63}"/>
              </a:ext>
            </a:extLst>
          </p:cNvPr>
          <p:cNvSpPr txBox="1"/>
          <p:nvPr/>
        </p:nvSpPr>
        <p:spPr>
          <a:xfrm>
            <a:off x="3590958" y="4973886"/>
            <a:ext cx="51078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NAD+ hydrolyzing component (NADase) of Thoeris antiviral defense system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9CF23C-ACC0-0A61-1F9A-D137D7927C64}"/>
              </a:ext>
            </a:extLst>
          </p:cNvPr>
          <p:cNvSpPr txBox="1"/>
          <p:nvPr/>
        </p:nvSpPr>
        <p:spPr>
          <a:xfrm>
            <a:off x="3548781" y="5879282"/>
            <a:ext cx="4982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Cajal body regulation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7BDDA1-243D-C75E-752F-BCD63BCB3EF9}"/>
              </a:ext>
            </a:extLst>
          </p:cNvPr>
          <p:cNvSpPr txBox="1"/>
          <p:nvPr/>
        </p:nvSpPr>
        <p:spPr>
          <a:xfrm>
            <a:off x="9192208" y="517361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Q9BPY3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7BD3758-FFC0-88EE-19AE-21535738F4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7545053"/>
              </p:ext>
            </p:extLst>
          </p:nvPr>
        </p:nvGraphicFramePr>
        <p:xfrm>
          <a:off x="411929" y="382840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SIR2 antiphage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3.88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1252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[66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9AF6A182-4FF9-CFAE-0BC9-E814B90DA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0849" r="8850"/>
          <a:stretch>
            <a:fillRect/>
          </a:stretch>
        </p:blipFill>
        <p:spPr>
          <a:xfrm>
            <a:off x="219800" y="483593"/>
            <a:ext cx="3011454" cy="2945407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07B46E29-E8BA-FD3A-1927-3AADE4609CA7}"/>
              </a:ext>
            </a:extLst>
          </p:cNvPr>
          <p:cNvSpPr/>
          <p:nvPr/>
        </p:nvSpPr>
        <p:spPr>
          <a:xfrm>
            <a:off x="1454150" y="1024261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E9BAA3-133D-6128-ADED-040408343B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154" y="522917"/>
            <a:ext cx="3224130" cy="4208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9178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520</TotalTime>
  <Words>853</Words>
  <Application>Microsoft Office PowerPoint</Application>
  <PresentationFormat>Widescreen</PresentationFormat>
  <Paragraphs>220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95</cp:revision>
  <dcterms:created xsi:type="dcterms:W3CDTF">2026-04-01T17:28:23Z</dcterms:created>
  <dcterms:modified xsi:type="dcterms:W3CDTF">2026-04-08T21:29:31Z</dcterms:modified>
</cp:coreProperties>
</file>