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78" r:id="rId12"/>
    <p:sldId id="267" r:id="rId13"/>
    <p:sldId id="276" r:id="rId14"/>
    <p:sldId id="279" r:id="rId15"/>
    <p:sldId id="28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26E"/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915" autoAdjust="0"/>
  </p:normalViewPr>
  <p:slideViewPr>
    <p:cSldViewPr snapToGrid="0">
      <p:cViewPr>
        <p:scale>
          <a:sx n="100" d="100"/>
          <a:sy n="100" d="100"/>
        </p:scale>
        <p:origin x="9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A1410C-3E75-3DA4-B14E-C13268097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372D3B-10A7-BA1C-E1C1-2FF420E6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76405" y="405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E2953-C92B-DD97-A158-9DF0CD353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11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99706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9B9206-4383-222B-653B-DC4D92132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809" y="2574759"/>
            <a:ext cx="3052737" cy="287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B2DC9-11AE-F408-0C77-180D3EB66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09" y="114300"/>
            <a:ext cx="3059385" cy="24604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 [M. marinus]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9394672" y="106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4" y="5866698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9394672" y="251503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456144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176780" y="2515033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18ABC-1873-F644-A689-9C5929950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114300"/>
            <a:ext cx="5168872" cy="463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619D5C-1957-C731-D7C7-99ABC25BBDD9}"/>
              </a:ext>
            </a:extLst>
          </p:cNvPr>
          <p:cNvSpPr/>
          <p:nvPr/>
        </p:nvSpPr>
        <p:spPr>
          <a:xfrm>
            <a:off x="8711460" y="2785987"/>
            <a:ext cx="3059085" cy="262797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4" y="3920615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39158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 [J. tructae]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48032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4" y="4778494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1326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3349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4" y="5038023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9349397" y="278598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028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DC0A7-B788-0015-0D36-BD5E1319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72" y="559331"/>
            <a:ext cx="5162279" cy="3348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AB855-A635-3FCC-D993-3997626F1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60" y="559331"/>
            <a:ext cx="3062834" cy="224512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9349398" y="55933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3C82C-7182-409C-E2EA-E67D63249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7237" y="2783050"/>
            <a:ext cx="2069389" cy="259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CFF34D-EF51-9242-5410-5F51BAC36330}"/>
              </a:ext>
            </a:extLst>
          </p:cNvPr>
          <p:cNvSpPr/>
          <p:nvPr/>
        </p:nvSpPr>
        <p:spPr>
          <a:xfrm>
            <a:off x="8711459" y="405442"/>
            <a:ext cx="3059085" cy="239175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A8A3A6-B805-4754-949B-A2994CFE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02" y="405442"/>
            <a:ext cx="2823973" cy="23884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E82F74D-D5FE-D9CF-114A-0F5783339A1D}"/>
              </a:ext>
            </a:extLst>
          </p:cNvPr>
          <p:cNvSpPr/>
          <p:nvPr/>
        </p:nvSpPr>
        <p:spPr>
          <a:xfrm>
            <a:off x="8711460" y="2785987"/>
            <a:ext cx="3059085" cy="316372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430691-1876-0115-553C-DEAE38981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05"/>
          <a:stretch>
            <a:fillRect/>
          </a:stretch>
        </p:blipFill>
        <p:spPr>
          <a:xfrm>
            <a:off x="8711460" y="2946791"/>
            <a:ext cx="2934109" cy="300292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4" y="510432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874521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38837" y="1401961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0F643-970A-26FF-175C-D976A558A2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405443"/>
            <a:ext cx="5171304" cy="381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Procuring a gold-standard list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60892281-A612-FA53-E8FB-6D1DE9E9A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3998" y="518096"/>
            <a:ext cx="3055583" cy="32502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532399-C48E-5C46-EC46-47F6748A9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3999" y="3696091"/>
            <a:ext cx="3074211" cy="239574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9394672" y="5959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9349399" y="37739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146353"/>
              </p:ext>
            </p:extLst>
          </p:nvPr>
        </p:nvGraphicFramePr>
        <p:xfrm>
          <a:off x="411929" y="382840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723900" y="586752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E5CB3A-1BF6-F93D-2280-4A44891774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62" y="516376"/>
            <a:ext cx="5156163" cy="38865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5337-A1A9-09A2-FDE4-7696368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1769DC9-071C-942B-7241-1434998AF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360" y="3607360"/>
            <a:ext cx="3067478" cy="28663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50C085-A054-8291-7541-982601739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959" y="504772"/>
            <a:ext cx="3060280" cy="310664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12599B7-D838-FDFF-8B87-B69F97760476}"/>
              </a:ext>
            </a:extLst>
          </p:cNvPr>
          <p:cNvSpPr/>
          <p:nvPr/>
        </p:nvSpPr>
        <p:spPr>
          <a:xfrm>
            <a:off x="3540154" y="476187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3B0A3-8D80-DC7F-37F6-BADD830D5CAB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 [E. coli][cdnE]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05969E-BA91-1E8F-3740-1C4EBCE5EB28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 [H. sapiens][CGAS]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3E170-939F-9687-F701-832A6C5E8A7E}"/>
              </a:ext>
            </a:extLst>
          </p:cNvPr>
          <p:cNvSpPr/>
          <p:nvPr/>
        </p:nvSpPr>
        <p:spPr>
          <a:xfrm>
            <a:off x="3540154" y="561975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8A91DA-7491-BECE-5A94-ED7ED4100471}"/>
              </a:ext>
            </a:extLst>
          </p:cNvPr>
          <p:cNvSpPr txBox="1"/>
          <p:nvPr/>
        </p:nvSpPr>
        <p:spPr>
          <a:xfrm>
            <a:off x="9394672" y="568235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F3F6C-FACB-BB70-E369-56D6801E91D9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Cyclic nucleotide synthase (second messenger synthesis) in CBASS system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B4D5A-77F8-7F70-776B-9183BB442DE5}"/>
              </a:ext>
            </a:extLst>
          </p:cNvPr>
          <p:cNvSpPr txBox="1"/>
          <p:nvPr/>
        </p:nvSpPr>
        <p:spPr>
          <a:xfrm>
            <a:off x="3548781" y="5879282"/>
            <a:ext cx="498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nucleotidyltransferase catalyzing formation of cyclic GMP-AMP; plays role in innate immunity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F06483-848C-7C5D-27F2-45278FA99187}"/>
              </a:ext>
            </a:extLst>
          </p:cNvPr>
          <p:cNvSpPr txBox="1"/>
          <p:nvPr/>
        </p:nvSpPr>
        <p:spPr>
          <a:xfrm>
            <a:off x="9375440" y="3520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B5E299E-F9C4-86A8-9515-04FA20C80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089354"/>
              </p:ext>
            </p:extLst>
          </p:nvPr>
        </p:nvGraphicFramePr>
        <p:xfrm>
          <a:off x="411929" y="382840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CBASS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5.53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1385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[73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D7881BF-EBA7-A1A0-8F19-0FD5880F2F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DBEF63E-33ED-8D98-5B30-F4F5C5956DEA}"/>
              </a:ext>
            </a:extLst>
          </p:cNvPr>
          <p:cNvSpPr/>
          <p:nvPr/>
        </p:nvSpPr>
        <p:spPr>
          <a:xfrm>
            <a:off x="1860550" y="759356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E56A6B-1F75-72CB-CF5D-77E89748A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505185"/>
            <a:ext cx="5173131" cy="423597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15541B2-51F2-28FA-A2E0-CE5A70B2B1C1}"/>
              </a:ext>
            </a:extLst>
          </p:cNvPr>
          <p:cNvSpPr txBox="1"/>
          <p:nvPr/>
        </p:nvSpPr>
        <p:spPr>
          <a:xfrm>
            <a:off x="8769613" y="6248589"/>
            <a:ext cx="179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X-ray cryst. [PDB]</a:t>
            </a:r>
            <a:endParaRPr lang="en-CA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318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52B96-FB69-526B-80F1-486BE51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A7EA34A-389B-294B-1509-395D7C8036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61" r="6923"/>
          <a:stretch>
            <a:fillRect/>
          </a:stretch>
        </p:blipFill>
        <p:spPr>
          <a:xfrm>
            <a:off x="9396646" y="522917"/>
            <a:ext cx="2216709" cy="42084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002850-0030-6EF1-A0D7-7E47C33C2A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05" r="7569"/>
          <a:stretch>
            <a:fillRect/>
          </a:stretch>
        </p:blipFill>
        <p:spPr>
          <a:xfrm>
            <a:off x="6764284" y="522917"/>
            <a:ext cx="2632363" cy="420848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27B76DD-E0D2-F564-E423-3A77E5A1E798}"/>
              </a:ext>
            </a:extLst>
          </p:cNvPr>
          <p:cNvSpPr/>
          <p:nvPr/>
        </p:nvSpPr>
        <p:spPr>
          <a:xfrm>
            <a:off x="3540154" y="476187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D4D55-792F-E6CB-7F48-9704C1D9C701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 [B. cereus][thsA]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00AA5-4C4C-00DF-4E9A-AAF9B5650E0D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 [H. sapiens][FAM118B]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BE26-53CA-8612-2BF2-34D7549440C7}"/>
              </a:ext>
            </a:extLst>
          </p:cNvPr>
          <p:cNvSpPr/>
          <p:nvPr/>
        </p:nvSpPr>
        <p:spPr>
          <a:xfrm>
            <a:off x="3540154" y="561975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15CA2F-4F07-6703-1917-EF06DBBCDC7C}"/>
              </a:ext>
            </a:extLst>
          </p:cNvPr>
          <p:cNvSpPr txBox="1"/>
          <p:nvPr/>
        </p:nvSpPr>
        <p:spPr>
          <a:xfrm>
            <a:off x="6869891" y="526109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96AAF-EF99-A7A2-3A32-7483C0EF0E63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NAD+ hydrolyzing component (NADase) of Thoeris antiviral defense system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CF23C-ACC0-0A61-1F9A-D137D7927C64}"/>
              </a:ext>
            </a:extLst>
          </p:cNvPr>
          <p:cNvSpPr txBox="1"/>
          <p:nvPr/>
        </p:nvSpPr>
        <p:spPr>
          <a:xfrm>
            <a:off x="3548781" y="5879282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Cajal body regulation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7BDDA1-243D-C75E-752F-BCD63BCB3EF9}"/>
              </a:ext>
            </a:extLst>
          </p:cNvPr>
          <p:cNvSpPr txBox="1"/>
          <p:nvPr/>
        </p:nvSpPr>
        <p:spPr>
          <a:xfrm>
            <a:off x="9192208" y="51736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7BD3758-FFC0-88EE-19AE-21535738F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545053"/>
              </p:ext>
            </p:extLst>
          </p:nvPr>
        </p:nvGraphicFramePr>
        <p:xfrm>
          <a:off x="411929" y="382840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SIR2 antiphage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3.88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1252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[66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AF6A182-4FF9-CFAE-0BC9-E814B90DA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7B46E29-E8BA-FD3A-1927-3AADE4609CA7}"/>
              </a:ext>
            </a:extLst>
          </p:cNvPr>
          <p:cNvSpPr/>
          <p:nvPr/>
        </p:nvSpPr>
        <p:spPr>
          <a:xfrm>
            <a:off x="1454150" y="1024261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E9BAA3-133D-6128-ADED-040408343B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522917"/>
            <a:ext cx="3224130" cy="420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17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852</Words>
  <Application>Microsoft Office PowerPoint</Application>
  <PresentationFormat>Widescreen</PresentationFormat>
  <Paragraphs>220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92</cp:revision>
  <dcterms:created xsi:type="dcterms:W3CDTF">2026-04-01T17:28:23Z</dcterms:created>
  <dcterms:modified xsi:type="dcterms:W3CDTF">2026-04-08T19:28:14Z</dcterms:modified>
</cp:coreProperties>
</file>