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6" r:id="rId3"/>
    <p:sldId id="272" r:id="rId4"/>
    <p:sldId id="257" r:id="rId5"/>
    <p:sldId id="269" r:id="rId6"/>
    <p:sldId id="270" r:id="rId7"/>
    <p:sldId id="271" r:id="rId8"/>
    <p:sldId id="275" r:id="rId9"/>
    <p:sldId id="274" r:id="rId10"/>
    <p:sldId id="277" r:id="rId11"/>
    <p:sldId id="278" r:id="rId12"/>
    <p:sldId id="267" r:id="rId13"/>
    <p:sldId id="276" r:id="rId14"/>
    <p:sldId id="279" r:id="rId15"/>
    <p:sldId id="28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26E"/>
    <a:srgbClr val="0162B3"/>
    <a:srgbClr val="EEEEEE"/>
    <a:srgbClr val="0000FF"/>
    <a:srgbClr val="0000A5"/>
    <a:srgbClr val="3838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915" autoAdjust="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C651-C459-48E3-86F1-CED449A3498B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8BC55-598C-4AA3-BC46-22AAD297F91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0225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 list is for C Marshall</a:t>
            </a:r>
          </a:p>
          <a:p>
            <a:r>
              <a:rPr lang="en-US" dirty="0"/>
              <a:t>Used for improving diagnostic yield</a:t>
            </a:r>
            <a:r>
              <a:rPr lang="en-CA" dirty="0"/>
              <a:t> for pre-existing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8BC55-598C-4AA3-BC46-22AAD297F918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6718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03405-564D-8412-3665-E5640462C0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CBA71-D5D7-C119-3618-4A51E1C2A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D0E559-1F0D-BC59-C157-DC6771C4F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1C5E0-9EB8-B455-3207-E757D7623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39DD1-6F3F-C7D6-9102-96DB688A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115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B27BD-1999-C1B6-43C4-A0ED3C65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ACCF1-C96B-5345-42FF-AFBC0216C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B1BF3-E848-E712-FBF5-90F5D4F51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CE954-7A6B-E876-D777-8551470D2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B99DB-26F4-47EA-167E-F887E6F1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1078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82263-9485-7531-6204-5B504D115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F5757A-BD5A-3274-5E51-DF0992B3A7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8C0FA-9820-9A02-D4F7-C5BEFC0F1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944C-9E72-F178-61A8-B3B32D016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73EB2-5575-7CA3-2906-852384A98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8004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6183D-B811-8FE1-796C-9E19EEC5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49DE7D-E336-2569-26DF-60A6E975CB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FA97DD-92A9-8A7C-42AF-8E4655A0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32366-F14A-D59F-F448-7E6E8F461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7E665C-8D9D-6118-D3CB-C77984F0CA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53875-7EE2-A044-5DE9-D639E9CE1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9382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357C4-D061-F1AA-F34E-C95B2B161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ABB81-94A5-7725-7A84-4BE3C4D4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1C367-EDD3-48F5-4BD0-69A189A65F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6F6FF0-2520-A342-8D8F-CFC6CCFFA7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DD147F-B577-83ED-7213-2E21625121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E1680C-BF13-9377-04BE-779A1633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8369D0-A215-17DF-BC24-E6FDA688E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A22B1-B2A0-B603-063C-962D7DA91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2707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6E1A2-6AEC-6EC0-D9F1-64A3BF00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1E5A-A540-6668-6364-1ED5129F1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51332B-9BD2-9800-738D-47EE1B184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DACAFA-1FC1-CE5D-95C9-6EE67E646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97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84D1BB-83D8-7065-8EF2-1BD0EBC0C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EB910E-77CF-2E20-951E-48D9E594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41D1-1312-EFDB-F5BD-54068F3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998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3785-CE7A-391D-6042-D7DD319FD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C71C-D4D6-A938-814A-5608D2FCA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5B67C7-379A-C028-EF7E-3A4EBDD455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C7590-E23A-C56B-C563-8FB230CA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FD81E-05B1-090E-30FE-AD2F2844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FD7BF-74EC-9EAC-6035-7CB6C5C9D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37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89CF0-E867-F66A-554A-4175E61CD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21B9F-8790-FE9E-1CBC-97F6D6FFE5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C898A-CA48-F0C2-DF2F-CDC1582A4A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03A8B-B949-FCCB-30D4-13E59756B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36B81-D8C2-D68C-BC67-22BFC81A2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33F87-5A19-199E-41DD-D12492542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7947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87FDC-C24F-6FBE-85CE-E5780EFF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3A7BBC-AAAF-50CE-E378-2742E493A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0D55-75DE-0378-FF52-F1F35071E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AB4349-3822-9C30-7178-ABC2AE1D6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45E82-6A5A-606D-9886-E78FD8BFD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17535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BF2F1-10E6-F239-7124-6FB2A68222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7D1B9B-BA41-2E31-0A65-BA2046C70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9F3A0-A1AA-A5EA-A75B-3FC8C9FF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22D23-1C74-19E9-7400-80A3212F2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BAC07-68D7-C4E8-7720-CEEC0DDA2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826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23011-03CD-D038-03E2-6F0046981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47321A-5ED3-8B2F-C2A4-5AB4842DE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69918-9403-F470-7715-81F6D019B6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EFF56-2492-48E5-B1E7-E04EEB44BBAA}" type="datetimeFigureOut">
              <a:rPr lang="en-CA" smtClean="0"/>
              <a:t>2026-04-08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3B7D37-5892-ACB9-EA22-DD18A55B2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CAD6B-87BB-065D-BB5A-751EF84F6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FA860-28F0-477C-BD76-C96AC22CF61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0357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8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F4AC242-29D2-C020-AC7C-B4E54B89D36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4AEFAB5-6682-B0B6-851C-6C6486FC1B55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FA40D477-A24B-CC6F-FA51-F4CD40A03F52}"/>
              </a:ext>
            </a:extLst>
          </p:cNvPr>
          <p:cNvSpPr txBox="1"/>
          <p:nvPr/>
        </p:nvSpPr>
        <p:spPr>
          <a:xfrm>
            <a:off x="5198295" y="3577498"/>
            <a:ext cx="6616011" cy="100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 dirty="0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3000" dirty="0">
                <a:solidFill>
                  <a:schemeClr val="bg1"/>
                </a:solidFill>
                <a:latin typeface="Georgia Pro" panose="02040502050405020303" pitchFamily="18" charset="0"/>
                <a:cs typeface="Courier New" panose="02070309020205020404" pitchFamily="49" charset="0"/>
              </a:rPr>
              <a:t>IEI project: update 2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58A8BC8-CEBE-709C-2D19-85B5B4417DE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2026-04-10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46F31A-9D9C-32B6-F7EB-EC2699748B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08C6D2-6225-C609-D6F3-280D4FC70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823FCA6-53C2-3223-2608-69AA79519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5463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16FCF-965B-417B-9C48-C3F0A918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BF9B7D-37C6-6302-B1AA-10313FFB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2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9C2CBF-E878-53C7-4EA1-4823EE37C388}"/>
              </a:ext>
            </a:extLst>
          </p:cNvPr>
          <p:cNvSpPr txBox="1"/>
          <p:nvPr/>
        </p:nvSpPr>
        <p:spPr>
          <a:xfrm>
            <a:off x="838200" y="1401147"/>
            <a:ext cx="9272016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Automate pairwise structural alignment with PyMol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Manually curate positive control set of bacteria-human protein pairs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purpose: to serve as positive control in subsequent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  <a:endParaRPr lang="en-US" dirty="0">
              <a:latin typeface="Georgia Pro" panose="02040502050405020303" pitchFamily="18" charset="0"/>
            </a:endParaRP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Build a user interface for interactive analysis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target users: C Trost lab, J Moran, bacterial protein research community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</a:rPr>
              <a:t>features: structural alignment visualization, sequence alignment visualization, domain annotation overlay</a:t>
            </a:r>
          </a:p>
          <a:p>
            <a:pPr lvl="1">
              <a:spcAft>
                <a:spcPts val="600"/>
              </a:spcAft>
            </a:pPr>
            <a:endParaRPr lang="en-US" sz="1200" dirty="0">
              <a:latin typeface="Lucida Console" panose="020B0609040504020204" pitchFamily="49" charset="0"/>
            </a:endParaRP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>
                <a:latin typeface="Georgia Pro" panose="02040502050405020303" pitchFamily="18" charset="0"/>
              </a:rPr>
              <a:t>Get gene list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target users: C Marshall clinical research group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latin typeface="Lucida Console" panose="020B0609040504020204" pitchFamily="49" charset="0"/>
                <a:cs typeface="Courier New" panose="02070309020205020404" pitchFamily="49" charset="0"/>
              </a:rPr>
              <a:t>purpose: improve diagnostic yield for rare single-variant immune disease from genome sequencing</a:t>
            </a:r>
          </a:p>
          <a:p>
            <a:pPr lvl="1">
              <a:spcAft>
                <a:spcPts val="600"/>
              </a:spcAft>
            </a:pPr>
            <a:endParaRPr lang="en-US" dirty="0">
              <a:latin typeface="Georgia Pro" panose="02040502050405020303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1BA7778-ADAB-D7DC-51F1-3527DE2F3E77}"/>
              </a:ext>
            </a:extLst>
          </p:cNvPr>
          <p:cNvSpPr/>
          <p:nvPr/>
        </p:nvSpPr>
        <p:spPr>
          <a:xfrm>
            <a:off x="315257" y="267370"/>
            <a:ext cx="6204416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7E3C52-B774-3588-1211-3716B2FAB3B6}"/>
              </a:ext>
            </a:extLst>
          </p:cNvPr>
          <p:cNvSpPr txBox="1"/>
          <p:nvPr/>
        </p:nvSpPr>
        <p:spPr>
          <a:xfrm>
            <a:off x="527960" y="335519"/>
            <a:ext cx="577900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Review – next steps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34222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689DF-987B-2A7F-4626-B4E087943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292F4919-8567-DB6E-55ED-474C8E402F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001313-65AD-9DB7-0BD3-1EB7FF747852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A7A31-E022-1369-F8F6-D2ABFBE6FD69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4B163-8567-7BFB-C8D0-1B3990F811D6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509A3A-4238-29FE-0EE9-85349C94DDF6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26A21C-F8E0-979D-4C78-5AD8F626206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2400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34">
            <a:extLst>
              <a:ext uri="{FF2B5EF4-FFF2-40B4-BE49-F238E27FC236}">
                <a16:creationId xmlns:a16="http://schemas.microsoft.com/office/drawing/2014/main" id="{4B80CB5E-449A-1753-3D11-C3F4161CAC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937403" y="1418503"/>
            <a:ext cx="4876801" cy="493990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FF24223-3E5F-C954-8038-017E4C42796F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A579F-3DAD-E76A-FDBB-D0A5681F25E7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BE64-1534-7000-268E-B124775A2A0B}"/>
              </a:ext>
            </a:extLst>
          </p:cNvPr>
          <p:cNvSpPr txBox="1"/>
          <p:nvPr/>
        </p:nvSpPr>
        <p:spPr>
          <a:xfrm rot="16200000">
            <a:off x="4399222" y="3485074"/>
            <a:ext cx="33297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Verdana Pro" panose="020B0604030504040204" pitchFamily="34" charset="0"/>
              </a:rPr>
              <a:t>Alignment length [TMalign] (AAs)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74F961-8528-3336-C5C4-443279088605}"/>
              </a:ext>
            </a:extLst>
          </p:cNvPr>
          <p:cNvSpPr/>
          <p:nvPr/>
        </p:nvSpPr>
        <p:spPr>
          <a:xfrm>
            <a:off x="1639019" y="3562709"/>
            <a:ext cx="1035170" cy="217385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/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Better structural alignment according to Foldseek (</a:t>
                </a:r>
                <a14:m>
                  <m:oMath xmlns:m="http://schemas.openxmlformats.org/officeDocument/2006/math">
                    <m:r>
                      <a:rPr lang="en-US" sz="1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−35</m:t>
                        </m:r>
                      </m:sup>
                    </m:sSup>
                  </m:oMath>
                </a14:m>
                <a:r>
                  <a:rPr lang="en-US" sz="1000" dirty="0">
                    <a:solidFill>
                      <a:srgbClr val="FF0000"/>
                    </a:solidFill>
                    <a:latin typeface="Lucida Console" panose="020B0609040504020204" pitchFamily="49" charset="0"/>
                  </a:rPr>
                  <a:t>)</a:t>
                </a:r>
                <a:endParaRPr lang="en-CA" sz="1000" dirty="0">
                  <a:solidFill>
                    <a:srgbClr val="FF0000"/>
                  </a:solidFill>
                  <a:latin typeface="Lucida Console" panose="020B06090405040202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598B92D-3280-C895-1B51-E0E5DA2DE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0258" y="6236616"/>
                <a:ext cx="2715972" cy="401777"/>
              </a:xfrm>
              <a:prstGeom prst="rect">
                <a:avLst/>
              </a:prstGeom>
              <a:blipFill>
                <a:blip r:embed="rId3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160BD795-A9BE-A5C8-129A-FA59DDE23C1F}"/>
              </a:ext>
            </a:extLst>
          </p:cNvPr>
          <p:cNvSpPr txBox="1"/>
          <p:nvPr/>
        </p:nvSpPr>
        <p:spPr>
          <a:xfrm>
            <a:off x="7041441" y="1593816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e-values [given by Foldseek] denote the probability of observing this level of structural alignment due to random chance </a:t>
            </a:r>
            <a:endParaRPr lang="en-CA" dirty="0">
              <a:latin typeface="Georgia Pro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6FC953-FF62-69F5-1EEA-F199BC01B871}"/>
              </a:ext>
            </a:extLst>
          </p:cNvPr>
          <p:cNvSpPr txBox="1"/>
          <p:nvPr/>
        </p:nvSpPr>
        <p:spPr>
          <a:xfrm>
            <a:off x="7041441" y="3260523"/>
            <a:ext cx="4406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eorgia Pro" panose="02040502050405020303" pitchFamily="18" charset="0"/>
              </a:rPr>
              <a:t>They are contingent on alignment length, which means filtering for only the most significant e-values risks missing domain-specific alignment</a:t>
            </a:r>
            <a:endParaRPr lang="en-CA" dirty="0">
              <a:latin typeface="Georgia Pro" panose="02040502050405020303" pitchFamily="18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1907DD-0F01-1B4A-8180-41627B8E2954}"/>
              </a:ext>
            </a:extLst>
          </p:cNvPr>
          <p:cNvCxnSpPr>
            <a:cxnSpLocks/>
          </p:cNvCxnSpPr>
          <p:nvPr/>
        </p:nvCxnSpPr>
        <p:spPr>
          <a:xfrm>
            <a:off x="1639019" y="5762163"/>
            <a:ext cx="746493" cy="7603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AE1744-050F-FB4E-F9DA-551C055D9543}"/>
              </a:ext>
            </a:extLst>
          </p:cNvPr>
          <p:cNvSpPr txBox="1"/>
          <p:nvPr/>
        </p:nvSpPr>
        <p:spPr>
          <a:xfrm>
            <a:off x="2385512" y="6457890"/>
            <a:ext cx="27159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Foldseek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F822B6A-3ACA-45D7-F609-9C766EAA0AB8}"/>
              </a:ext>
            </a:extLst>
          </p:cNvPr>
          <p:cNvCxnSpPr>
            <a:cxnSpLocks/>
          </p:cNvCxnSpPr>
          <p:nvPr/>
        </p:nvCxnSpPr>
        <p:spPr>
          <a:xfrm>
            <a:off x="5008918" y="5751554"/>
            <a:ext cx="480053" cy="4850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B2184-1362-D437-6BCF-0EF6DECA4288}"/>
              </a:ext>
            </a:extLst>
          </p:cNvPr>
          <p:cNvCxnSpPr>
            <a:cxnSpLocks/>
          </p:cNvCxnSpPr>
          <p:nvPr/>
        </p:nvCxnSpPr>
        <p:spPr>
          <a:xfrm flipH="1" flipV="1">
            <a:off x="1122877" y="1466299"/>
            <a:ext cx="507516" cy="682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61D2EC8-4532-1BCA-FFD7-852F8F1C26DD}"/>
              </a:ext>
            </a:extLst>
          </p:cNvPr>
          <p:cNvSpPr txBox="1"/>
          <p:nvPr/>
        </p:nvSpPr>
        <p:spPr>
          <a:xfrm>
            <a:off x="11818" y="1035412"/>
            <a:ext cx="104923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Worse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FB2067F-9586-BD5E-3AE4-437BF37581C8}"/>
              </a:ext>
            </a:extLst>
          </p:cNvPr>
          <p:cNvCxnSpPr>
            <a:cxnSpLocks/>
          </p:cNvCxnSpPr>
          <p:nvPr/>
        </p:nvCxnSpPr>
        <p:spPr>
          <a:xfrm flipH="1" flipV="1">
            <a:off x="928777" y="5477775"/>
            <a:ext cx="701616" cy="2685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A02446-24CA-A517-BA14-9F79233B7F36}"/>
              </a:ext>
            </a:extLst>
          </p:cNvPr>
          <p:cNvSpPr txBox="1"/>
          <p:nvPr/>
        </p:nvSpPr>
        <p:spPr>
          <a:xfrm>
            <a:off x="0" y="5200591"/>
            <a:ext cx="97478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  <a:latin typeface="Lucida Console" panose="020B0609040504020204" pitchFamily="49" charset="0"/>
              </a:rPr>
              <a:t>Better structural alignment according to PyMol</a:t>
            </a:r>
            <a:endParaRPr lang="en-CA" sz="1000" dirty="0">
              <a:solidFill>
                <a:srgbClr val="FF0000"/>
              </a:solidFill>
              <a:latin typeface="Lucida Console" panose="020B0609040504020204" pitchFamily="49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2AA6D5-822F-B58D-0D88-D43E11D9A439}"/>
              </a:ext>
            </a:extLst>
          </p:cNvPr>
          <p:cNvSpPr/>
          <p:nvPr/>
        </p:nvSpPr>
        <p:spPr>
          <a:xfrm>
            <a:off x="3140014" y="1543132"/>
            <a:ext cx="1868903" cy="201957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920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14782A36-411B-BF91-D3A3-983BB97D9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68" r="7181"/>
          <a:stretch>
            <a:fillRect/>
          </a:stretch>
        </p:blipFill>
        <p:spPr>
          <a:xfrm>
            <a:off x="875222" y="1297636"/>
            <a:ext cx="5092460" cy="50273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5200952-412A-5895-354A-B719DD9272A7}"/>
              </a:ext>
            </a:extLst>
          </p:cNvPr>
          <p:cNvSpPr txBox="1"/>
          <p:nvPr/>
        </p:nvSpPr>
        <p:spPr>
          <a:xfrm>
            <a:off x="4791075" y="1503203"/>
            <a:ext cx="9461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latin typeface="Verdana Pro" panose="020B0604030504040204" pitchFamily="34" charset="0"/>
              </a:rPr>
              <a:t>n = 237</a:t>
            </a:r>
            <a:endParaRPr lang="en-CA" sz="1000" dirty="0">
              <a:latin typeface="Verdana Pro" panose="020B0604030504040204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0692-D05C-BB80-EDC6-E37435C6FA25}"/>
              </a:ext>
            </a:extLst>
          </p:cNvPr>
          <p:cNvSpPr/>
          <p:nvPr/>
        </p:nvSpPr>
        <p:spPr>
          <a:xfrm>
            <a:off x="315257" y="267370"/>
            <a:ext cx="9363581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26F973-03F9-14B6-88BB-FABBEC18960C}"/>
              </a:ext>
            </a:extLst>
          </p:cNvPr>
          <p:cNvSpPr txBox="1"/>
          <p:nvPr/>
        </p:nvSpPr>
        <p:spPr>
          <a:xfrm>
            <a:off x="527959" y="335519"/>
            <a:ext cx="87109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Why use PyMol to check structural alignment?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86CD2DF-6E36-8BCD-7326-6881563C8621}"/>
              </a:ext>
            </a:extLst>
          </p:cNvPr>
          <p:cNvSpPr/>
          <p:nvPr/>
        </p:nvSpPr>
        <p:spPr>
          <a:xfrm>
            <a:off x="4885922" y="1588212"/>
            <a:ext cx="92075" cy="9525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ECBBA88-A498-EFBE-EAFC-A118DADA2326}"/>
              </a:ext>
            </a:extLst>
          </p:cNvPr>
          <p:cNvSpPr/>
          <p:nvPr/>
        </p:nvSpPr>
        <p:spPr>
          <a:xfrm>
            <a:off x="4791073" y="1530576"/>
            <a:ext cx="946151" cy="212498"/>
          </a:xfrm>
          <a:prstGeom prst="roundRect">
            <a:avLst/>
          </a:prstGeom>
          <a:noFill/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/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eorgia Pro" panose="02040502050405020303" pitchFamily="18" charset="0"/>
                  </a:rPr>
                  <a:t>PyMol super can achieve good alignment when TM-align cannot </a:t>
                </a:r>
              </a:p>
              <a:p>
                <a:r>
                  <a:rPr lang="en-US" dirty="0">
                    <a:latin typeface="Georgia Pro" panose="02040502050405020303" pitchFamily="18" charset="0"/>
                  </a:rPr>
                  <a:t>(see top-left quadrant vs. bottom-right).</a:t>
                </a:r>
              </a:p>
              <a:p>
                <a:endParaRPr lang="en-US" dirty="0">
                  <a:latin typeface="Georgia Pro" panose="02040502050405020303" pitchFamily="18" charset="0"/>
                </a:endParaRPr>
              </a:p>
              <a:p>
                <a:r>
                  <a:rPr lang="en-US" dirty="0">
                    <a:latin typeface="Georgia Pro" panose="02040502050405020303" pitchFamily="18" charset="0"/>
                  </a:rPr>
                  <a:t>However, this should always be checked against a threshold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&lt;0.05</m:t>
                    </m:r>
                  </m:oMath>
                </a14:m>
                <a:r>
                  <a:rPr lang="en-CA" dirty="0">
                    <a:latin typeface="Georgia Pro" panose="02040502050405020303" pitchFamily="18" charset="0"/>
                  </a:rPr>
                  <a:t> (after multiple hypothesis correction) to confirm that the alignment is not due to random chance.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996BCAD-5AA8-ED57-A337-0FC563367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4626" y="1992440"/>
                <a:ext cx="4406900" cy="2585323"/>
              </a:xfrm>
              <a:prstGeom prst="rect">
                <a:avLst/>
              </a:prstGeom>
              <a:blipFill>
                <a:blip r:embed="rId3"/>
                <a:stretch>
                  <a:fillRect l="-1245" t="-1415" r="-138" b="-283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481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461CE14-D010-B97D-F7F8-7C47881F3AD7}"/>
              </a:ext>
            </a:extLst>
          </p:cNvPr>
          <p:cNvSpPr txBox="1"/>
          <p:nvPr/>
        </p:nvSpPr>
        <p:spPr>
          <a:xfrm>
            <a:off x="1072904" y="23121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To this end, we have incorporated PyMol super into our pipeline for interactive filtering</a:t>
            </a:r>
          </a:p>
        </p:txBody>
      </p:sp>
    </p:spTree>
    <p:extLst>
      <p:ext uri="{BB962C8B-B14F-4D97-AF65-F5344CB8AC3E}">
        <p14:creationId xmlns:p14="http://schemas.microsoft.com/office/powerpoint/2010/main" val="297338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CA1410C-3E75-3DA4-B14E-C13268097F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1460" y="405443"/>
            <a:ext cx="3068612" cy="254134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372D3B-10A7-BA1C-E1C1-2FF420E6F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460" y="2946790"/>
            <a:ext cx="3068611" cy="27915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5CC6B1A-4BD4-6DC4-E9B1-9BF4BB86DAED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EF9DD2-491B-07EC-E3CE-BE6687E3939B}"/>
              </a:ext>
            </a:extLst>
          </p:cNvPr>
          <p:cNvGrpSpPr/>
          <p:nvPr/>
        </p:nvGrpSpPr>
        <p:grpSpPr>
          <a:xfrm>
            <a:off x="276405" y="405443"/>
            <a:ext cx="2955856" cy="2994101"/>
            <a:chOff x="1144437" y="1392623"/>
            <a:chExt cx="4876801" cy="493990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0E4A038-5461-8D29-E0E7-7CFF778FD5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t="9961" r="11111"/>
            <a:stretch>
              <a:fillRect/>
            </a:stretch>
          </p:blipFill>
          <p:spPr>
            <a:xfrm>
              <a:off x="1144437" y="1392623"/>
              <a:ext cx="4876801" cy="493990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34E0E19-7D89-7B31-ADCD-5A948D28A8A1}"/>
                </a:ext>
              </a:extLst>
            </p:cNvPr>
            <p:cNvSpPr/>
            <p:nvPr/>
          </p:nvSpPr>
          <p:spPr>
            <a:xfrm>
              <a:off x="4929993" y="4957313"/>
              <a:ext cx="250166" cy="189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BDC40ED7-46A1-6D64-E396-B3B63DEAF208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 [A. atlanticus]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AD8FDB-4AE2-2F03-A2CE-B9B10FE063F9}"/>
              </a:ext>
            </a:extLst>
          </p:cNvPr>
          <p:cNvSpPr txBox="1"/>
          <p:nvPr/>
        </p:nvSpPr>
        <p:spPr>
          <a:xfrm>
            <a:off x="3590957" y="5631956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D168B8-08B1-F533-7A81-96D13D2A7D21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75E2953-C92B-DD97-A158-9DF0CD353A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405443"/>
            <a:ext cx="5171306" cy="433908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39BDB83-65E6-2783-6790-F079ABBA6765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A0A0H4VDC2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F31115-57CE-131C-E179-A1A88D21C6CF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unreviewed, uncharacterised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660C3D-F7A9-893E-EC26-9CCE55758F5A}"/>
              </a:ext>
            </a:extLst>
          </p:cNvPr>
          <p:cNvSpPr txBox="1"/>
          <p:nvPr/>
        </p:nvSpPr>
        <p:spPr>
          <a:xfrm>
            <a:off x="3590957" y="5163595"/>
            <a:ext cx="5114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strong sequence homology to ATP-, DEAD-box helicases in other bacterial species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079CE4-C678-786D-0CDC-049477D09BDE}"/>
              </a:ext>
            </a:extLst>
          </p:cNvPr>
          <p:cNvSpPr txBox="1"/>
          <p:nvPr/>
        </p:nvSpPr>
        <p:spPr>
          <a:xfrm>
            <a:off x="3540154" y="5866698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AE85AE-0BD2-4E2B-1374-B9EFE1F4405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0C6DF-D3A6-61BC-BB2C-1774F8E9A11E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X5D2E5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30EE701-DBFE-C350-4142-4C6967DA8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99706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-34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1.47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636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6092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6E2D1-0D4A-B807-37A6-B425C90F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9B9206-4383-222B-653B-DC4D92132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809" y="2574759"/>
            <a:ext cx="3052737" cy="287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8B2DC9-11AE-F408-0C77-180D3EB66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09" y="114300"/>
            <a:ext cx="3059385" cy="246045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871C24D-B23D-320B-B22A-0340DC5A592B}"/>
              </a:ext>
            </a:extLst>
          </p:cNvPr>
          <p:cNvSpPr/>
          <p:nvPr/>
        </p:nvSpPr>
        <p:spPr>
          <a:xfrm>
            <a:off x="3540154" y="4749290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A039E2-639C-EAD7-307A-80C46BC23E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05AB22-9A15-EBA8-03D4-1BF07BEFEAE9}"/>
              </a:ext>
            </a:extLst>
          </p:cNvPr>
          <p:cNvSpPr txBox="1"/>
          <p:nvPr/>
        </p:nvSpPr>
        <p:spPr>
          <a:xfrm>
            <a:off x="3590957" y="4744527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 [M. marinus]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A37E64-EE84-94FD-A9D3-80E019E35561}"/>
              </a:ext>
            </a:extLst>
          </p:cNvPr>
          <p:cNvSpPr txBox="1"/>
          <p:nvPr/>
        </p:nvSpPr>
        <p:spPr>
          <a:xfrm>
            <a:off x="3590957" y="5631956"/>
            <a:ext cx="51053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 [H. sapiens][CHD1L]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E202E3-E150-136F-F1F5-3311AE3B76E9}"/>
              </a:ext>
            </a:extLst>
          </p:cNvPr>
          <p:cNvSpPr/>
          <p:nvPr/>
        </p:nvSpPr>
        <p:spPr>
          <a:xfrm>
            <a:off x="3540154" y="5607169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485D5-FDEF-1950-B818-54F2A6BA3422}"/>
              </a:ext>
            </a:extLst>
          </p:cNvPr>
          <p:cNvSpPr txBox="1"/>
          <p:nvPr/>
        </p:nvSpPr>
        <p:spPr>
          <a:xfrm>
            <a:off x="9394672" y="10699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A0A5B8XTL3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EB2AB1-34C8-D7A6-26BF-BDA6D9204579}"/>
              </a:ext>
            </a:extLst>
          </p:cNvPr>
          <p:cNvSpPr txBox="1"/>
          <p:nvPr/>
        </p:nvSpPr>
        <p:spPr>
          <a:xfrm>
            <a:off x="3590958" y="4961302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DEAD-box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E73559-04E4-E01C-A736-A77CC7596E70}"/>
              </a:ext>
            </a:extLst>
          </p:cNvPr>
          <p:cNvSpPr txBox="1"/>
          <p:nvPr/>
        </p:nvSpPr>
        <p:spPr>
          <a:xfrm>
            <a:off x="3540154" y="5866698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ATP-binding, helicase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BBC020-7E96-8989-33C6-C4AF9DA1F6EA}"/>
              </a:ext>
            </a:extLst>
          </p:cNvPr>
          <p:cNvSpPr txBox="1"/>
          <p:nvPr/>
        </p:nvSpPr>
        <p:spPr>
          <a:xfrm>
            <a:off x="3533804" y="6045500"/>
            <a:ext cx="5164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"binds histones that are poly-ADP-</a:t>
            </a:r>
            <a:r>
              <a:rPr lang="en-US" sz="12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ribosylated</a:t>
            </a: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on serine residues in response to DNA damage"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CE26BE-A28E-E0F5-A0D4-425D853F513A}"/>
              </a:ext>
            </a:extLst>
          </p:cNvPr>
          <p:cNvSpPr txBox="1"/>
          <p:nvPr/>
        </p:nvSpPr>
        <p:spPr>
          <a:xfrm>
            <a:off x="9394672" y="251503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A0A0A0MSH9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0253E48-B34A-09B0-01E1-6EA8AD444D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5456144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2.21e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-27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1.56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623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32D3732-7C80-A3ED-8783-56C29CB229EA}"/>
              </a:ext>
            </a:extLst>
          </p:cNvPr>
          <p:cNvSpPr/>
          <p:nvPr/>
        </p:nvSpPr>
        <p:spPr>
          <a:xfrm>
            <a:off x="2176780" y="2515033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18ABC-1873-F644-A689-9C59299505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804" y="114300"/>
            <a:ext cx="5168872" cy="463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984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671E-77B7-F256-D8E0-29A815F6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B619D5C-1957-C731-D7C7-99ABC25BBDD9}"/>
              </a:ext>
            </a:extLst>
          </p:cNvPr>
          <p:cNvSpPr/>
          <p:nvPr/>
        </p:nvSpPr>
        <p:spPr>
          <a:xfrm>
            <a:off x="8711460" y="2785987"/>
            <a:ext cx="3059085" cy="262797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7E53FD-3B6C-6871-B74A-A418007335B0}"/>
              </a:ext>
            </a:extLst>
          </p:cNvPr>
          <p:cNvSpPr/>
          <p:nvPr/>
        </p:nvSpPr>
        <p:spPr>
          <a:xfrm>
            <a:off x="3540154" y="3920615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95E9BC3-B27B-50A7-2B8E-518F49C04C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03563C-B735-E51A-9135-7D8AC3FF4A91}"/>
              </a:ext>
            </a:extLst>
          </p:cNvPr>
          <p:cNvSpPr txBox="1"/>
          <p:nvPr/>
        </p:nvSpPr>
        <p:spPr>
          <a:xfrm>
            <a:off x="3590957" y="3915852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 [J. tructae]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85717-71A8-DF47-108D-FECB7FD44CBE}"/>
              </a:ext>
            </a:extLst>
          </p:cNvPr>
          <p:cNvSpPr txBox="1"/>
          <p:nvPr/>
        </p:nvSpPr>
        <p:spPr>
          <a:xfrm>
            <a:off x="3590957" y="4803281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 [H. sapiens][unreviewed]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1D19A-B186-ACCF-8683-7BF670FA72DE}"/>
              </a:ext>
            </a:extLst>
          </p:cNvPr>
          <p:cNvSpPr/>
          <p:nvPr/>
        </p:nvSpPr>
        <p:spPr>
          <a:xfrm>
            <a:off x="3540154" y="4778494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D6309-34D2-B8B0-1F99-86FF5CCF905F}"/>
              </a:ext>
            </a:extLst>
          </p:cNvPr>
          <p:cNvSpPr txBox="1"/>
          <p:nvPr/>
        </p:nvSpPr>
        <p:spPr>
          <a:xfrm>
            <a:off x="3590958" y="4132627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ATP-dependent helicase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F166F2-7F85-9440-0E1B-2EA771FF7EC3}"/>
              </a:ext>
            </a:extLst>
          </p:cNvPr>
          <p:cNvSpPr txBox="1"/>
          <p:nvPr/>
        </p:nvSpPr>
        <p:spPr>
          <a:xfrm>
            <a:off x="3590957" y="4334920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unreviewed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A1A7CC-E4E2-A8C5-D520-FF73BF026379}"/>
              </a:ext>
            </a:extLst>
          </p:cNvPr>
          <p:cNvSpPr txBox="1"/>
          <p:nvPr/>
        </p:nvSpPr>
        <p:spPr>
          <a:xfrm>
            <a:off x="3540154" y="5038023"/>
            <a:ext cx="54196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"highly similar to Homo sapiens chromodomain helicase DNA binding protein 1-like (CHD1L)"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61DE8E-1729-9231-5374-ECB14D65D21B}"/>
              </a:ext>
            </a:extLst>
          </p:cNvPr>
          <p:cNvSpPr txBox="1"/>
          <p:nvPr/>
        </p:nvSpPr>
        <p:spPr>
          <a:xfrm>
            <a:off x="9349397" y="278598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B4DLS6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03887FE4-41B4-23D7-5603-63D9A78446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0282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1.55e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-13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1.17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267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07AB880-A85D-7983-736B-80F77854A0CA}"/>
              </a:ext>
            </a:extLst>
          </p:cNvPr>
          <p:cNvSpPr/>
          <p:nvPr/>
        </p:nvSpPr>
        <p:spPr>
          <a:xfrm>
            <a:off x="1405374" y="2750222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BDC0A7-B788-0015-0D36-BD5E1319F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372" y="559331"/>
            <a:ext cx="5162279" cy="33487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AB855-A635-3FCC-D993-3997626F1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1460" y="559331"/>
            <a:ext cx="3062834" cy="224512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53DB15-2FB2-36B0-929F-97BFB73CECF2}"/>
              </a:ext>
            </a:extLst>
          </p:cNvPr>
          <p:cNvSpPr txBox="1"/>
          <p:nvPr/>
        </p:nvSpPr>
        <p:spPr>
          <a:xfrm>
            <a:off x="9349398" y="559331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A0A4Y6RC84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713C82C-7182-409C-E2EA-E67D63249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7237" y="2783050"/>
            <a:ext cx="2069389" cy="259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187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51ED0-1BD3-612A-3F05-214A8251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ECFF34D-EF51-9242-5410-5F51BAC36330}"/>
              </a:ext>
            </a:extLst>
          </p:cNvPr>
          <p:cNvSpPr/>
          <p:nvPr/>
        </p:nvSpPr>
        <p:spPr>
          <a:xfrm>
            <a:off x="8711459" y="405442"/>
            <a:ext cx="3059085" cy="2391754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0A8A3A6-B805-4754-949B-A2994CFE8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902" y="405442"/>
            <a:ext cx="2823973" cy="238845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E82F74D-D5FE-D9CF-114A-0F5783339A1D}"/>
              </a:ext>
            </a:extLst>
          </p:cNvPr>
          <p:cNvSpPr/>
          <p:nvPr/>
        </p:nvSpPr>
        <p:spPr>
          <a:xfrm>
            <a:off x="8711460" y="2785987"/>
            <a:ext cx="3059085" cy="3163726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430691-1876-0115-553C-DEAE38981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305"/>
          <a:stretch>
            <a:fillRect/>
          </a:stretch>
        </p:blipFill>
        <p:spPr>
          <a:xfrm>
            <a:off x="8711460" y="2946791"/>
            <a:ext cx="2934109" cy="3002921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41B1F10-52DD-5E5F-D460-F043D31C0F78}"/>
              </a:ext>
            </a:extLst>
          </p:cNvPr>
          <p:cNvSpPr/>
          <p:nvPr/>
        </p:nvSpPr>
        <p:spPr>
          <a:xfrm>
            <a:off x="3540154" y="4246444"/>
            <a:ext cx="5156171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68F3E02-50E2-4E48-5A93-DD3F142E2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9961" r="11111"/>
          <a:stretch>
            <a:fillRect/>
          </a:stretch>
        </p:blipFill>
        <p:spPr>
          <a:xfrm>
            <a:off x="276405" y="405443"/>
            <a:ext cx="2955856" cy="299410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ADFB4A9-A4A6-B629-62D7-62E9C475DA37}"/>
              </a:ext>
            </a:extLst>
          </p:cNvPr>
          <p:cNvSpPr txBox="1"/>
          <p:nvPr/>
        </p:nvSpPr>
        <p:spPr>
          <a:xfrm>
            <a:off x="3590957" y="424168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 [A. baumannii]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FCCD0A-331F-9592-81A1-B2CD9EC98C5D}"/>
              </a:ext>
            </a:extLst>
          </p:cNvPr>
          <p:cNvSpPr txBox="1"/>
          <p:nvPr/>
        </p:nvSpPr>
        <p:spPr>
          <a:xfrm>
            <a:off x="3590957" y="512911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 [H. sapiens][BTAF1]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B6EA16-E711-D462-5868-A98DF44D0B86}"/>
              </a:ext>
            </a:extLst>
          </p:cNvPr>
          <p:cNvSpPr/>
          <p:nvPr/>
        </p:nvSpPr>
        <p:spPr>
          <a:xfrm>
            <a:off x="3540154" y="5104323"/>
            <a:ext cx="5156172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74FEC1-9620-3DF3-8DA7-9BC6B4D33573}"/>
              </a:ext>
            </a:extLst>
          </p:cNvPr>
          <p:cNvSpPr txBox="1"/>
          <p:nvPr/>
        </p:nvSpPr>
        <p:spPr>
          <a:xfrm>
            <a:off x="9394672" y="40544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A0A6L8M512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018341F-9B09-FC1C-6A64-BA49AFDC9748}"/>
              </a:ext>
            </a:extLst>
          </p:cNvPr>
          <p:cNvSpPr txBox="1"/>
          <p:nvPr/>
        </p:nvSpPr>
        <p:spPr>
          <a:xfrm>
            <a:off x="3590958" y="4458456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DEAD box helicase protein</a:t>
            </a:r>
            <a:endParaRPr lang="en-CA" sz="1200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7B93A9-B52D-A44E-A92C-B459CD2D0E52}"/>
              </a:ext>
            </a:extLst>
          </p:cNvPr>
          <p:cNvSpPr txBox="1"/>
          <p:nvPr/>
        </p:nvSpPr>
        <p:spPr>
          <a:xfrm>
            <a:off x="3540154" y="5363852"/>
            <a:ext cx="5419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evidence of existence only at transcript level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3AAF28-D7C8-F5FC-0EF3-FE424467C035}"/>
              </a:ext>
            </a:extLst>
          </p:cNvPr>
          <p:cNvSpPr txBox="1"/>
          <p:nvPr/>
        </p:nvSpPr>
        <p:spPr>
          <a:xfrm>
            <a:off x="3533804" y="5542654"/>
            <a:ext cx="51649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predicted helicase, hydrolase activity</a:t>
            </a:r>
            <a:endParaRPr lang="en-CA" sz="120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778E7F-25DD-FBA0-8782-FCD7A89D9B24}"/>
              </a:ext>
            </a:extLst>
          </p:cNvPr>
          <p:cNvSpPr txBox="1"/>
          <p:nvPr/>
        </p:nvSpPr>
        <p:spPr>
          <a:xfrm>
            <a:off x="9349399" y="30917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Q8N6J1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8843CC1-E262-28F7-FA80-61CA229212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874521"/>
              </p:ext>
            </p:extLst>
          </p:nvPr>
        </p:nvGraphicFramePr>
        <p:xfrm>
          <a:off x="411929" y="3754941"/>
          <a:ext cx="2782890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Zorya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e-value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5.65e</a:t>
                      </a:r>
                      <a:r>
                        <a:rPr lang="en-US" sz="1200" baseline="300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-32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259828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3.41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553 AAs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14B2D47-5432-F556-F3B5-30689A5B4CC6}"/>
              </a:ext>
            </a:extLst>
          </p:cNvPr>
          <p:cNvSpPr/>
          <p:nvPr/>
        </p:nvSpPr>
        <p:spPr>
          <a:xfrm>
            <a:off x="2438837" y="1401961"/>
            <a:ext cx="160146" cy="1214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A0F643-970A-26FF-175C-D976A558A2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54" y="405443"/>
            <a:ext cx="5171304" cy="3815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0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62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9E216-7F09-313F-5677-BFC8F3040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9F58D43-2BF7-3E2C-D998-E51F09ABC191}"/>
              </a:ext>
            </a:extLst>
          </p:cNvPr>
          <p:cNvSpPr txBox="1"/>
          <p:nvPr/>
        </p:nvSpPr>
        <p:spPr>
          <a:xfrm>
            <a:off x="1047504" y="889701"/>
            <a:ext cx="548491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Curating a positive control set of homologous bacterial-human protein pairs from high-impact literature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6B90585-0040-3FBD-8C49-2A58A5C3C1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471206"/>
              </p:ext>
            </p:extLst>
          </p:nvPr>
        </p:nvGraphicFramePr>
        <p:xfrm>
          <a:off x="1288804" y="3429000"/>
          <a:ext cx="3372096" cy="2255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Experimental 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bacterial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express in new organism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40798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perform functional assay proving bacterial immune system action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239055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4647ED3-0B8A-D494-D0B1-8E84549A81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9404553"/>
              </p:ext>
            </p:extLst>
          </p:nvPr>
        </p:nvGraphicFramePr>
        <p:xfrm>
          <a:off x="5606804" y="3429000"/>
          <a:ext cx="3372096" cy="1950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372096">
                  <a:extLst>
                    <a:ext uri="{9D8B030D-6E8A-4147-A177-3AD203B41FA5}">
                      <a16:colId xmlns:a16="http://schemas.microsoft.com/office/drawing/2014/main" val="2740920184"/>
                    </a:ext>
                  </a:extLst>
                </a:gridCol>
              </a:tblGrid>
              <a:tr h="40148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Homology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criteria</a:t>
                      </a: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478066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provide protein accession for human protein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1214207"/>
                  </a:ext>
                </a:extLst>
              </a:tr>
              <a:tr h="282449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 convincing evidence of sequence or structure homology</a:t>
                      </a:r>
                      <a:endParaRPr lang="en-CA" sz="140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8183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1688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D5AEA-25A4-23EF-061E-6033EBF9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963EFC-F093-3F28-A109-DC88635409FE}"/>
              </a:ext>
            </a:extLst>
          </p:cNvPr>
          <p:cNvSpPr/>
          <p:nvPr/>
        </p:nvSpPr>
        <p:spPr>
          <a:xfrm>
            <a:off x="315257" y="267370"/>
            <a:ext cx="8289248" cy="62874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A6B9E2-84D2-B174-67D9-7AEE69C49D76}"/>
              </a:ext>
            </a:extLst>
          </p:cNvPr>
          <p:cNvSpPr txBox="1"/>
          <p:nvPr/>
        </p:nvSpPr>
        <p:spPr>
          <a:xfrm>
            <a:off x="527960" y="335519"/>
            <a:ext cx="71804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Georgia Pro" panose="02040502050405020303" pitchFamily="18" charset="0"/>
              </a:rPr>
              <a:t>Positive control set</a:t>
            </a:r>
            <a:endParaRPr lang="en-CA" sz="2600" b="1" dirty="0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FE8C64-B8A3-94B5-6509-02098D59E0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801861"/>
              </p:ext>
            </p:extLst>
          </p:nvPr>
        </p:nvGraphicFramePr>
        <p:xfrm>
          <a:off x="181153" y="2618867"/>
          <a:ext cx="6476258" cy="35953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529853741"/>
                    </a:ext>
                  </a:extLst>
                </a:gridCol>
                <a:gridCol w="1354348">
                  <a:extLst>
                    <a:ext uri="{9D8B030D-6E8A-4147-A177-3AD203B41FA5}">
                      <a16:colId xmlns:a16="http://schemas.microsoft.com/office/drawing/2014/main" val="165409373"/>
                    </a:ext>
                  </a:extLst>
                </a:gridCol>
                <a:gridCol w="1509622">
                  <a:extLst>
                    <a:ext uri="{9D8B030D-6E8A-4147-A177-3AD203B41FA5}">
                      <a16:colId xmlns:a16="http://schemas.microsoft.com/office/drawing/2014/main" val="2430019957"/>
                    </a:ext>
                  </a:extLst>
                </a:gridCol>
                <a:gridCol w="1270553">
                  <a:extLst>
                    <a:ext uri="{9D8B030D-6E8A-4147-A177-3AD203B41FA5}">
                      <a16:colId xmlns:a16="http://schemas.microsoft.com/office/drawing/2014/main" val="3918155899"/>
                    </a:ext>
                  </a:extLst>
                </a:gridCol>
                <a:gridCol w="1427336">
                  <a:extLst>
                    <a:ext uri="{9D8B030D-6E8A-4147-A177-3AD203B41FA5}">
                      <a16:colId xmlns:a16="http://schemas.microsoft.com/office/drawing/2014/main" val="3749239967"/>
                    </a:ext>
                  </a:extLst>
                </a:gridCol>
              </a:tblGrid>
              <a:tr h="14036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PMID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Bact.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UniProt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Lucida Console" panose="020B0609040504020204" pitchFamily="49" charset="0"/>
                        </a:rPr>
                        <a:t>H.s. gene name</a:t>
                      </a:r>
                      <a:endParaRPr lang="en-CA" sz="1200" b="0" i="0" u="none" strike="noStrike" dirty="0">
                        <a:solidFill>
                          <a:srgbClr val="000000"/>
                        </a:solidFill>
                        <a:effectLst/>
                        <a:latin typeface="Lucida Console" panose="020B0609040504020204" pitchFamily="49" charset="0"/>
                      </a:endParaRP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37008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Q6XGD5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866231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30787435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G2SLH8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cdnE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Q8N884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CGAS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674829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Q9BPY3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FAM118B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0261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Q96EB6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0979640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Q8IXJ6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36241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Q9Y6E7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5554006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Q9NXA8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80229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Q8N6T7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4113074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40705877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J8G6Z1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ThsA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Q9NRC8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SIRT7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71156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A0A1H0NKS3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25769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P0DW49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67152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D5EID4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vip15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1060587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vip21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15248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A0A1S1YUU1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vip47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247763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A0A110A2W7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3979791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A0A1M7D0R2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vip56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739598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A0A244CMP0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vip58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9730952"/>
                  </a:ext>
                </a:extLst>
              </a:tr>
              <a:tr h="10616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32937646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P0DW53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vip60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CA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Q8WXG1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A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RSAD2</a:t>
                      </a:r>
                    </a:p>
                  </a:txBody>
                  <a:tcPr marL="6350" marR="6350" marT="6350" marB="0" anchor="b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4252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DA5EAAB-16B0-2623-CF1A-2B61D1BF787A}"/>
              </a:ext>
            </a:extLst>
          </p:cNvPr>
          <p:cNvSpPr txBox="1"/>
          <p:nvPr/>
        </p:nvSpPr>
        <p:spPr>
          <a:xfrm>
            <a:off x="1241192" y="1004062"/>
            <a:ext cx="4489704" cy="1384995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Source: high-impact literature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Criteria: bacterial homology to human, proof of bacterial immune function</a:t>
            </a:r>
          </a:p>
          <a:p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Purpose: positive control for subsequence analysis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D7F113A-51DC-5CB6-7C05-0C559A2EC737}"/>
              </a:ext>
            </a:extLst>
          </p:cNvPr>
          <p:cNvCxnSpPr>
            <a:cxnSpLocks/>
          </p:cNvCxnSpPr>
          <p:nvPr/>
        </p:nvCxnSpPr>
        <p:spPr>
          <a:xfrm>
            <a:off x="6318504" y="1696559"/>
            <a:ext cx="0" cy="9223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B24020F-D695-FDE0-F782-285CFA8CE4C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5730896" y="1696560"/>
            <a:ext cx="5876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A6E3BA6-4697-4E8A-416B-A332B9C216CB}"/>
              </a:ext>
            </a:extLst>
          </p:cNvPr>
          <p:cNvSpPr txBox="1"/>
          <p:nvPr/>
        </p:nvSpPr>
        <p:spPr>
          <a:xfrm>
            <a:off x="8762017" y="6258617"/>
            <a:ext cx="2670048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Lucida Console" panose="020B0609040504020204" pitchFamily="49" charset="0"/>
              </a:rPr>
              <a:t>Total number: 18 pairs</a:t>
            </a:r>
            <a:endParaRPr lang="en-CA" sz="1200" dirty="0">
              <a:latin typeface="Lucida Console" panose="020B0609040504020204" pitchFamily="49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97A16E8-B5E1-C5E3-E508-1CB08B5FBD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6931613" y="1587259"/>
            <a:ext cx="4559865" cy="445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586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4C07A-574B-C0FB-6B6A-352D625C0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A62F843-E61B-7533-0B3B-20DF2B843C81}"/>
              </a:ext>
            </a:extLst>
          </p:cNvPr>
          <p:cNvSpPr/>
          <p:nvPr/>
        </p:nvSpPr>
        <p:spPr>
          <a:xfrm>
            <a:off x="3540154" y="4447846"/>
            <a:ext cx="7242865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356E-3C31-A753-9CA0-CE0423EA7453}"/>
              </a:ext>
            </a:extLst>
          </p:cNvPr>
          <p:cNvSpPr txBox="1"/>
          <p:nvPr/>
        </p:nvSpPr>
        <p:spPr>
          <a:xfrm>
            <a:off x="3590957" y="4443083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A0A1S1YUU1 [F. pacifica][vip47]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9E3406-0236-89C5-A5D8-F2EB822D005F}"/>
              </a:ext>
            </a:extLst>
          </p:cNvPr>
          <p:cNvSpPr txBox="1"/>
          <p:nvPr/>
        </p:nvSpPr>
        <p:spPr>
          <a:xfrm>
            <a:off x="3590957" y="5330512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Q8WXG1 [H. sapiens][RSAD2]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4275AF-D0DD-991F-26B8-0CA14B4CAF09}"/>
              </a:ext>
            </a:extLst>
          </p:cNvPr>
          <p:cNvSpPr/>
          <p:nvPr/>
        </p:nvSpPr>
        <p:spPr>
          <a:xfrm>
            <a:off x="3540154" y="5305725"/>
            <a:ext cx="7242864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92BFEF-3670-7431-E825-C26F3EA5261D}"/>
              </a:ext>
            </a:extLst>
          </p:cNvPr>
          <p:cNvSpPr txBox="1"/>
          <p:nvPr/>
        </p:nvSpPr>
        <p:spPr>
          <a:xfrm>
            <a:off x="7039691" y="586752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A0A1S1YUU1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30B619-BE73-D220-2975-36983892F15D}"/>
              </a:ext>
            </a:extLst>
          </p:cNvPr>
          <p:cNvSpPr txBox="1"/>
          <p:nvPr/>
        </p:nvSpPr>
        <p:spPr>
          <a:xfrm>
            <a:off x="3590958" y="4659858"/>
            <a:ext cx="51078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confers resistance to phage P1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048DEE-644A-8143-97BE-0B642B879A33}"/>
              </a:ext>
            </a:extLst>
          </p:cNvPr>
          <p:cNvSpPr txBox="1"/>
          <p:nvPr/>
        </p:nvSpPr>
        <p:spPr>
          <a:xfrm>
            <a:off x="3548781" y="5565254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interferon-inducible antiviral protein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08E850-A266-DB59-3DA2-7F3E04AE9942}"/>
              </a:ext>
            </a:extLst>
          </p:cNvPr>
          <p:cNvSpPr txBox="1"/>
          <p:nvPr/>
        </p:nvSpPr>
        <p:spPr>
          <a:xfrm>
            <a:off x="3547827" y="5744056"/>
            <a:ext cx="5078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initiates pathway to repress RNA 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27DF3C-9EBD-A011-CBF6-171BEC3D3583}"/>
              </a:ext>
            </a:extLst>
          </p:cNvPr>
          <p:cNvSpPr txBox="1"/>
          <p:nvPr/>
        </p:nvSpPr>
        <p:spPr>
          <a:xfrm>
            <a:off x="6640705" y="2080663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Q8WXG1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EDD823E7-66A5-82B0-2C1D-F9E57CC683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075749"/>
              </p:ext>
            </p:extLst>
          </p:nvPr>
        </p:nvGraphicFramePr>
        <p:xfrm>
          <a:off x="334082" y="4722579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Vipirin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0.89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1423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[75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0C580C62-E4AB-4F46-7942-18AC8424A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105518" y="894529"/>
            <a:ext cx="3011454" cy="29454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0CA59B-CC7E-D170-4365-9D00A04D14C8}"/>
              </a:ext>
            </a:extLst>
          </p:cNvPr>
          <p:cNvSpPr/>
          <p:nvPr/>
        </p:nvSpPr>
        <p:spPr>
          <a:xfrm>
            <a:off x="609618" y="997688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B2F44B-8358-1567-FCC1-1319D17054EF}"/>
              </a:ext>
            </a:extLst>
          </p:cNvPr>
          <p:cNvSpPr txBox="1"/>
          <p:nvPr/>
        </p:nvSpPr>
        <p:spPr>
          <a:xfrm>
            <a:off x="3590957" y="4839476"/>
            <a:ext cx="5114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represses T7 RNA-polymerase action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665F2-2467-7F1C-7B6C-40CFBA21E1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95" t="18994" r="28632" b="11516"/>
          <a:stretch>
            <a:fillRect/>
          </a:stretch>
        </p:blipFill>
        <p:spPr>
          <a:xfrm>
            <a:off x="3840219" y="460159"/>
            <a:ext cx="4109981" cy="398341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CDA7D12-0464-48D9-38EE-19DEF771E4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709" t="67171" r="37259"/>
          <a:stretch>
            <a:fillRect/>
          </a:stretch>
        </p:blipFill>
        <p:spPr>
          <a:xfrm>
            <a:off x="7824207" y="2043615"/>
            <a:ext cx="2972164" cy="235820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F0B3C77-5F6E-1991-4200-9D9E255847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47" t="73289" r="39931" b="-63"/>
          <a:stretch>
            <a:fillRect/>
          </a:stretch>
        </p:blipFill>
        <p:spPr>
          <a:xfrm>
            <a:off x="8372475" y="604065"/>
            <a:ext cx="2128368" cy="192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603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85337-A1A9-09A2-FDE4-7696368E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12599B7-D838-FDFF-8B87-B69F97760476}"/>
              </a:ext>
            </a:extLst>
          </p:cNvPr>
          <p:cNvSpPr/>
          <p:nvPr/>
        </p:nvSpPr>
        <p:spPr>
          <a:xfrm>
            <a:off x="3540154" y="4761874"/>
            <a:ext cx="74453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3B0A3-8D80-DC7F-37F6-BADD830D5CAB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Q6XGD5 [E. coli][cdnE]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05969E-BA91-1E8F-3740-1C4EBCE5EB28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Q8N884 [H. sapiens][CGAS]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63E170-939F-9687-F701-832A6C5E8A7E}"/>
              </a:ext>
            </a:extLst>
          </p:cNvPr>
          <p:cNvSpPr/>
          <p:nvPr/>
        </p:nvSpPr>
        <p:spPr>
          <a:xfrm>
            <a:off x="3540153" y="5619753"/>
            <a:ext cx="74453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8A91DA-7491-BECE-5A94-ED7ED4100471}"/>
              </a:ext>
            </a:extLst>
          </p:cNvPr>
          <p:cNvSpPr txBox="1"/>
          <p:nvPr/>
        </p:nvSpPr>
        <p:spPr>
          <a:xfrm>
            <a:off x="6582804" y="439278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Q6XGD5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4F3F6C-FACB-BB70-E369-56D6801E91D9}"/>
              </a:ext>
            </a:extLst>
          </p:cNvPr>
          <p:cNvSpPr txBox="1"/>
          <p:nvPr/>
        </p:nvSpPr>
        <p:spPr>
          <a:xfrm>
            <a:off x="3590958" y="4973886"/>
            <a:ext cx="51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Cyclic nucleotide synthase (second messenger synthesis) in CBASS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B4D5A-77F8-7F70-776B-9183BB442DE5}"/>
              </a:ext>
            </a:extLst>
          </p:cNvPr>
          <p:cNvSpPr txBox="1"/>
          <p:nvPr/>
        </p:nvSpPr>
        <p:spPr>
          <a:xfrm>
            <a:off x="3548781" y="5879282"/>
            <a:ext cx="498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nucleotidyltransferase catalyzing formation of cyclic GMP-AMP; plays role in innate immunity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F06483-848C-7C5D-27F2-45278FA99187}"/>
              </a:ext>
            </a:extLst>
          </p:cNvPr>
          <p:cNvSpPr txBox="1"/>
          <p:nvPr/>
        </p:nvSpPr>
        <p:spPr>
          <a:xfrm>
            <a:off x="6582805" y="2110867"/>
            <a:ext cx="24211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Q8N884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B5E299E-F9C4-86A8-9515-04FA20C80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5270993"/>
              </p:ext>
            </p:extLst>
          </p:nvPr>
        </p:nvGraphicFramePr>
        <p:xfrm>
          <a:off x="448364" y="511683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CBASS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5.53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1385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[73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D7881BF-EBA7-A1A0-8F19-0FD5880F2F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0849" r="8850"/>
          <a:stretch>
            <a:fillRect/>
          </a:stretch>
        </p:blipFill>
        <p:spPr>
          <a:xfrm>
            <a:off x="219800" y="13852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5DBEF63E-33ED-8D98-5B30-F4F5C5956DEA}"/>
              </a:ext>
            </a:extLst>
          </p:cNvPr>
          <p:cNvSpPr/>
          <p:nvPr/>
        </p:nvSpPr>
        <p:spPr>
          <a:xfrm>
            <a:off x="1860550" y="1661056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7FE4B-2CC6-3D45-48A6-471835C06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6" r="22135" b="13290"/>
          <a:stretch>
            <a:fillRect/>
          </a:stretch>
        </p:blipFill>
        <p:spPr>
          <a:xfrm>
            <a:off x="3425869" y="568235"/>
            <a:ext cx="4367510" cy="40646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1014E1-8AD8-A077-42C5-E195D80C6B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03" t="26887" r="29875" b="26817"/>
          <a:stretch>
            <a:fillRect/>
          </a:stretch>
        </p:blipFill>
        <p:spPr>
          <a:xfrm>
            <a:off x="8320372" y="430958"/>
            <a:ext cx="1996341" cy="14678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E98958-B2C4-90CB-90E5-A82770B5F1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16" t="1151" r="26389" b="10423"/>
          <a:stretch>
            <a:fillRect/>
          </a:stretch>
        </p:blipFill>
        <p:spPr>
          <a:xfrm>
            <a:off x="7793379" y="1781123"/>
            <a:ext cx="2798421" cy="280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1318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52B96-FB69-526B-80F1-486BE5154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3F25BDC-4CCC-D19A-30CD-326627AB0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7" t="24933" r="23390" b="22289"/>
          <a:stretch>
            <a:fillRect/>
          </a:stretch>
        </p:blipFill>
        <p:spPr>
          <a:xfrm>
            <a:off x="8071324" y="465806"/>
            <a:ext cx="2193925" cy="14478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27B76DD-E0D2-F564-E423-3A77E5A1E798}"/>
              </a:ext>
            </a:extLst>
          </p:cNvPr>
          <p:cNvSpPr/>
          <p:nvPr/>
        </p:nvSpPr>
        <p:spPr>
          <a:xfrm>
            <a:off x="3540154" y="4761874"/>
            <a:ext cx="7000846" cy="845389"/>
          </a:xfrm>
          <a:prstGeom prst="rect">
            <a:avLst/>
          </a:prstGeom>
          <a:noFill/>
          <a:ln w="635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1D4D55-792F-E6CB-7F48-9704C1D9C701}"/>
              </a:ext>
            </a:extLst>
          </p:cNvPr>
          <p:cNvSpPr txBox="1"/>
          <p:nvPr/>
        </p:nvSpPr>
        <p:spPr>
          <a:xfrm>
            <a:off x="3590957" y="4757111"/>
            <a:ext cx="4781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J8G6Z1 [B. cereus][thsA]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00AA5-4C4C-00DF-4E9A-AAF9B5650E0D}"/>
              </a:ext>
            </a:extLst>
          </p:cNvPr>
          <p:cNvSpPr txBox="1"/>
          <p:nvPr/>
        </p:nvSpPr>
        <p:spPr>
          <a:xfrm>
            <a:off x="3590957" y="5644540"/>
            <a:ext cx="3314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Verdana Pro" panose="020B0604030504040204" pitchFamily="34" charset="0"/>
              </a:rPr>
              <a:t>Q9BPY3 [H. sapiens][FAM118B]</a:t>
            </a:r>
            <a:endParaRPr lang="en-CA" sz="1400" dirty="0">
              <a:latin typeface="Verdana Pro" panose="020B060403050404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E8BE26-53CA-8612-2BF2-34D7549440C7}"/>
              </a:ext>
            </a:extLst>
          </p:cNvPr>
          <p:cNvSpPr/>
          <p:nvPr/>
        </p:nvSpPr>
        <p:spPr>
          <a:xfrm>
            <a:off x="3540153" y="5619753"/>
            <a:ext cx="7000847" cy="845389"/>
          </a:xfrm>
          <a:prstGeom prst="rect">
            <a:avLst/>
          </a:prstGeom>
          <a:noFill/>
          <a:ln w="63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  <a:latin typeface="Verdana Pro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15CA2F-4F07-6703-1917-EF06DBBCDC7C}"/>
              </a:ext>
            </a:extLst>
          </p:cNvPr>
          <p:cNvSpPr txBox="1"/>
          <p:nvPr/>
        </p:nvSpPr>
        <p:spPr>
          <a:xfrm>
            <a:off x="7789866" y="392858"/>
            <a:ext cx="1266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0000FF"/>
                </a:solidFill>
                <a:latin typeface="Verdana Pro" panose="020B0604030504040204" pitchFamily="34" charset="0"/>
              </a:rPr>
              <a:t>J8G6Z1</a:t>
            </a:r>
            <a:endParaRPr lang="en-CA" sz="1400" dirty="0">
              <a:solidFill>
                <a:srgbClr val="0000FF"/>
              </a:solidFill>
              <a:latin typeface="Verdana Pro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696AAF-EF99-A7A2-3A32-7483C0EF0E63}"/>
              </a:ext>
            </a:extLst>
          </p:cNvPr>
          <p:cNvSpPr txBox="1"/>
          <p:nvPr/>
        </p:nvSpPr>
        <p:spPr>
          <a:xfrm>
            <a:off x="3590958" y="4973886"/>
            <a:ext cx="494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NAD+ hydrolyzing component (NADase) of Thoeris antiviral defense system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9CF23C-ACC0-0A61-1F9A-D137D7927C64}"/>
              </a:ext>
            </a:extLst>
          </p:cNvPr>
          <p:cNvSpPr txBox="1"/>
          <p:nvPr/>
        </p:nvSpPr>
        <p:spPr>
          <a:xfrm>
            <a:off x="3548781" y="5879282"/>
            <a:ext cx="49827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Verdana Pro" panose="020B0604030504040204" pitchFamily="34" charset="0"/>
                <a:cs typeface="Courier New" panose="02070309020205020404" pitchFamily="49" charset="0"/>
              </a:rPr>
              <a:t>Cajal body regulation</a:t>
            </a:r>
            <a:endParaRPr lang="en-CA" sz="1200" dirty="0">
              <a:latin typeface="Verdana Pro" panose="020B0604030504040204" pitchFamily="34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97BDDA1-243D-C75E-752F-BCD63BCB3EF9}"/>
              </a:ext>
            </a:extLst>
          </p:cNvPr>
          <p:cNvSpPr txBox="1"/>
          <p:nvPr/>
        </p:nvSpPr>
        <p:spPr>
          <a:xfrm>
            <a:off x="7921419" y="1939049"/>
            <a:ext cx="11352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>
                <a:solidFill>
                  <a:srgbClr val="FF0000"/>
                </a:solidFill>
                <a:latin typeface="Verdana Pro" panose="020B0604030504040204" pitchFamily="34" charset="0"/>
              </a:rPr>
              <a:t>Q9BPY3</a:t>
            </a:r>
            <a:endParaRPr lang="en-CA" sz="1400" dirty="0">
              <a:solidFill>
                <a:srgbClr val="FF0000"/>
              </a:solidFill>
              <a:latin typeface="Verdana Pro" panose="020B0604030504040204" pitchFamily="34" charset="0"/>
            </a:endParaRP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7BD3758-FFC0-88EE-19AE-21535738F4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5086360"/>
              </p:ext>
            </p:extLst>
          </p:nvPr>
        </p:nvGraphicFramePr>
        <p:xfrm>
          <a:off x="448364" y="5095593"/>
          <a:ext cx="2782890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58079">
                  <a:extLst>
                    <a:ext uri="{9D8B030D-6E8A-4147-A177-3AD203B41FA5}">
                      <a16:colId xmlns:a16="http://schemas.microsoft.com/office/drawing/2014/main" val="1461492322"/>
                    </a:ext>
                  </a:extLst>
                </a:gridCol>
                <a:gridCol w="1624811">
                  <a:extLst>
                    <a:ext uri="{9D8B030D-6E8A-4147-A177-3AD203B41FA5}">
                      <a16:colId xmlns:a16="http://schemas.microsoft.com/office/drawing/2014/main" val="3072927139"/>
                    </a:ext>
                  </a:extLst>
                </a:gridCol>
              </a:tblGrid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System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SIR2 antiphage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5812024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PyMol RMSD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3.88 Å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7042579"/>
                  </a:ext>
                </a:extLst>
              </a:tr>
              <a:tr h="204265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</a:rPr>
                        <a:t>Aln length</a:t>
                      </a:r>
                      <a:endParaRPr lang="en-CA" sz="1200" dirty="0">
                        <a:latin typeface="Verdana Pro" panose="020B060403050404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1252 atoms</a:t>
                      </a:r>
                    </a:p>
                    <a:p>
                      <a:r>
                        <a:rPr lang="en-US" sz="1200" dirty="0">
                          <a:latin typeface="Verdana Pro" panose="020B0604030504040204" pitchFamily="34" charset="0"/>
                          <a:cs typeface="Courier New" panose="02070309020205020404" pitchFamily="49" charset="0"/>
                        </a:rPr>
                        <a:t>[66 AAs]</a:t>
                      </a:r>
                      <a:endParaRPr lang="en-CA" sz="1200" dirty="0">
                        <a:latin typeface="Verdana Pro" panose="020B0604030504040204" pitchFamily="34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461568"/>
                  </a:ext>
                </a:extLst>
              </a:tr>
            </a:tbl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AF6A182-4FF9-CFAE-0BC9-E814B90DA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0849" r="8850"/>
          <a:stretch>
            <a:fillRect/>
          </a:stretch>
        </p:blipFill>
        <p:spPr>
          <a:xfrm>
            <a:off x="219800" y="1182093"/>
            <a:ext cx="3011454" cy="2945407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7B46E29-E8BA-FD3A-1927-3AADE4609CA7}"/>
              </a:ext>
            </a:extLst>
          </p:cNvPr>
          <p:cNvSpPr/>
          <p:nvPr/>
        </p:nvSpPr>
        <p:spPr>
          <a:xfrm>
            <a:off x="1454150" y="1722761"/>
            <a:ext cx="158750" cy="93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3C8650-AB27-C535-5337-57A9A96ACB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66" t="7467" r="21790"/>
          <a:stretch>
            <a:fillRect/>
          </a:stretch>
        </p:blipFill>
        <p:spPr>
          <a:xfrm>
            <a:off x="3500153" y="365519"/>
            <a:ext cx="4302272" cy="42995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3150A87-D2FB-2BFF-5F0C-310E078D4B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3" t="6469" r="24182"/>
          <a:stretch>
            <a:fillRect/>
          </a:stretch>
        </p:blipFill>
        <p:spPr>
          <a:xfrm>
            <a:off x="7802425" y="1882485"/>
            <a:ext cx="2421147" cy="256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178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1859</TotalTime>
  <Words>895</Words>
  <Application>Microsoft Office PowerPoint</Application>
  <PresentationFormat>Widescreen</PresentationFormat>
  <Paragraphs>257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Courier New</vt:lpstr>
      <vt:lpstr>Georgia Pro</vt:lpstr>
      <vt:lpstr>Lucida Console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111</cp:revision>
  <dcterms:created xsi:type="dcterms:W3CDTF">2026-04-01T17:28:23Z</dcterms:created>
  <dcterms:modified xsi:type="dcterms:W3CDTF">2026-04-09T19:47:46Z</dcterms:modified>
</cp:coreProperties>
</file>