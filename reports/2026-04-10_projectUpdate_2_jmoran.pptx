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6" r:id="rId3"/>
    <p:sldId id="282" r:id="rId4"/>
    <p:sldId id="281" r:id="rId5"/>
    <p:sldId id="257" r:id="rId6"/>
    <p:sldId id="285" r:id="rId7"/>
    <p:sldId id="269" r:id="rId8"/>
    <p:sldId id="270" r:id="rId9"/>
    <p:sldId id="271" r:id="rId10"/>
    <p:sldId id="275" r:id="rId11"/>
    <p:sldId id="274" r:id="rId12"/>
    <p:sldId id="277" r:id="rId13"/>
    <p:sldId id="278" r:id="rId14"/>
    <p:sldId id="267" r:id="rId15"/>
    <p:sldId id="276" r:id="rId16"/>
    <p:sldId id="279" r:id="rId17"/>
    <p:sldId id="280" r:id="rId18"/>
    <p:sldId id="28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63" autoAdjust="0"/>
  </p:normalViewPr>
  <p:slideViewPr>
    <p:cSldViewPr snapToGrid="0">
      <p:cViewPr varScale="1">
        <p:scale>
          <a:sx n="74" d="100"/>
          <a:sy n="74" d="100"/>
        </p:scale>
        <p:origin x="196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Convincing domain-specific alignment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34582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Convincing domain-specific alignment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4435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 convincing; alignment length is an important qualification.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34030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Convincing structural homology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18670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5.sv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Manually curate positive control set of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pipeline frontend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incurs prioritization problem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9FD-5862-351D-6BE3-3DBBA19E9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6627BFE-8645-59B3-D0C3-3CA9AE136834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602217-6543-B35D-A4EC-34ED66C76FEB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413799-639D-EB8E-C06C-18D2C0DBA52E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59AC40-C72A-5E68-B12A-DCC9B76AB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682" r="4200"/>
          <a:stretch>
            <a:fillRect/>
          </a:stretch>
        </p:blipFill>
        <p:spPr>
          <a:xfrm>
            <a:off x="1055892" y="1355651"/>
            <a:ext cx="5255941" cy="50100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C07C6B-D750-37FF-BAB8-AC0FF56841D7}"/>
              </a:ext>
            </a:extLst>
          </p:cNvPr>
          <p:cNvSpPr txBox="1"/>
          <p:nvPr/>
        </p:nvSpPr>
        <p:spPr>
          <a:xfrm>
            <a:off x="7035441" y="3214355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the principal measure of structural similarity in Foldseek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0C93D-73AE-8A0D-3E58-D7ED60BEA928}"/>
              </a:ext>
            </a:extLst>
          </p:cNvPr>
          <p:cNvSpPr txBox="1"/>
          <p:nvPr/>
        </p:nvSpPr>
        <p:spPr>
          <a:xfrm>
            <a:off x="7035441" y="4280896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Why the discrepancy between e-value and PyMOL structural alignment?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61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C6D10-FBBF-806D-9C45-72E2D855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B68AB6-2C13-2823-21AA-598AB34CA308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05176D-3C4F-9CB5-B3AA-1CEA9CE73C25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BD03B7-105D-34B0-FD6E-F3024490F5A9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407C78F-41B8-E667-9007-3E91B02E9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682" r="4200"/>
          <a:stretch>
            <a:fillRect/>
          </a:stretch>
        </p:blipFill>
        <p:spPr>
          <a:xfrm>
            <a:off x="1055892" y="1355651"/>
            <a:ext cx="5255941" cy="50100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54293D-DC59-A0AA-383F-8FD58BCFD888}"/>
              </a:ext>
            </a:extLst>
          </p:cNvPr>
          <p:cNvSpPr txBox="1"/>
          <p:nvPr/>
        </p:nvSpPr>
        <p:spPr>
          <a:xfrm>
            <a:off x="7035441" y="3214355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the principal measure of structural similarity in Foldseek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2CD3E4-24D1-4D43-F041-EF9A1FB42534}"/>
              </a:ext>
            </a:extLst>
          </p:cNvPr>
          <p:cNvSpPr txBox="1"/>
          <p:nvPr/>
        </p:nvSpPr>
        <p:spPr>
          <a:xfrm>
            <a:off x="7035441" y="4280896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Why the discrepancy between e-value and PyMOL structural alignment?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AE3C5-C8A9-8205-DE63-38A4E28A68A9}"/>
              </a:ext>
            </a:extLst>
          </p:cNvPr>
          <p:cNvSpPr/>
          <p:nvPr/>
        </p:nvSpPr>
        <p:spPr>
          <a:xfrm>
            <a:off x="1761685" y="3585011"/>
            <a:ext cx="1282598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518C1C-E866-9FB8-D4E7-45732D4215FC}"/>
                  </a:ext>
                </a:extLst>
              </p:cNvPr>
              <p:cNvSpPr txBox="1"/>
              <p:nvPr/>
            </p:nvSpPr>
            <p:spPr>
              <a:xfrm>
                <a:off x="6386957" y="6258918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518C1C-E866-9FB8-D4E7-45732D421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957" y="6258918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7A61B5-C0D2-3BA0-F9D9-376E2934C8FF}"/>
              </a:ext>
            </a:extLst>
          </p:cNvPr>
          <p:cNvCxnSpPr>
            <a:cxnSpLocks/>
          </p:cNvCxnSpPr>
          <p:nvPr/>
        </p:nvCxnSpPr>
        <p:spPr>
          <a:xfrm>
            <a:off x="1761685" y="5773314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CE44E8-7871-EEBA-E2A9-B993E9C0C853}"/>
              </a:ext>
            </a:extLst>
          </p:cNvPr>
          <p:cNvSpPr txBox="1"/>
          <p:nvPr/>
        </p:nvSpPr>
        <p:spPr>
          <a:xfrm>
            <a:off x="2508178" y="6480192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07E280-D226-6DE5-32F1-5288A0AFDB6F}"/>
              </a:ext>
            </a:extLst>
          </p:cNvPr>
          <p:cNvCxnSpPr>
            <a:cxnSpLocks/>
          </p:cNvCxnSpPr>
          <p:nvPr/>
        </p:nvCxnSpPr>
        <p:spPr>
          <a:xfrm>
            <a:off x="5945617" y="5773856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AA386C-FFDB-06D1-A994-49924ED12A8D}"/>
              </a:ext>
            </a:extLst>
          </p:cNvPr>
          <p:cNvCxnSpPr>
            <a:cxnSpLocks/>
          </p:cNvCxnSpPr>
          <p:nvPr/>
        </p:nvCxnSpPr>
        <p:spPr>
          <a:xfrm flipH="1" flipV="1">
            <a:off x="1245543" y="1488601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B3AD220-823D-974D-A709-7A97CD6F7A1A}"/>
              </a:ext>
            </a:extLst>
          </p:cNvPr>
          <p:cNvSpPr txBox="1"/>
          <p:nvPr/>
        </p:nvSpPr>
        <p:spPr>
          <a:xfrm>
            <a:off x="134484" y="1057714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FFAC5B-4166-889A-6297-FD7FD4B4DA74}"/>
              </a:ext>
            </a:extLst>
          </p:cNvPr>
          <p:cNvCxnSpPr>
            <a:cxnSpLocks/>
          </p:cNvCxnSpPr>
          <p:nvPr/>
        </p:nvCxnSpPr>
        <p:spPr>
          <a:xfrm flipH="1" flipV="1">
            <a:off x="1051443" y="5500077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9AD1D5-175A-784F-210A-EA7E469D06B0}"/>
              </a:ext>
            </a:extLst>
          </p:cNvPr>
          <p:cNvSpPr txBox="1"/>
          <p:nvPr/>
        </p:nvSpPr>
        <p:spPr>
          <a:xfrm>
            <a:off x="122666" y="5222893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E04FEF-1EE9-16D3-0D49-DD56FC00BF5C}"/>
              </a:ext>
            </a:extLst>
          </p:cNvPr>
          <p:cNvSpPr/>
          <p:nvPr/>
        </p:nvSpPr>
        <p:spPr>
          <a:xfrm>
            <a:off x="3262680" y="1565435"/>
            <a:ext cx="2715972" cy="14900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1865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E83B44F5-91B5-3090-4FA6-2B47B8FA98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29"/>
          <a:stretch>
            <a:fillRect/>
          </a:stretch>
        </p:blipFill>
        <p:spPr>
          <a:xfrm>
            <a:off x="114304" y="1511300"/>
            <a:ext cx="3801964" cy="40894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4DC41C0-D9E7-16FB-91C8-D34E0538F6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709"/>
          <a:stretch>
            <a:fillRect/>
          </a:stretch>
        </p:blipFill>
        <p:spPr>
          <a:xfrm>
            <a:off x="8293099" y="1511300"/>
            <a:ext cx="3815029" cy="40894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6BE1EE-A485-C9FD-879C-8DC205B3B4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432"/>
          <a:stretch>
            <a:fillRect/>
          </a:stretch>
        </p:blipFill>
        <p:spPr>
          <a:xfrm>
            <a:off x="4152902" y="1511300"/>
            <a:ext cx="386729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271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B4B0AFB-FFE7-9A7B-2F17-394EE482F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6" t="59641" r="27865" b="4620"/>
          <a:stretch>
            <a:fillRect/>
          </a:stretch>
        </p:blipFill>
        <p:spPr>
          <a:xfrm>
            <a:off x="8772524" y="2742724"/>
            <a:ext cx="2019301" cy="17320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3CFE49-F1C6-2C66-ECB0-2A5C9EB619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7" t="7716" r="183" b="4529"/>
          <a:stretch>
            <a:fillRect/>
          </a:stretch>
        </p:blipFill>
        <p:spPr>
          <a:xfrm>
            <a:off x="3585442" y="512119"/>
            <a:ext cx="5140806" cy="372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407528-094B-67C7-E59F-E1CA3AA5F3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99" t="60851" r="35851" b="3410"/>
          <a:stretch>
            <a:fillRect/>
          </a:stretch>
        </p:blipFill>
        <p:spPr>
          <a:xfrm>
            <a:off x="8651879" y="452614"/>
            <a:ext cx="2019301" cy="173204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718499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38963" y="1167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3" y="5607169"/>
            <a:ext cx="718499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8267700" y="452614"/>
            <a:ext cx="1660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010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060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4984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5" y="6045500"/>
            <a:ext cx="5060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latin typeface="Verdana Pro" panose="020B0604030504040204" pitchFamily="34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8401429" y="2918317"/>
            <a:ext cx="10342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44382"/>
              </p:ext>
            </p:extLst>
          </p:nvPr>
        </p:nvGraphicFramePr>
        <p:xfrm>
          <a:off x="411929" y="4961302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494934C-AADA-807E-DCC0-6A6F2A976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1" t="59941" r="38054" b="3682"/>
          <a:stretch>
            <a:fillRect/>
          </a:stretch>
        </p:blipFill>
        <p:spPr>
          <a:xfrm>
            <a:off x="8254390" y="2746454"/>
            <a:ext cx="1760830" cy="19143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B9B67B6-0446-6666-8D67-7D8E7E8DB8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8" t="59941" r="35667"/>
          <a:stretch>
            <a:fillRect/>
          </a:stretch>
        </p:blipFill>
        <p:spPr>
          <a:xfrm>
            <a:off x="7926935" y="620089"/>
            <a:ext cx="2256230" cy="210812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69849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961" r="11111"/>
          <a:stretch>
            <a:fillRect/>
          </a:stretch>
        </p:blipFill>
        <p:spPr>
          <a:xfrm>
            <a:off x="313877" y="1501316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A0A5B8XTL3 [M. marinus]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69849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7727496" y="669509"/>
            <a:ext cx="164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4921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5" y="5866698"/>
            <a:ext cx="4708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5" y="6045500"/>
            <a:ext cx="4978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latin typeface="Verdana Pro" panose="020B0604030504040204" pitchFamily="34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7972575" y="2707018"/>
            <a:ext cx="1505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692871"/>
              </p:ext>
            </p:extLst>
          </p:nvPr>
        </p:nvGraphicFramePr>
        <p:xfrm>
          <a:off x="486843" y="4932583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214880" y="3610408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F453C3-7C58-7772-1638-F7BAF91DA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819" y="756099"/>
            <a:ext cx="5317903" cy="39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32724986-C337-7545-45C8-EDD49ABA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16" t="62018" r="30381" b="12984"/>
          <a:stretch>
            <a:fillRect/>
          </a:stretch>
        </p:blipFill>
        <p:spPr>
          <a:xfrm>
            <a:off x="7853800" y="1108453"/>
            <a:ext cx="3034895" cy="16026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D1DA5C-5D00-7D2B-8D8A-525BE8E74C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0" t="59666" r="44725" b="9516"/>
          <a:stretch>
            <a:fillRect/>
          </a:stretch>
        </p:blipFill>
        <p:spPr>
          <a:xfrm>
            <a:off x="7922252" y="2381542"/>
            <a:ext cx="1733142" cy="1975789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3" y="4415915"/>
            <a:ext cx="7442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961" r="11111"/>
          <a:stretch>
            <a:fillRect/>
          </a:stretch>
        </p:blipFill>
        <p:spPr>
          <a:xfrm>
            <a:off x="276405" y="1081718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44111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A0A4Y6RC84 [J. tructae]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52985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3" y="5273794"/>
            <a:ext cx="7442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6279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8302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unreviewed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5" y="5533323"/>
            <a:ext cx="50323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8335930" y="260564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61072"/>
              </p:ext>
            </p:extLst>
          </p:nvPr>
        </p:nvGraphicFramePr>
        <p:xfrm>
          <a:off x="362888" y="4647043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341697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8467548" y="73881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3227FA-4A37-A558-9DEB-DAB326CBF1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14" t="25149" r="11826" b="20684"/>
          <a:stretch>
            <a:fillRect/>
          </a:stretch>
        </p:blipFill>
        <p:spPr>
          <a:xfrm>
            <a:off x="3232261" y="863012"/>
            <a:ext cx="4972051" cy="321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014C88-8AC4-6AE7-605B-0BF554056B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15" t="7520" r="21094" b="15745"/>
          <a:stretch>
            <a:fillRect/>
          </a:stretch>
        </p:blipFill>
        <p:spPr>
          <a:xfrm>
            <a:off x="3533804" y="455645"/>
            <a:ext cx="4386432" cy="3696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FCA25C-C618-51FB-36CB-E534671EDB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86" t="60028" r="35785" b="5597"/>
          <a:stretch>
            <a:fillRect/>
          </a:stretch>
        </p:blipFill>
        <p:spPr>
          <a:xfrm>
            <a:off x="7939286" y="500618"/>
            <a:ext cx="2193512" cy="18403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FBD10F-DC06-DA84-984A-2FCA404A54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94" t="57483" r="37761" b="5555"/>
          <a:stretch>
            <a:fillRect/>
          </a:stretch>
        </p:blipFill>
        <p:spPr>
          <a:xfrm>
            <a:off x="8893066" y="2057621"/>
            <a:ext cx="1152525" cy="1978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6746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9961" r="11111"/>
          <a:stretch>
            <a:fillRect/>
          </a:stretch>
        </p:blipFill>
        <p:spPr>
          <a:xfrm>
            <a:off x="261242" y="1158179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3" y="5104323"/>
            <a:ext cx="6746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6905625" y="45807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029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07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0863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8372475" y="2243217"/>
            <a:ext cx="1045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63635"/>
              </p:ext>
            </p:extLst>
          </p:nvPr>
        </p:nvGraphicFramePr>
        <p:xfrm>
          <a:off x="434208" y="4445374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23674" y="2154697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366B7-A273-F1D9-1418-E8528A16271B}"/>
              </a:ext>
            </a:extLst>
          </p:cNvPr>
          <p:cNvSpPr/>
          <p:nvPr/>
        </p:nvSpPr>
        <p:spPr>
          <a:xfrm>
            <a:off x="1583473" y="2154697"/>
            <a:ext cx="1137425" cy="16212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D6ED56-73BF-A3C3-C3B6-D263A8EE0B80}"/>
              </a:ext>
            </a:extLst>
          </p:cNvPr>
          <p:cNvSpPr/>
          <p:nvPr/>
        </p:nvSpPr>
        <p:spPr>
          <a:xfrm>
            <a:off x="1076122" y="2154696"/>
            <a:ext cx="484360" cy="90073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Curating a positive control set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Positive control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801861"/>
              </p:ext>
            </p:extLst>
          </p:nvPr>
        </p:nvGraphicFramePr>
        <p:xfrm>
          <a:off x="181153" y="2618867"/>
          <a:ext cx="647625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1354348">
                  <a:extLst>
                    <a:ext uri="{9D8B030D-6E8A-4147-A177-3AD203B41FA5}">
                      <a16:colId xmlns:a16="http://schemas.microsoft.com/office/drawing/2014/main" val="165409373"/>
                    </a:ext>
                  </a:extLst>
                </a:gridCol>
                <a:gridCol w="1509622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1270553">
                  <a:extLst>
                    <a:ext uri="{9D8B030D-6E8A-4147-A177-3AD203B41FA5}">
                      <a16:colId xmlns:a16="http://schemas.microsoft.com/office/drawing/2014/main" val="3918155899"/>
                    </a:ext>
                  </a:extLst>
                </a:gridCol>
                <a:gridCol w="1427336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Q6XGD5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G2SLH8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Q9BPY3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Q96EB6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Q8IXJ6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Q9Y6E7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Q9NXA8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Q8N6T7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Q9NRC8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A0A1H0NKS3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P0DW49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D5EID4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A0A1S1YUU1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A0A110A2W7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A0A1M7D0R2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A0A244CMP0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81153" y="6214237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7242865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7242864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7039691" y="58675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6640705" y="208066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075749"/>
              </p:ext>
            </p:extLst>
          </p:nvPr>
        </p:nvGraphicFramePr>
        <p:xfrm>
          <a:off x="334082" y="4722579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105518" y="894529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609618" y="997688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665F2-2467-7F1C-7B6C-40CFBA21E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95" t="18994" r="28632" b="11516"/>
          <a:stretch>
            <a:fillRect/>
          </a:stretch>
        </p:blipFill>
        <p:spPr>
          <a:xfrm>
            <a:off x="3840219" y="460159"/>
            <a:ext cx="4109981" cy="398341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CDA7D12-0464-48D9-38EE-19DEF771E4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09" t="67171" r="37259"/>
          <a:stretch>
            <a:fillRect/>
          </a:stretch>
        </p:blipFill>
        <p:spPr>
          <a:xfrm>
            <a:off x="7824207" y="2043615"/>
            <a:ext cx="2972164" cy="235820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0B3C77-5F6E-1991-4200-9D9E25584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47" t="73289" r="39931" b="-63"/>
          <a:stretch>
            <a:fillRect/>
          </a:stretch>
        </p:blipFill>
        <p:spPr>
          <a:xfrm>
            <a:off x="8372475" y="604065"/>
            <a:ext cx="2128368" cy="192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74453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Q6XGD5 [E. coli][cdnE]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3" y="5619753"/>
            <a:ext cx="74453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6582804" y="439278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6582805" y="21108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270993"/>
              </p:ext>
            </p:extLst>
          </p:nvPr>
        </p:nvGraphicFramePr>
        <p:xfrm>
          <a:off x="448364" y="511683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219800" y="13852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16610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7FE4B-2CC6-3D45-48A6-471835C06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6" r="22135" b="13290"/>
          <a:stretch>
            <a:fillRect/>
          </a:stretch>
        </p:blipFill>
        <p:spPr>
          <a:xfrm>
            <a:off x="3425869" y="568235"/>
            <a:ext cx="4367510" cy="4064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C65CB3-2FEF-EABD-3D6A-BC88643002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23" t="69182" r="39358"/>
          <a:stretch>
            <a:fillRect/>
          </a:stretch>
        </p:blipFill>
        <p:spPr>
          <a:xfrm>
            <a:off x="8372475" y="360362"/>
            <a:ext cx="1740245" cy="196027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18336F-2397-0EF1-4EBA-A626ED12BB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95" t="60625" r="38916"/>
          <a:stretch>
            <a:fillRect/>
          </a:stretch>
        </p:blipFill>
        <p:spPr>
          <a:xfrm>
            <a:off x="7582618" y="2005014"/>
            <a:ext cx="2560363" cy="250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D7CA461C-AB95-3E4B-73EB-87FFCB666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48" t="66578" r="34644"/>
          <a:stretch>
            <a:fillRect/>
          </a:stretch>
        </p:blipFill>
        <p:spPr>
          <a:xfrm>
            <a:off x="8071324" y="2349284"/>
            <a:ext cx="2790765" cy="231574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7789866" y="392858"/>
            <a:ext cx="1266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7000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3" y="5619753"/>
            <a:ext cx="7000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494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7921419" y="1939049"/>
            <a:ext cx="11352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086360"/>
              </p:ext>
            </p:extLst>
          </p:nvPr>
        </p:nvGraphicFramePr>
        <p:xfrm>
          <a:off x="448364" y="509559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0849" r="8850"/>
          <a:stretch>
            <a:fillRect/>
          </a:stretch>
        </p:blipFill>
        <p:spPr>
          <a:xfrm>
            <a:off x="219800" y="11820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7227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C8650-AB27-C535-5337-57A9A96AC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6" t="7467" r="21790"/>
          <a:stretch>
            <a:fillRect/>
          </a:stretch>
        </p:blipFill>
        <p:spPr>
          <a:xfrm>
            <a:off x="3500153" y="365519"/>
            <a:ext cx="4302272" cy="4299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9C0F12-5F8D-F474-1E8D-B708B6BFAE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55" t="74322" r="36286" b="4700"/>
          <a:stretch>
            <a:fillRect/>
          </a:stretch>
        </p:blipFill>
        <p:spPr>
          <a:xfrm>
            <a:off x="8174388" y="743943"/>
            <a:ext cx="2527485" cy="145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18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3CC149-56F8-D0FE-FDF7-2E8A44BE12F1}"/>
              </a:ext>
            </a:extLst>
          </p:cNvPr>
          <p:cNvSpPr txBox="1"/>
          <p:nvPr/>
        </p:nvSpPr>
        <p:spPr>
          <a:xfrm>
            <a:off x="863600" y="1528457"/>
            <a:ext cx="9272016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Work with V Furlan to further develop composite score for protein pair prioritization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Use V Furlan's pipeline frontend to conduct prioritization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develop Blastp canonical protein flagger tool and integrate with frontend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Work with V Furlan to get a gene list by next meeting (1 - 2 months)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B01CEC-11C5-581C-E64C-95DD1E05A5CC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CAB3A2-9926-3BC4-CE71-F9A9183C5B7A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2269</TotalTime>
  <Words>1071</Words>
  <Application>Microsoft Office PowerPoint</Application>
  <PresentationFormat>Widescreen</PresentationFormat>
  <Paragraphs>289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143</cp:revision>
  <dcterms:created xsi:type="dcterms:W3CDTF">2026-04-01T17:28:23Z</dcterms:created>
  <dcterms:modified xsi:type="dcterms:W3CDTF">2026-04-10T20:51:30Z</dcterms:modified>
</cp:coreProperties>
</file>