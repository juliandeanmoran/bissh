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6" r:id="rId3"/>
    <p:sldId id="272" r:id="rId4"/>
    <p:sldId id="257" r:id="rId5"/>
    <p:sldId id="269" r:id="rId6"/>
    <p:sldId id="270" r:id="rId7"/>
    <p:sldId id="271" r:id="rId8"/>
    <p:sldId id="275" r:id="rId9"/>
    <p:sldId id="274" r:id="rId10"/>
    <p:sldId id="277" r:id="rId11"/>
    <p:sldId id="278" r:id="rId12"/>
    <p:sldId id="267" r:id="rId13"/>
    <p:sldId id="276" r:id="rId14"/>
    <p:sldId id="279" r:id="rId15"/>
    <p:sldId id="28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926E"/>
    <a:srgbClr val="0162B3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915" autoAdjust="0"/>
  </p:normalViewPr>
  <p:slideViewPr>
    <p:cSldViewPr snapToGrid="0">
      <p:cViewPr>
        <p:scale>
          <a:sx n="100" d="100"/>
          <a:sy n="100" d="100"/>
        </p:scale>
        <p:origin x="9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Manually curate positive control set of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89DF-987B-2A7F-4626-B4E08794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292F4919-8567-DB6E-55ED-474C8E40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001313-65AD-9DB7-0BD3-1EB7FF747852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A7A31-E022-1369-F8F6-D2ABFBE6FD69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4B163-8567-7BFB-C8D0-1B3990F811D6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09A3A-4238-29FE-0EE9-85349C94DDF6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6A21C-F8E0-979D-4C78-5AD8F626206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40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20195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A1410C-3E75-3DA4-B14E-C13268097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460" y="405443"/>
            <a:ext cx="3068612" cy="254134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372D3B-10A7-BA1C-E1C1-2FF420E6F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60" y="2946790"/>
            <a:ext cx="3068611" cy="27915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76405" y="405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5E2953-C92B-DD97-A158-9DF0CD353A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405443"/>
            <a:ext cx="5171306" cy="43390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114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99706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9B9206-4383-222B-653B-DC4D92132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809" y="2574759"/>
            <a:ext cx="3052737" cy="28761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8B2DC9-11AE-F408-0C77-180D3EB66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09" y="114300"/>
            <a:ext cx="3059385" cy="24604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 [M. marinus]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9394672" y="10699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4" y="5866698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9394672" y="251503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456144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176780" y="2515033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418ABC-1873-F644-A689-9C5929950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114300"/>
            <a:ext cx="5168872" cy="463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B619D5C-1957-C731-D7C7-99ABC25BBDD9}"/>
              </a:ext>
            </a:extLst>
          </p:cNvPr>
          <p:cNvSpPr/>
          <p:nvPr/>
        </p:nvSpPr>
        <p:spPr>
          <a:xfrm>
            <a:off x="8711460" y="2785987"/>
            <a:ext cx="3059085" cy="262797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4" y="3920615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39158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 [J. tructae]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48032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4" y="4778494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1326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3349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4" y="5038023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9349397" y="278598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028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275022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BDC0A7-B788-0015-0D36-BD5E1319F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372" y="559331"/>
            <a:ext cx="5162279" cy="3348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1AB855-A635-3FCC-D993-3997626F1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60" y="559331"/>
            <a:ext cx="3062834" cy="224512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9349398" y="559331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13C82C-7182-409C-E2EA-E67D63249E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7237" y="2783050"/>
            <a:ext cx="2069389" cy="259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ECFF34D-EF51-9242-5410-5F51BAC36330}"/>
              </a:ext>
            </a:extLst>
          </p:cNvPr>
          <p:cNvSpPr/>
          <p:nvPr/>
        </p:nvSpPr>
        <p:spPr>
          <a:xfrm>
            <a:off x="8711459" y="405442"/>
            <a:ext cx="3059085" cy="239175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A8A3A6-B805-4754-949B-A2994CFE8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902" y="405442"/>
            <a:ext cx="2823973" cy="238845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E82F74D-D5FE-D9CF-114A-0F5783339A1D}"/>
              </a:ext>
            </a:extLst>
          </p:cNvPr>
          <p:cNvSpPr/>
          <p:nvPr/>
        </p:nvSpPr>
        <p:spPr>
          <a:xfrm>
            <a:off x="8711460" y="2785987"/>
            <a:ext cx="3059085" cy="316372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430691-1876-0115-553C-DEAE38981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05"/>
          <a:stretch>
            <a:fillRect/>
          </a:stretch>
        </p:blipFill>
        <p:spPr>
          <a:xfrm>
            <a:off x="8711460" y="2946791"/>
            <a:ext cx="2934109" cy="3002921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4" y="510432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1649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874521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38837" y="1401961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0F643-970A-26FF-175C-D976A558A2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405443"/>
            <a:ext cx="5171304" cy="381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9E216-7F09-313F-5677-BFC8F304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F58D43-2BF7-3E2C-D998-E51F09ABC191}"/>
              </a:ext>
            </a:extLst>
          </p:cNvPr>
          <p:cNvSpPr txBox="1"/>
          <p:nvPr/>
        </p:nvSpPr>
        <p:spPr>
          <a:xfrm>
            <a:off x="1047504" y="8897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Curating a positive control set of homologous bacterial-human protein pairs from high-impact literature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B90585-0040-3FBD-8C49-2A58A5C3C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71206"/>
              </p:ext>
            </p:extLst>
          </p:nvPr>
        </p:nvGraphicFramePr>
        <p:xfrm>
          <a:off x="1288804" y="3429000"/>
          <a:ext cx="3372096" cy="2255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Experimental 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bacterial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 in new organism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40798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perform functional assay proving bacterial immune system action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9055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647ED3-0B8A-D494-D0B1-8E84549A8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404553"/>
              </p:ext>
            </p:extLst>
          </p:nvPr>
        </p:nvGraphicFramePr>
        <p:xfrm>
          <a:off x="5606804" y="3429000"/>
          <a:ext cx="3372096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Homology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human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 convincing evidence of sequence or structure homology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818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168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Positive control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801861"/>
              </p:ext>
            </p:extLst>
          </p:nvPr>
        </p:nvGraphicFramePr>
        <p:xfrm>
          <a:off x="181153" y="2618867"/>
          <a:ext cx="647625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4399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1354348">
                  <a:extLst>
                    <a:ext uri="{9D8B030D-6E8A-4147-A177-3AD203B41FA5}">
                      <a16:colId xmlns:a16="http://schemas.microsoft.com/office/drawing/2014/main" val="165409373"/>
                    </a:ext>
                  </a:extLst>
                </a:gridCol>
                <a:gridCol w="1509622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1270553">
                  <a:extLst>
                    <a:ext uri="{9D8B030D-6E8A-4147-A177-3AD203B41FA5}">
                      <a16:colId xmlns:a16="http://schemas.microsoft.com/office/drawing/2014/main" val="3918155899"/>
                    </a:ext>
                  </a:extLst>
                </a:gridCol>
                <a:gridCol w="1427336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Q6XGD5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G2SLH8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Q9BPY3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Q96EB6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Q8IXJ6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Q9Y6E7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Q9NXA8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Q8N6T7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Q9NRC8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A0A1H0NKS3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P0DW49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D5EID4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A0A1S1YUU1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A0A110A2W7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A0A1M7D0R2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A0A244CMP0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8762017" y="6258617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7A16E8-B5E1-C5E3-E508-1CB08B5FBD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6931613" y="1587259"/>
            <a:ext cx="4559865" cy="445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447846"/>
            <a:ext cx="7242865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443083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A0A1S1YUU1 [F. pacifica][vip47]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330512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Q8WXG1 [H. sapiens][RSAD2]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305725"/>
            <a:ext cx="7242864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7039691" y="586752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659858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confers resistance to phage P1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8781" y="5565254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interferon-inducible antiviral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47827" y="5744056"/>
            <a:ext cx="5078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initiates pathway to repress RNA 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6640705" y="208066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075749"/>
              </p:ext>
            </p:extLst>
          </p:nvPr>
        </p:nvGraphicFramePr>
        <p:xfrm>
          <a:off x="334082" y="4722579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Vipirin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0.89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1423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[75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C580C62-E4AB-4F46-7942-18AC8424A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105518" y="894529"/>
            <a:ext cx="3011454" cy="29454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0CA59B-CC7E-D170-4365-9D00A04D14C8}"/>
              </a:ext>
            </a:extLst>
          </p:cNvPr>
          <p:cNvSpPr/>
          <p:nvPr/>
        </p:nvSpPr>
        <p:spPr>
          <a:xfrm>
            <a:off x="609618" y="997688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B2F44B-8358-1567-FCC1-1319D17054EF}"/>
              </a:ext>
            </a:extLst>
          </p:cNvPr>
          <p:cNvSpPr txBox="1"/>
          <p:nvPr/>
        </p:nvSpPr>
        <p:spPr>
          <a:xfrm>
            <a:off x="3590957" y="4839476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represses T7 RNA-polymerase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665F2-2467-7F1C-7B6C-40CFBA21E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95" t="18994" r="28632" b="11516"/>
          <a:stretch>
            <a:fillRect/>
          </a:stretch>
        </p:blipFill>
        <p:spPr>
          <a:xfrm>
            <a:off x="3840219" y="460159"/>
            <a:ext cx="4109981" cy="398341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CDA7D12-0464-48D9-38EE-19DEF771E4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09" t="67171" r="37259"/>
          <a:stretch>
            <a:fillRect/>
          </a:stretch>
        </p:blipFill>
        <p:spPr>
          <a:xfrm>
            <a:off x="7824207" y="2043615"/>
            <a:ext cx="2972164" cy="235820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0B3C77-5F6E-1991-4200-9D9E255847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47" t="73289" r="39931" b="-63"/>
          <a:stretch>
            <a:fillRect/>
          </a:stretch>
        </p:blipFill>
        <p:spPr>
          <a:xfrm>
            <a:off x="8372475" y="604065"/>
            <a:ext cx="2128368" cy="192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5337-A1A9-09A2-FDE4-7696368E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2599B7-D838-FDFF-8B87-B69F97760476}"/>
              </a:ext>
            </a:extLst>
          </p:cNvPr>
          <p:cNvSpPr/>
          <p:nvPr/>
        </p:nvSpPr>
        <p:spPr>
          <a:xfrm>
            <a:off x="3540154" y="4761874"/>
            <a:ext cx="74453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3B0A3-8D80-DC7F-37F6-BADD830D5CAB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Q6XGD5 [E. coli][cdnE]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05969E-BA91-1E8F-3740-1C4EBCE5EB28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Q8N884 [H. sapiens][CGAS]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63E170-939F-9687-F701-832A6C5E8A7E}"/>
              </a:ext>
            </a:extLst>
          </p:cNvPr>
          <p:cNvSpPr/>
          <p:nvPr/>
        </p:nvSpPr>
        <p:spPr>
          <a:xfrm>
            <a:off x="3540153" y="5619753"/>
            <a:ext cx="74453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8A91DA-7491-BECE-5A94-ED7ED4100471}"/>
              </a:ext>
            </a:extLst>
          </p:cNvPr>
          <p:cNvSpPr txBox="1"/>
          <p:nvPr/>
        </p:nvSpPr>
        <p:spPr>
          <a:xfrm>
            <a:off x="6582804" y="439278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Q6XGD5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4F3F6C-FACB-BB70-E369-56D6801E91D9}"/>
              </a:ext>
            </a:extLst>
          </p:cNvPr>
          <p:cNvSpPr txBox="1"/>
          <p:nvPr/>
        </p:nvSpPr>
        <p:spPr>
          <a:xfrm>
            <a:off x="3590958" y="4973886"/>
            <a:ext cx="51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Cyclic nucleotide synthase (second messenger synthesis) in CBASS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B4D5A-77F8-7F70-776B-9183BB442DE5}"/>
              </a:ext>
            </a:extLst>
          </p:cNvPr>
          <p:cNvSpPr txBox="1"/>
          <p:nvPr/>
        </p:nvSpPr>
        <p:spPr>
          <a:xfrm>
            <a:off x="3548781" y="5879282"/>
            <a:ext cx="4982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nucleotidyltransferase catalyzing formation of cyclic GMP-AMP; plays role in innate immunity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F06483-848C-7C5D-27F2-45278FA99187}"/>
              </a:ext>
            </a:extLst>
          </p:cNvPr>
          <p:cNvSpPr txBox="1"/>
          <p:nvPr/>
        </p:nvSpPr>
        <p:spPr>
          <a:xfrm>
            <a:off x="6582805" y="21108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Q8N884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B5E299E-F9C4-86A8-9515-04FA20C80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270993"/>
              </p:ext>
            </p:extLst>
          </p:nvPr>
        </p:nvGraphicFramePr>
        <p:xfrm>
          <a:off x="448364" y="511683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CBASS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5.53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1385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[73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3D7881BF-EBA7-A1A0-8F19-0FD5880F2F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219800" y="13852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5DBEF63E-33ED-8D98-5B30-F4F5C5956DEA}"/>
              </a:ext>
            </a:extLst>
          </p:cNvPr>
          <p:cNvSpPr/>
          <p:nvPr/>
        </p:nvSpPr>
        <p:spPr>
          <a:xfrm>
            <a:off x="1860550" y="1661056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7FE4B-2CC6-3D45-48A6-471835C06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6" r="22135" b="13290"/>
          <a:stretch>
            <a:fillRect/>
          </a:stretch>
        </p:blipFill>
        <p:spPr>
          <a:xfrm>
            <a:off x="3425869" y="568235"/>
            <a:ext cx="4367510" cy="4064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8C65CB3-2FEF-EABD-3D6A-BC88643002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23" t="69182" r="39358"/>
          <a:stretch>
            <a:fillRect/>
          </a:stretch>
        </p:blipFill>
        <p:spPr>
          <a:xfrm>
            <a:off x="8372475" y="360362"/>
            <a:ext cx="1740245" cy="196027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18336F-2397-0EF1-4EBA-A626ED12BB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95" t="60625" r="38916"/>
          <a:stretch>
            <a:fillRect/>
          </a:stretch>
        </p:blipFill>
        <p:spPr>
          <a:xfrm>
            <a:off x="7582618" y="2005014"/>
            <a:ext cx="2560363" cy="2504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318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52B96-FB69-526B-80F1-486BE51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D7CA461C-AB95-3E4B-73EB-87FFCB666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48" t="66578" r="34644"/>
          <a:stretch>
            <a:fillRect/>
          </a:stretch>
        </p:blipFill>
        <p:spPr>
          <a:xfrm>
            <a:off x="8071324" y="2349284"/>
            <a:ext cx="2790765" cy="231574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B15CA2F-4F07-6703-1917-EF06DBBCDC7C}"/>
              </a:ext>
            </a:extLst>
          </p:cNvPr>
          <p:cNvSpPr txBox="1"/>
          <p:nvPr/>
        </p:nvSpPr>
        <p:spPr>
          <a:xfrm>
            <a:off x="7789866" y="392858"/>
            <a:ext cx="1266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J8G6Z1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7B76DD-E0D2-F564-E423-3A77E5A1E798}"/>
              </a:ext>
            </a:extLst>
          </p:cNvPr>
          <p:cNvSpPr/>
          <p:nvPr/>
        </p:nvSpPr>
        <p:spPr>
          <a:xfrm>
            <a:off x="3540154" y="4761874"/>
            <a:ext cx="70008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D4D55-792F-E6CB-7F48-9704C1D9C701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J8G6Z1 [B. cereus][thsA]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00AA5-4C4C-00DF-4E9A-AAF9B5650E0D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Q9BPY3 [H. sapiens][FAM118B]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BE26-53CA-8612-2BF2-34D7549440C7}"/>
              </a:ext>
            </a:extLst>
          </p:cNvPr>
          <p:cNvSpPr/>
          <p:nvPr/>
        </p:nvSpPr>
        <p:spPr>
          <a:xfrm>
            <a:off x="3540153" y="5619753"/>
            <a:ext cx="70008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696AAF-EF99-A7A2-3A32-7483C0EF0E63}"/>
              </a:ext>
            </a:extLst>
          </p:cNvPr>
          <p:cNvSpPr txBox="1"/>
          <p:nvPr/>
        </p:nvSpPr>
        <p:spPr>
          <a:xfrm>
            <a:off x="3590958" y="4973886"/>
            <a:ext cx="494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NAD+ hydrolyzing component (NADase) of Thoeris antiviral defense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9CF23C-ACC0-0A61-1F9A-D137D7927C64}"/>
              </a:ext>
            </a:extLst>
          </p:cNvPr>
          <p:cNvSpPr txBox="1"/>
          <p:nvPr/>
        </p:nvSpPr>
        <p:spPr>
          <a:xfrm>
            <a:off x="3548781" y="5879282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Cajal body regulation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7BDDA1-243D-C75E-752F-BCD63BCB3EF9}"/>
              </a:ext>
            </a:extLst>
          </p:cNvPr>
          <p:cNvSpPr txBox="1"/>
          <p:nvPr/>
        </p:nvSpPr>
        <p:spPr>
          <a:xfrm>
            <a:off x="7921419" y="1939049"/>
            <a:ext cx="11352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Q9BPY3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7BD3758-FFC0-88EE-19AE-21535738F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086360"/>
              </p:ext>
            </p:extLst>
          </p:nvPr>
        </p:nvGraphicFramePr>
        <p:xfrm>
          <a:off x="448364" y="509559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SIR2 antiphage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3.88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1252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[66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9AF6A182-4FF9-CFAE-0BC9-E814B90DA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0849" r="8850"/>
          <a:stretch>
            <a:fillRect/>
          </a:stretch>
        </p:blipFill>
        <p:spPr>
          <a:xfrm>
            <a:off x="219800" y="11820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7B46E29-E8BA-FD3A-1927-3AADE4609CA7}"/>
              </a:ext>
            </a:extLst>
          </p:cNvPr>
          <p:cNvSpPr/>
          <p:nvPr/>
        </p:nvSpPr>
        <p:spPr>
          <a:xfrm>
            <a:off x="1454150" y="1722761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3C8650-AB27-C535-5337-57A9A96ACB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66" t="7467" r="21790"/>
          <a:stretch>
            <a:fillRect/>
          </a:stretch>
        </p:blipFill>
        <p:spPr>
          <a:xfrm>
            <a:off x="3500153" y="365519"/>
            <a:ext cx="4302272" cy="4299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69C0F12-5F8D-F474-1E8D-B708B6BFAE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55" t="74322" r="36286" b="4700"/>
          <a:stretch>
            <a:fillRect/>
          </a:stretch>
        </p:blipFill>
        <p:spPr>
          <a:xfrm>
            <a:off x="8174388" y="743943"/>
            <a:ext cx="2527485" cy="1453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17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1864</TotalTime>
  <Words>895</Words>
  <Application>Microsoft Office PowerPoint</Application>
  <PresentationFormat>Widescreen</PresentationFormat>
  <Paragraphs>257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113</cp:revision>
  <dcterms:created xsi:type="dcterms:W3CDTF">2026-04-01T17:28:23Z</dcterms:created>
  <dcterms:modified xsi:type="dcterms:W3CDTF">2026-04-09T19:52:59Z</dcterms:modified>
</cp:coreProperties>
</file>