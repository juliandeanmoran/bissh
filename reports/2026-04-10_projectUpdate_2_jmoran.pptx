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66" r:id="rId3"/>
    <p:sldId id="282" r:id="rId4"/>
    <p:sldId id="281" r:id="rId5"/>
    <p:sldId id="257" r:id="rId6"/>
    <p:sldId id="285" r:id="rId7"/>
    <p:sldId id="269" r:id="rId8"/>
    <p:sldId id="270" r:id="rId9"/>
    <p:sldId id="271" r:id="rId10"/>
    <p:sldId id="275" r:id="rId11"/>
    <p:sldId id="274" r:id="rId12"/>
    <p:sldId id="277" r:id="rId13"/>
    <p:sldId id="278" r:id="rId14"/>
    <p:sldId id="267" r:id="rId15"/>
    <p:sldId id="276" r:id="rId16"/>
    <p:sldId id="279" r:id="rId17"/>
    <p:sldId id="280" r:id="rId18"/>
    <p:sldId id="28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926E"/>
    <a:srgbClr val="0162B3"/>
    <a:srgbClr val="EEEEEE"/>
    <a:srgbClr val="0000FF"/>
    <a:srgbClr val="0000A5"/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763" autoAdjust="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Convincing domain-specific alignment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434582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Convincing domain-specific alignment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44351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 convincing; alignment length is an important qualification.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34030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Convincing structural homology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418670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BD46-A852-83BD-0DE7-6BBA1991F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405E-D449-2FC1-FD38-066244525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8563D2-F3B9-D0B3-A97A-FD0888FD5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A25-DAD5-3C59-76BD-35850174D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8320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5.sv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2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2026-04-10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033157"/>
            <a:ext cx="9272016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Manually curate positive control set of bacteria-human protein pairs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purpose: to serve as positive control in subsequent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  <a:endParaRPr lang="en-US" dirty="0">
              <a:latin typeface="Georgia Pro" panose="02040502050405020303" pitchFamily="18" charset="0"/>
            </a:endParaRP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Build pipeline frontend user interface for interactive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target users: C Trost lab, J Moran, bacterial protein research community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features: structural alignment visualization, sequence alignment visualization, domain annotation overlay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Run pipeline on all bacterial defense systems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incurs prioritization problem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9FD-5862-351D-6BE3-3DBBA19E9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6627BFE-8645-59B3-D0C3-3CA9AE136834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602217-6543-B35D-A4EC-34ED66C76FEB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413799-639D-EB8E-C06C-18D2C0DBA52E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D59AC40-C72A-5E68-B12A-DCC9B76AB5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682" r="4200"/>
          <a:stretch>
            <a:fillRect/>
          </a:stretch>
        </p:blipFill>
        <p:spPr>
          <a:xfrm>
            <a:off x="1055892" y="1355651"/>
            <a:ext cx="5255941" cy="50100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C07C6B-D750-37FF-BAB8-AC0FF56841D7}"/>
              </a:ext>
            </a:extLst>
          </p:cNvPr>
          <p:cNvSpPr txBox="1"/>
          <p:nvPr/>
        </p:nvSpPr>
        <p:spPr>
          <a:xfrm>
            <a:off x="7035441" y="3214355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the principal measure of structural similarity in Foldseek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D0C93D-73AE-8A0D-3E58-D7ED60BEA928}"/>
              </a:ext>
            </a:extLst>
          </p:cNvPr>
          <p:cNvSpPr txBox="1"/>
          <p:nvPr/>
        </p:nvSpPr>
        <p:spPr>
          <a:xfrm>
            <a:off x="7035441" y="4280896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Why the discrepancy between e-value and PyMOL structural alignment?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661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C6D10-FBBF-806D-9C45-72E2D855F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BB68AB6-2C13-2823-21AA-598AB34CA308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05176D-3C4F-9CB5-B3AA-1CEA9CE73C25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BD03B7-105D-34B0-FD6E-F3024490F5A9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407C78F-41B8-E667-9007-3E91B02E90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682" r="4200"/>
          <a:stretch>
            <a:fillRect/>
          </a:stretch>
        </p:blipFill>
        <p:spPr>
          <a:xfrm>
            <a:off x="1055892" y="1355651"/>
            <a:ext cx="5255941" cy="50100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54293D-DC59-A0AA-383F-8FD58BCFD888}"/>
              </a:ext>
            </a:extLst>
          </p:cNvPr>
          <p:cNvSpPr txBox="1"/>
          <p:nvPr/>
        </p:nvSpPr>
        <p:spPr>
          <a:xfrm>
            <a:off x="7035441" y="3214355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the principal measure of structural similarity in Foldseek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2CD3E4-24D1-4D43-F041-EF9A1FB42534}"/>
              </a:ext>
            </a:extLst>
          </p:cNvPr>
          <p:cNvSpPr txBox="1"/>
          <p:nvPr/>
        </p:nvSpPr>
        <p:spPr>
          <a:xfrm>
            <a:off x="7035441" y="4280896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Why the discrepancy between e-value and PyMOL structural alignment?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4AE3C5-C8A9-8205-DE63-38A4E28A68A9}"/>
              </a:ext>
            </a:extLst>
          </p:cNvPr>
          <p:cNvSpPr/>
          <p:nvPr/>
        </p:nvSpPr>
        <p:spPr>
          <a:xfrm>
            <a:off x="1761685" y="3585011"/>
            <a:ext cx="1282598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7518C1C-E866-9FB8-D4E7-45732D4215FC}"/>
                  </a:ext>
                </a:extLst>
              </p:cNvPr>
              <p:cNvSpPr txBox="1"/>
              <p:nvPr/>
            </p:nvSpPr>
            <p:spPr>
              <a:xfrm>
                <a:off x="6386957" y="6258918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7518C1C-E866-9FB8-D4E7-45732D421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6957" y="6258918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E7A61B5-C0D2-3BA0-F9D9-376E2934C8FF}"/>
              </a:ext>
            </a:extLst>
          </p:cNvPr>
          <p:cNvCxnSpPr>
            <a:cxnSpLocks/>
          </p:cNvCxnSpPr>
          <p:nvPr/>
        </p:nvCxnSpPr>
        <p:spPr>
          <a:xfrm>
            <a:off x="1761685" y="5773314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2CE44E8-7871-EEBA-E2A9-B993E9C0C853}"/>
              </a:ext>
            </a:extLst>
          </p:cNvPr>
          <p:cNvSpPr txBox="1"/>
          <p:nvPr/>
        </p:nvSpPr>
        <p:spPr>
          <a:xfrm>
            <a:off x="2508178" y="6480192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E07E280-D226-6DE5-32F1-5288A0AFDB6F}"/>
              </a:ext>
            </a:extLst>
          </p:cNvPr>
          <p:cNvCxnSpPr>
            <a:cxnSpLocks/>
          </p:cNvCxnSpPr>
          <p:nvPr/>
        </p:nvCxnSpPr>
        <p:spPr>
          <a:xfrm>
            <a:off x="5945617" y="5773856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7AA386C-FFDB-06D1-A994-49924ED12A8D}"/>
              </a:ext>
            </a:extLst>
          </p:cNvPr>
          <p:cNvCxnSpPr>
            <a:cxnSpLocks/>
          </p:cNvCxnSpPr>
          <p:nvPr/>
        </p:nvCxnSpPr>
        <p:spPr>
          <a:xfrm flipH="1" flipV="1">
            <a:off x="1245543" y="1488601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B3AD220-823D-974D-A709-7A97CD6F7A1A}"/>
              </a:ext>
            </a:extLst>
          </p:cNvPr>
          <p:cNvSpPr txBox="1"/>
          <p:nvPr/>
        </p:nvSpPr>
        <p:spPr>
          <a:xfrm>
            <a:off x="134484" y="1057714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FFAC5B-4166-889A-6297-FD7FD4B4DA74}"/>
              </a:ext>
            </a:extLst>
          </p:cNvPr>
          <p:cNvCxnSpPr>
            <a:cxnSpLocks/>
          </p:cNvCxnSpPr>
          <p:nvPr/>
        </p:nvCxnSpPr>
        <p:spPr>
          <a:xfrm flipH="1" flipV="1">
            <a:off x="1051443" y="5500077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49AD1D5-175A-784F-210A-EA7E469D06B0}"/>
              </a:ext>
            </a:extLst>
          </p:cNvPr>
          <p:cNvSpPr txBox="1"/>
          <p:nvPr/>
        </p:nvSpPr>
        <p:spPr>
          <a:xfrm>
            <a:off x="122666" y="5222893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9E04FEF-1EE9-16D3-0D49-DD56FC00BF5C}"/>
              </a:ext>
            </a:extLst>
          </p:cNvPr>
          <p:cNvSpPr/>
          <p:nvPr/>
        </p:nvSpPr>
        <p:spPr>
          <a:xfrm>
            <a:off x="3262680" y="1565435"/>
            <a:ext cx="2715972" cy="149000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31865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35441" y="189718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155438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48A122-3A77-CAF5-E908-9C6A8064B934}"/>
              </a:ext>
            </a:extLst>
          </p:cNvPr>
          <p:cNvSpPr txBox="1"/>
          <p:nvPr/>
        </p:nvSpPr>
        <p:spPr>
          <a:xfrm>
            <a:off x="7035441" y="3638962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Conversely, PyMOL alignments can be good but insignificant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E83B44F5-91B5-3090-4FA6-2B47B8FA98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029"/>
          <a:stretch>
            <a:fillRect/>
          </a:stretch>
        </p:blipFill>
        <p:spPr>
          <a:xfrm>
            <a:off x="114304" y="1511300"/>
            <a:ext cx="3801964" cy="40894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4DC41C0-D9E7-16FB-91C8-D34E0538F6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709"/>
          <a:stretch>
            <a:fillRect/>
          </a:stretch>
        </p:blipFill>
        <p:spPr>
          <a:xfrm>
            <a:off x="8293099" y="1511300"/>
            <a:ext cx="3815029" cy="40894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D6BE1EE-A485-C9FD-879C-8DC205B3B4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5432"/>
          <a:stretch>
            <a:fillRect/>
          </a:stretch>
        </p:blipFill>
        <p:spPr>
          <a:xfrm>
            <a:off x="4152902" y="1511300"/>
            <a:ext cx="3867290" cy="408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271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61CE14-D010-B97D-F7F8-7C47881F3AD7}"/>
              </a:ext>
            </a:extLst>
          </p:cNvPr>
          <p:cNvSpPr txBox="1"/>
          <p:nvPr/>
        </p:nvSpPr>
        <p:spPr>
          <a:xfrm>
            <a:off x="1072904" y="23121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To this end, we have incorporated PyMol super into our pipeline for interactive filtering</a:t>
            </a:r>
          </a:p>
        </p:txBody>
      </p:sp>
    </p:spTree>
    <p:extLst>
      <p:ext uri="{BB962C8B-B14F-4D97-AF65-F5344CB8AC3E}">
        <p14:creationId xmlns:p14="http://schemas.microsoft.com/office/powerpoint/2010/main" val="2973388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B4B0AFB-FFE7-9A7B-2F17-394EE482F1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86" t="59641" r="27865" b="4620"/>
          <a:stretch>
            <a:fillRect/>
          </a:stretch>
        </p:blipFill>
        <p:spPr>
          <a:xfrm>
            <a:off x="8772524" y="2742724"/>
            <a:ext cx="2019301" cy="17320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3CFE49-F1C6-2C66-ECB0-2A5C9EB619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7" t="7716" r="183" b="4529"/>
          <a:stretch>
            <a:fillRect/>
          </a:stretch>
        </p:blipFill>
        <p:spPr>
          <a:xfrm>
            <a:off x="3585442" y="512119"/>
            <a:ext cx="5140806" cy="37213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407528-094B-67C7-E59F-E1CA3AA5F3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899" t="60851" r="35851" b="3410"/>
          <a:stretch>
            <a:fillRect/>
          </a:stretch>
        </p:blipFill>
        <p:spPr>
          <a:xfrm>
            <a:off x="8651879" y="452614"/>
            <a:ext cx="2019301" cy="173204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5CC6B1A-4BD4-6DC4-E9B1-9BF4BB86DAED}"/>
              </a:ext>
            </a:extLst>
          </p:cNvPr>
          <p:cNvSpPr/>
          <p:nvPr/>
        </p:nvSpPr>
        <p:spPr>
          <a:xfrm>
            <a:off x="3540154" y="4749290"/>
            <a:ext cx="718499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EF9DD2-491B-07EC-E3CE-BE6687E3939B}"/>
              </a:ext>
            </a:extLst>
          </p:cNvPr>
          <p:cNvGrpSpPr/>
          <p:nvPr/>
        </p:nvGrpSpPr>
        <p:grpSpPr>
          <a:xfrm>
            <a:off x="238963" y="1167443"/>
            <a:ext cx="2955856" cy="2994101"/>
            <a:chOff x="1144437" y="1392623"/>
            <a:chExt cx="4876801" cy="4939901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0E4A038-5461-8D29-E0E7-7CFF778FD5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9961" r="11111"/>
            <a:stretch>
              <a:fillRect/>
            </a:stretch>
          </p:blipFill>
          <p:spPr>
            <a:xfrm>
              <a:off x="1144437" y="1392623"/>
              <a:ext cx="4876801" cy="493990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34E0E19-7D89-7B31-ADCD-5A948D28A8A1}"/>
                </a:ext>
              </a:extLst>
            </p:cNvPr>
            <p:cNvSpPr/>
            <p:nvPr/>
          </p:nvSpPr>
          <p:spPr>
            <a:xfrm>
              <a:off x="4929993" y="4957313"/>
              <a:ext cx="250166" cy="18978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DC40ED7-46A1-6D64-E396-B3B63DEAF208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A0A0H4VDC2 [A. atlanticus]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AD8FDB-4AE2-2F03-A2CE-B9B10FE063F9}"/>
              </a:ext>
            </a:extLst>
          </p:cNvPr>
          <p:cNvSpPr txBox="1"/>
          <p:nvPr/>
        </p:nvSpPr>
        <p:spPr>
          <a:xfrm>
            <a:off x="3590957" y="5631956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X5D2E5 [H. sapiens][CHD1L]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D168B8-08B1-F533-7A81-96D13D2A7D21}"/>
              </a:ext>
            </a:extLst>
          </p:cNvPr>
          <p:cNvSpPr/>
          <p:nvPr/>
        </p:nvSpPr>
        <p:spPr>
          <a:xfrm>
            <a:off x="3540153" y="5607169"/>
            <a:ext cx="718499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9BDB83-65E6-2783-6790-F079ABBA6765}"/>
              </a:ext>
            </a:extLst>
          </p:cNvPr>
          <p:cNvSpPr txBox="1"/>
          <p:nvPr/>
        </p:nvSpPr>
        <p:spPr>
          <a:xfrm>
            <a:off x="8267700" y="452614"/>
            <a:ext cx="16605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F31115-57CE-131C-E179-A1A88D21C6CF}"/>
              </a:ext>
            </a:extLst>
          </p:cNvPr>
          <p:cNvSpPr txBox="1"/>
          <p:nvPr/>
        </p:nvSpPr>
        <p:spPr>
          <a:xfrm>
            <a:off x="3590958" y="4961302"/>
            <a:ext cx="50101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unreviewed, uncharacterised protein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660C3D-F7A9-893E-EC26-9CCE55758F5A}"/>
              </a:ext>
            </a:extLst>
          </p:cNvPr>
          <p:cNvSpPr txBox="1"/>
          <p:nvPr/>
        </p:nvSpPr>
        <p:spPr>
          <a:xfrm>
            <a:off x="3590957" y="5163595"/>
            <a:ext cx="5060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strong sequence homology to ATP-, DEAD-box helicases in other bacterial species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079CE4-C678-786D-0CDC-049477D09BDE}"/>
              </a:ext>
            </a:extLst>
          </p:cNvPr>
          <p:cNvSpPr txBox="1"/>
          <p:nvPr/>
        </p:nvSpPr>
        <p:spPr>
          <a:xfrm>
            <a:off x="3540154" y="5866698"/>
            <a:ext cx="49847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AE85AE-0BD2-4E2B-1374-B9EFE1F4405A}"/>
              </a:ext>
            </a:extLst>
          </p:cNvPr>
          <p:cNvSpPr txBox="1"/>
          <p:nvPr/>
        </p:nvSpPr>
        <p:spPr>
          <a:xfrm>
            <a:off x="3533805" y="6045500"/>
            <a:ext cx="5060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latin typeface="Verdana Pro" panose="020B0604030504040204" pitchFamily="34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F0C6DF-D3A6-61BC-BB2C-1774F8E9A11E}"/>
              </a:ext>
            </a:extLst>
          </p:cNvPr>
          <p:cNvSpPr txBox="1"/>
          <p:nvPr/>
        </p:nvSpPr>
        <p:spPr>
          <a:xfrm>
            <a:off x="8401429" y="2918317"/>
            <a:ext cx="10342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30EE701-DBFE-C350-4142-4C6967DA8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444382"/>
              </p:ext>
            </p:extLst>
          </p:nvPr>
        </p:nvGraphicFramePr>
        <p:xfrm>
          <a:off x="411929" y="4961302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-34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1.47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636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092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6E2D1-0D4A-B807-37A6-B425C90F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A494934C-AADA-807E-DCC0-6A6F2A976C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851" t="59941" r="38054" b="3682"/>
          <a:stretch>
            <a:fillRect/>
          </a:stretch>
        </p:blipFill>
        <p:spPr>
          <a:xfrm>
            <a:off x="8254390" y="2746454"/>
            <a:ext cx="1760830" cy="191435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B9B67B6-0446-6666-8D67-7D8E7E8DB8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78" t="59941" r="35667"/>
          <a:stretch>
            <a:fillRect/>
          </a:stretch>
        </p:blipFill>
        <p:spPr>
          <a:xfrm>
            <a:off x="7926935" y="620089"/>
            <a:ext cx="2256230" cy="210812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871C24D-B23D-320B-B22A-0340DC5A592B}"/>
              </a:ext>
            </a:extLst>
          </p:cNvPr>
          <p:cNvSpPr/>
          <p:nvPr/>
        </p:nvSpPr>
        <p:spPr>
          <a:xfrm>
            <a:off x="3540154" y="4749290"/>
            <a:ext cx="69849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A039E2-639C-EAD7-307A-80C46BC23E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9961" r="11111"/>
          <a:stretch>
            <a:fillRect/>
          </a:stretch>
        </p:blipFill>
        <p:spPr>
          <a:xfrm>
            <a:off x="313877" y="1501316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05AB22-9A15-EBA8-03D4-1BF07BEFEAE9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A0A5B8XTL3 [M. marinus]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A37E64-EE84-94FD-A9D3-80E019E35561}"/>
              </a:ext>
            </a:extLst>
          </p:cNvPr>
          <p:cNvSpPr txBox="1"/>
          <p:nvPr/>
        </p:nvSpPr>
        <p:spPr>
          <a:xfrm>
            <a:off x="3590957" y="5631956"/>
            <a:ext cx="51053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A0A0A0MSH9 [H. sapiens][CHD1L]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E202E3-E150-136F-F1F5-3311AE3B76E9}"/>
              </a:ext>
            </a:extLst>
          </p:cNvPr>
          <p:cNvSpPr/>
          <p:nvPr/>
        </p:nvSpPr>
        <p:spPr>
          <a:xfrm>
            <a:off x="3540154" y="5607169"/>
            <a:ext cx="69849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485D5-FDEF-1950-B818-54F2A6BA3422}"/>
              </a:ext>
            </a:extLst>
          </p:cNvPr>
          <p:cNvSpPr txBox="1"/>
          <p:nvPr/>
        </p:nvSpPr>
        <p:spPr>
          <a:xfrm>
            <a:off x="7727496" y="669509"/>
            <a:ext cx="164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EB2AB1-34C8-D7A6-26BF-BDA6D9204579}"/>
              </a:ext>
            </a:extLst>
          </p:cNvPr>
          <p:cNvSpPr txBox="1"/>
          <p:nvPr/>
        </p:nvSpPr>
        <p:spPr>
          <a:xfrm>
            <a:off x="3590958" y="4961302"/>
            <a:ext cx="4921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DEAD-box helicase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E73559-04E4-E01C-A736-A77CC7596E70}"/>
              </a:ext>
            </a:extLst>
          </p:cNvPr>
          <p:cNvSpPr txBox="1"/>
          <p:nvPr/>
        </p:nvSpPr>
        <p:spPr>
          <a:xfrm>
            <a:off x="3540155" y="5866698"/>
            <a:ext cx="47084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BBC020-7E96-8989-33C6-C4AF9DA1F6EA}"/>
              </a:ext>
            </a:extLst>
          </p:cNvPr>
          <p:cNvSpPr txBox="1"/>
          <p:nvPr/>
        </p:nvSpPr>
        <p:spPr>
          <a:xfrm>
            <a:off x="3533805" y="6045500"/>
            <a:ext cx="49789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latin typeface="Verdana Pro" panose="020B0604030504040204" pitchFamily="34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CE26BE-A28E-E0F5-A0D4-425D853F513A}"/>
              </a:ext>
            </a:extLst>
          </p:cNvPr>
          <p:cNvSpPr txBox="1"/>
          <p:nvPr/>
        </p:nvSpPr>
        <p:spPr>
          <a:xfrm>
            <a:off x="7972575" y="2707018"/>
            <a:ext cx="1505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0253E48-B34A-09B0-01E1-6EA8AD444D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692871"/>
              </p:ext>
            </p:extLst>
          </p:nvPr>
        </p:nvGraphicFramePr>
        <p:xfrm>
          <a:off x="486843" y="4932583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2.21e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-27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1.56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623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32D3732-7C80-A3ED-8783-56C29CB229EA}"/>
              </a:ext>
            </a:extLst>
          </p:cNvPr>
          <p:cNvSpPr/>
          <p:nvPr/>
        </p:nvSpPr>
        <p:spPr>
          <a:xfrm>
            <a:off x="2214880" y="3610408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F453C3-7C58-7772-1638-F7BAF91DA6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4819" y="756099"/>
            <a:ext cx="5317903" cy="39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9845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671E-77B7-F256-D8E0-29A815F6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32724986-C337-7545-45C8-EDD49ABAC0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16" t="62018" r="30381" b="12984"/>
          <a:stretch>
            <a:fillRect/>
          </a:stretch>
        </p:blipFill>
        <p:spPr>
          <a:xfrm>
            <a:off x="7853800" y="1108453"/>
            <a:ext cx="3034895" cy="160267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1D1DA5C-5D00-7D2B-8D8A-525BE8E74C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00" t="59666" r="44725" b="9516"/>
          <a:stretch>
            <a:fillRect/>
          </a:stretch>
        </p:blipFill>
        <p:spPr>
          <a:xfrm>
            <a:off x="7922252" y="2381542"/>
            <a:ext cx="1733142" cy="1975789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FB7E53FD-3B6C-6871-B74A-A418007335B0}"/>
              </a:ext>
            </a:extLst>
          </p:cNvPr>
          <p:cNvSpPr/>
          <p:nvPr/>
        </p:nvSpPr>
        <p:spPr>
          <a:xfrm>
            <a:off x="3540153" y="4415915"/>
            <a:ext cx="7442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5E9BC3-B27B-50A7-2B8E-518F49C04C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9961" r="11111"/>
          <a:stretch>
            <a:fillRect/>
          </a:stretch>
        </p:blipFill>
        <p:spPr>
          <a:xfrm>
            <a:off x="276405" y="1081718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03563C-B735-E51A-9135-7D8AC3FF4A91}"/>
              </a:ext>
            </a:extLst>
          </p:cNvPr>
          <p:cNvSpPr txBox="1"/>
          <p:nvPr/>
        </p:nvSpPr>
        <p:spPr>
          <a:xfrm>
            <a:off x="3590957" y="4411152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A0A4Y6RC84 [J. tructae]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85717-71A8-DF47-108D-FECB7FD44CBE}"/>
              </a:ext>
            </a:extLst>
          </p:cNvPr>
          <p:cNvSpPr txBox="1"/>
          <p:nvPr/>
        </p:nvSpPr>
        <p:spPr>
          <a:xfrm>
            <a:off x="3590957" y="5298581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B4DLS6 [H. sapiens][unreviewed]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31D19A-B186-ACCF-8683-7BF670FA72DE}"/>
              </a:ext>
            </a:extLst>
          </p:cNvPr>
          <p:cNvSpPr/>
          <p:nvPr/>
        </p:nvSpPr>
        <p:spPr>
          <a:xfrm>
            <a:off x="3540153" y="5273794"/>
            <a:ext cx="7442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AD6309-34D2-B8B0-1F99-86FF5CCF905F}"/>
              </a:ext>
            </a:extLst>
          </p:cNvPr>
          <p:cNvSpPr txBox="1"/>
          <p:nvPr/>
        </p:nvSpPr>
        <p:spPr>
          <a:xfrm>
            <a:off x="3590958" y="4627927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ATP-dependent helicase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F166F2-7F85-9440-0E1B-2EA771FF7EC3}"/>
              </a:ext>
            </a:extLst>
          </p:cNvPr>
          <p:cNvSpPr txBox="1"/>
          <p:nvPr/>
        </p:nvSpPr>
        <p:spPr>
          <a:xfrm>
            <a:off x="3590957" y="4830220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unreviewed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A1A7CC-E4E2-A8C5-D520-FF73BF026379}"/>
              </a:ext>
            </a:extLst>
          </p:cNvPr>
          <p:cNvSpPr txBox="1"/>
          <p:nvPr/>
        </p:nvSpPr>
        <p:spPr>
          <a:xfrm>
            <a:off x="3540155" y="5533323"/>
            <a:ext cx="50323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"highly similar to Homo sapiens chromodomain helicase DNA binding protein 1-like (CHD1L)"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61DE8E-1729-9231-5374-ECB14D65D21B}"/>
              </a:ext>
            </a:extLst>
          </p:cNvPr>
          <p:cNvSpPr txBox="1"/>
          <p:nvPr/>
        </p:nvSpPr>
        <p:spPr>
          <a:xfrm>
            <a:off x="8335930" y="2605642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03887FE4-41B4-23D7-5603-63D9A78446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61072"/>
              </p:ext>
            </p:extLst>
          </p:nvPr>
        </p:nvGraphicFramePr>
        <p:xfrm>
          <a:off x="362888" y="4647043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-13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1.17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267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207AB880-A85D-7983-736B-80F77854A0CA}"/>
              </a:ext>
            </a:extLst>
          </p:cNvPr>
          <p:cNvSpPr/>
          <p:nvPr/>
        </p:nvSpPr>
        <p:spPr>
          <a:xfrm>
            <a:off x="1405374" y="3416972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53DB15-2FB2-36B0-929F-97BFB73CECF2}"/>
              </a:ext>
            </a:extLst>
          </p:cNvPr>
          <p:cNvSpPr txBox="1"/>
          <p:nvPr/>
        </p:nvSpPr>
        <p:spPr>
          <a:xfrm>
            <a:off x="8467548" y="73881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3227FA-4A37-A558-9DEB-DAB326CBF1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14" t="25149" r="11826" b="20684"/>
          <a:stretch>
            <a:fillRect/>
          </a:stretch>
        </p:blipFill>
        <p:spPr>
          <a:xfrm>
            <a:off x="3232261" y="863012"/>
            <a:ext cx="4972051" cy="321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187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51ED0-1BD3-612A-3F05-214A8251E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6014C88-8AC4-6AE7-605B-0BF554056B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15" t="7520" r="21094" b="15745"/>
          <a:stretch>
            <a:fillRect/>
          </a:stretch>
        </p:blipFill>
        <p:spPr>
          <a:xfrm>
            <a:off x="3533804" y="455645"/>
            <a:ext cx="4386432" cy="36966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FCA25C-C618-51FB-36CB-E534671EDB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86" t="60028" r="35785" b="5597"/>
          <a:stretch>
            <a:fillRect/>
          </a:stretch>
        </p:blipFill>
        <p:spPr>
          <a:xfrm>
            <a:off x="7939286" y="500618"/>
            <a:ext cx="2193512" cy="18403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CFBD10F-DC06-DA84-984A-2FCA404A54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94" t="57483" r="37761" b="5555"/>
          <a:stretch>
            <a:fillRect/>
          </a:stretch>
        </p:blipFill>
        <p:spPr>
          <a:xfrm>
            <a:off x="8893066" y="2057621"/>
            <a:ext cx="1152525" cy="197876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41B1F10-52DD-5E5F-D460-F043D31C0F78}"/>
              </a:ext>
            </a:extLst>
          </p:cNvPr>
          <p:cNvSpPr/>
          <p:nvPr/>
        </p:nvSpPr>
        <p:spPr>
          <a:xfrm>
            <a:off x="3540154" y="4246444"/>
            <a:ext cx="674684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68F3E02-50E2-4E48-5A93-DD3F142E23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9961" r="11111"/>
          <a:stretch>
            <a:fillRect/>
          </a:stretch>
        </p:blipFill>
        <p:spPr>
          <a:xfrm>
            <a:off x="261242" y="1158179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ADFB4A9-A4A6-B629-62D7-62E9C475DA37}"/>
              </a:ext>
            </a:extLst>
          </p:cNvPr>
          <p:cNvSpPr txBox="1"/>
          <p:nvPr/>
        </p:nvSpPr>
        <p:spPr>
          <a:xfrm>
            <a:off x="3590957" y="424168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A0A6L8M512 [A. baumannii]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FCCD0A-331F-9592-81A1-B2CD9EC98C5D}"/>
              </a:ext>
            </a:extLst>
          </p:cNvPr>
          <p:cNvSpPr txBox="1"/>
          <p:nvPr/>
        </p:nvSpPr>
        <p:spPr>
          <a:xfrm>
            <a:off x="3590957" y="512911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Q8N6J1 [H. sapiens][BTAF1]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B6EA16-E711-D462-5868-A98DF44D0B86}"/>
              </a:ext>
            </a:extLst>
          </p:cNvPr>
          <p:cNvSpPr/>
          <p:nvPr/>
        </p:nvSpPr>
        <p:spPr>
          <a:xfrm>
            <a:off x="3540153" y="5104323"/>
            <a:ext cx="674684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74FEC1-9620-3DF3-8DA7-9BC6B4D33573}"/>
              </a:ext>
            </a:extLst>
          </p:cNvPr>
          <p:cNvSpPr txBox="1"/>
          <p:nvPr/>
        </p:nvSpPr>
        <p:spPr>
          <a:xfrm>
            <a:off x="6905625" y="45807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18341F-9B09-FC1C-6A64-BA49AFDC9748}"/>
              </a:ext>
            </a:extLst>
          </p:cNvPr>
          <p:cNvSpPr txBox="1"/>
          <p:nvPr/>
        </p:nvSpPr>
        <p:spPr>
          <a:xfrm>
            <a:off x="3590958" y="4458456"/>
            <a:ext cx="50291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DEAD box helicase protein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7B93A9-B52D-A44E-A92C-B459CD2D0E52}"/>
              </a:ext>
            </a:extLst>
          </p:cNvPr>
          <p:cNvSpPr txBox="1"/>
          <p:nvPr/>
        </p:nvSpPr>
        <p:spPr>
          <a:xfrm>
            <a:off x="3540154" y="5363852"/>
            <a:ext cx="50799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evidence of existence only at transcript level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3AAF28-D7C8-F5FC-0EF3-FE424467C035}"/>
              </a:ext>
            </a:extLst>
          </p:cNvPr>
          <p:cNvSpPr txBox="1"/>
          <p:nvPr/>
        </p:nvSpPr>
        <p:spPr>
          <a:xfrm>
            <a:off x="3533804" y="5542654"/>
            <a:ext cx="50863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predicted helicase, hydrolase activity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778E7F-25DD-FBA0-8782-FCD7A89D9B24}"/>
              </a:ext>
            </a:extLst>
          </p:cNvPr>
          <p:cNvSpPr txBox="1"/>
          <p:nvPr/>
        </p:nvSpPr>
        <p:spPr>
          <a:xfrm>
            <a:off x="8372475" y="2243217"/>
            <a:ext cx="10453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8843CC1-E262-28F7-FA80-61CA229212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63635"/>
              </p:ext>
            </p:extLst>
          </p:nvPr>
        </p:nvGraphicFramePr>
        <p:xfrm>
          <a:off x="434208" y="4445374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5.65e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-32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3.41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553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514B2D47-5432-F556-F3B5-30689A5B4CC6}"/>
              </a:ext>
            </a:extLst>
          </p:cNvPr>
          <p:cNvSpPr/>
          <p:nvPr/>
        </p:nvSpPr>
        <p:spPr>
          <a:xfrm>
            <a:off x="2423674" y="2154697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6366B7-A273-F1D9-1418-E8528A16271B}"/>
              </a:ext>
            </a:extLst>
          </p:cNvPr>
          <p:cNvSpPr/>
          <p:nvPr/>
        </p:nvSpPr>
        <p:spPr>
          <a:xfrm>
            <a:off x="1583473" y="2154697"/>
            <a:ext cx="1137425" cy="16212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D6ED56-73BF-A3C3-C3B6-D263A8EE0B80}"/>
              </a:ext>
            </a:extLst>
          </p:cNvPr>
          <p:cNvSpPr/>
          <p:nvPr/>
        </p:nvSpPr>
        <p:spPr>
          <a:xfrm>
            <a:off x="1076122" y="2154696"/>
            <a:ext cx="484360" cy="90073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066508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9E216-7F09-313F-5677-BFC8F3040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F58D43-2BF7-3E2C-D998-E51F09ABC191}"/>
              </a:ext>
            </a:extLst>
          </p:cNvPr>
          <p:cNvSpPr txBox="1"/>
          <p:nvPr/>
        </p:nvSpPr>
        <p:spPr>
          <a:xfrm>
            <a:off x="1047504" y="8897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Curating a positive control set of homologous bacterial-human protein pairs from high-impact literature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6B90585-0040-3FBD-8C49-2A58A5C3C1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471206"/>
              </p:ext>
            </p:extLst>
          </p:nvPr>
        </p:nvGraphicFramePr>
        <p:xfrm>
          <a:off x="1288804" y="3429000"/>
          <a:ext cx="3372096" cy="2255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Experimental 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bacterial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 in new organism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640798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perform functional assay proving bacterial immune system action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239055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4647ED3-0B8A-D494-D0B1-8E84549A81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9404553"/>
              </p:ext>
            </p:extLst>
          </p:nvPr>
        </p:nvGraphicFramePr>
        <p:xfrm>
          <a:off x="5606804" y="3429000"/>
          <a:ext cx="3372096" cy="1950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Homology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human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present convincing evidence of sequence or structure homology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38183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4168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D5AEA-25A4-23EF-061E-6033EBF9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63EFC-F093-3F28-A109-DC88635409FE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A6B9E2-84D2-B174-67D9-7AEE69C49D76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Positive control set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4FE8C64-B8A3-94B5-6509-02098D59E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1801861"/>
              </p:ext>
            </p:extLst>
          </p:nvPr>
        </p:nvGraphicFramePr>
        <p:xfrm>
          <a:off x="181153" y="2618867"/>
          <a:ext cx="6476258" cy="35953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4399">
                  <a:extLst>
                    <a:ext uri="{9D8B030D-6E8A-4147-A177-3AD203B41FA5}">
                      <a16:colId xmlns:a16="http://schemas.microsoft.com/office/drawing/2014/main" val="529853741"/>
                    </a:ext>
                  </a:extLst>
                </a:gridCol>
                <a:gridCol w="1354348">
                  <a:extLst>
                    <a:ext uri="{9D8B030D-6E8A-4147-A177-3AD203B41FA5}">
                      <a16:colId xmlns:a16="http://schemas.microsoft.com/office/drawing/2014/main" val="165409373"/>
                    </a:ext>
                  </a:extLst>
                </a:gridCol>
                <a:gridCol w="1509622">
                  <a:extLst>
                    <a:ext uri="{9D8B030D-6E8A-4147-A177-3AD203B41FA5}">
                      <a16:colId xmlns:a16="http://schemas.microsoft.com/office/drawing/2014/main" val="2430019957"/>
                    </a:ext>
                  </a:extLst>
                </a:gridCol>
                <a:gridCol w="1270553">
                  <a:extLst>
                    <a:ext uri="{9D8B030D-6E8A-4147-A177-3AD203B41FA5}">
                      <a16:colId xmlns:a16="http://schemas.microsoft.com/office/drawing/2014/main" val="3918155899"/>
                    </a:ext>
                  </a:extLst>
                </a:gridCol>
                <a:gridCol w="1427336">
                  <a:extLst>
                    <a:ext uri="{9D8B030D-6E8A-4147-A177-3AD203B41FA5}">
                      <a16:colId xmlns:a16="http://schemas.microsoft.com/office/drawing/2014/main" val="3749239967"/>
                    </a:ext>
                  </a:extLst>
                </a:gridCol>
              </a:tblGrid>
              <a:tr h="1403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PMID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Bact. UniProt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Bact.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H.s. UniProt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H.s.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437008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Q6XGD5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Q8N884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6231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G2SLH8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Q8N884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74829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Q9BPY3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FAM118B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0261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Q96EB6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979640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Q8IXJ6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36241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Q9Y6E7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55400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Q9NXA8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0229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Q8N6T7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113074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Q9NRC8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71156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A0A1H0NKS3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25769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P0DW49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67152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D5EID4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vip15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06058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P0DW52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vip21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15248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A0A1S1YUU1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vip47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2477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A0A110A2W7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979791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A0A1M7D0R2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739598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A0A244CMP0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973095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P0DW53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4252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DA5EAAB-16B0-2623-CF1A-2B61D1BF787A}"/>
              </a:ext>
            </a:extLst>
          </p:cNvPr>
          <p:cNvSpPr txBox="1"/>
          <p:nvPr/>
        </p:nvSpPr>
        <p:spPr>
          <a:xfrm>
            <a:off x="1241192" y="1004062"/>
            <a:ext cx="4489704" cy="138499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Purpose: positive control for subsequence analysis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D7F113A-51DC-5CB6-7C05-0C559A2EC737}"/>
              </a:ext>
            </a:extLst>
          </p:cNvPr>
          <p:cNvCxnSpPr>
            <a:cxnSpLocks/>
          </p:cNvCxnSpPr>
          <p:nvPr/>
        </p:nvCxnSpPr>
        <p:spPr>
          <a:xfrm>
            <a:off x="6318504" y="1696559"/>
            <a:ext cx="0" cy="9223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24020F-D695-FDE0-F782-285CFA8CE4C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730896" y="1696560"/>
            <a:ext cx="5876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6E3BA6-4697-4E8A-416B-A332B9C216CB}"/>
              </a:ext>
            </a:extLst>
          </p:cNvPr>
          <p:cNvSpPr txBox="1"/>
          <p:nvPr/>
        </p:nvSpPr>
        <p:spPr>
          <a:xfrm>
            <a:off x="181153" y="6214237"/>
            <a:ext cx="2670048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Total number: 18 pairs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97A16E8-B5E1-C5E3-E508-1CB08B5FBD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6931613" y="1587259"/>
            <a:ext cx="4559865" cy="445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586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4C07A-574B-C0FB-6B6A-352D625C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A62F843-E61B-7533-0B3B-20DF2B843C81}"/>
              </a:ext>
            </a:extLst>
          </p:cNvPr>
          <p:cNvSpPr/>
          <p:nvPr/>
        </p:nvSpPr>
        <p:spPr>
          <a:xfrm>
            <a:off x="3540154" y="4447846"/>
            <a:ext cx="7242865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6C356E-3C31-A753-9CA0-CE0423EA7453}"/>
              </a:ext>
            </a:extLst>
          </p:cNvPr>
          <p:cNvSpPr txBox="1"/>
          <p:nvPr/>
        </p:nvSpPr>
        <p:spPr>
          <a:xfrm>
            <a:off x="3590957" y="4443083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A0A1S1YUU1 [F. pacifica][vip47]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9E3406-0236-89C5-A5D8-F2EB822D005F}"/>
              </a:ext>
            </a:extLst>
          </p:cNvPr>
          <p:cNvSpPr txBox="1"/>
          <p:nvPr/>
        </p:nvSpPr>
        <p:spPr>
          <a:xfrm>
            <a:off x="3590957" y="5330512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Q8WXG1 [H. sapiens][RSAD2]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4275AF-D0DD-991F-26B8-0CA14B4CAF09}"/>
              </a:ext>
            </a:extLst>
          </p:cNvPr>
          <p:cNvSpPr/>
          <p:nvPr/>
        </p:nvSpPr>
        <p:spPr>
          <a:xfrm>
            <a:off x="3540154" y="5305725"/>
            <a:ext cx="7242864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092BFEF-3670-7431-E825-C26F3EA5261D}"/>
              </a:ext>
            </a:extLst>
          </p:cNvPr>
          <p:cNvSpPr txBox="1"/>
          <p:nvPr/>
        </p:nvSpPr>
        <p:spPr>
          <a:xfrm>
            <a:off x="7039691" y="586752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A0A1S1YUU1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30B619-BE73-D220-2975-36983892F15D}"/>
              </a:ext>
            </a:extLst>
          </p:cNvPr>
          <p:cNvSpPr txBox="1"/>
          <p:nvPr/>
        </p:nvSpPr>
        <p:spPr>
          <a:xfrm>
            <a:off x="3590958" y="4659858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confers resistance to phage P1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048DEE-644A-8143-97BE-0B642B879A33}"/>
              </a:ext>
            </a:extLst>
          </p:cNvPr>
          <p:cNvSpPr txBox="1"/>
          <p:nvPr/>
        </p:nvSpPr>
        <p:spPr>
          <a:xfrm>
            <a:off x="3548781" y="5565254"/>
            <a:ext cx="498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interferon-inducible antiviral protein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08E850-A266-DB59-3DA2-7F3E04AE9942}"/>
              </a:ext>
            </a:extLst>
          </p:cNvPr>
          <p:cNvSpPr txBox="1"/>
          <p:nvPr/>
        </p:nvSpPr>
        <p:spPr>
          <a:xfrm>
            <a:off x="3547827" y="5744056"/>
            <a:ext cx="5078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initiates pathway to repress RNA polymerase action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27DF3C-9EBD-A011-CBF6-171BEC3D3583}"/>
              </a:ext>
            </a:extLst>
          </p:cNvPr>
          <p:cNvSpPr txBox="1"/>
          <p:nvPr/>
        </p:nvSpPr>
        <p:spPr>
          <a:xfrm>
            <a:off x="6640705" y="208066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Q8WXG1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EDD823E7-66A5-82B0-2C1D-F9E57CC683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075749"/>
              </p:ext>
            </p:extLst>
          </p:nvPr>
        </p:nvGraphicFramePr>
        <p:xfrm>
          <a:off x="334082" y="4722579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Vipirin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0.89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1423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[75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0C580C62-E4AB-4F46-7942-18AC8424A7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105518" y="894529"/>
            <a:ext cx="3011454" cy="29454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E0CA59B-CC7E-D170-4365-9D00A04D14C8}"/>
              </a:ext>
            </a:extLst>
          </p:cNvPr>
          <p:cNvSpPr/>
          <p:nvPr/>
        </p:nvSpPr>
        <p:spPr>
          <a:xfrm>
            <a:off x="609618" y="997688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B2F44B-8358-1567-FCC1-1319D17054EF}"/>
              </a:ext>
            </a:extLst>
          </p:cNvPr>
          <p:cNvSpPr txBox="1"/>
          <p:nvPr/>
        </p:nvSpPr>
        <p:spPr>
          <a:xfrm>
            <a:off x="3590957" y="4839476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represses T7 RNA-polymerase action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665F2-2467-7F1C-7B6C-40CFBA21E1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95" t="18994" r="28632" b="11516"/>
          <a:stretch>
            <a:fillRect/>
          </a:stretch>
        </p:blipFill>
        <p:spPr>
          <a:xfrm>
            <a:off x="3840219" y="460159"/>
            <a:ext cx="4109981" cy="3983417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CDA7D12-0464-48D9-38EE-19DEF771E4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709" t="67171" r="37259"/>
          <a:stretch>
            <a:fillRect/>
          </a:stretch>
        </p:blipFill>
        <p:spPr>
          <a:xfrm>
            <a:off x="7824207" y="2043615"/>
            <a:ext cx="2972164" cy="235820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F0B3C77-5F6E-1991-4200-9D9E255847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47" t="73289" r="39931" b="-63"/>
          <a:stretch>
            <a:fillRect/>
          </a:stretch>
        </p:blipFill>
        <p:spPr>
          <a:xfrm>
            <a:off x="8372475" y="604065"/>
            <a:ext cx="2128368" cy="192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6035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85337-A1A9-09A2-FDE4-7696368E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12599B7-D838-FDFF-8B87-B69F97760476}"/>
              </a:ext>
            </a:extLst>
          </p:cNvPr>
          <p:cNvSpPr/>
          <p:nvPr/>
        </p:nvSpPr>
        <p:spPr>
          <a:xfrm>
            <a:off x="3540154" y="4761874"/>
            <a:ext cx="744534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13B0A3-8D80-DC7F-37F6-BADD830D5CAB}"/>
              </a:ext>
            </a:extLst>
          </p:cNvPr>
          <p:cNvSpPr txBox="1"/>
          <p:nvPr/>
        </p:nvSpPr>
        <p:spPr>
          <a:xfrm>
            <a:off x="3590957" y="475711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Q6XGD5 [E. coli][cdnE]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05969E-BA91-1E8F-3740-1C4EBCE5EB28}"/>
              </a:ext>
            </a:extLst>
          </p:cNvPr>
          <p:cNvSpPr txBox="1"/>
          <p:nvPr/>
        </p:nvSpPr>
        <p:spPr>
          <a:xfrm>
            <a:off x="3590957" y="564454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Q8N884 [H. sapiens][CGAS]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63E170-939F-9687-F701-832A6C5E8A7E}"/>
              </a:ext>
            </a:extLst>
          </p:cNvPr>
          <p:cNvSpPr/>
          <p:nvPr/>
        </p:nvSpPr>
        <p:spPr>
          <a:xfrm>
            <a:off x="3540153" y="5619753"/>
            <a:ext cx="744534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8A91DA-7491-BECE-5A94-ED7ED4100471}"/>
              </a:ext>
            </a:extLst>
          </p:cNvPr>
          <p:cNvSpPr txBox="1"/>
          <p:nvPr/>
        </p:nvSpPr>
        <p:spPr>
          <a:xfrm>
            <a:off x="6582804" y="439278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Q6XGD5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4F3F6C-FACB-BB70-E369-56D6801E91D9}"/>
              </a:ext>
            </a:extLst>
          </p:cNvPr>
          <p:cNvSpPr txBox="1"/>
          <p:nvPr/>
        </p:nvSpPr>
        <p:spPr>
          <a:xfrm>
            <a:off x="3590958" y="4973886"/>
            <a:ext cx="51078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Cyclic nucleotide synthase (second messenger synthesis) in CBASS system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FB4D5A-77F8-7F70-776B-9183BB442DE5}"/>
              </a:ext>
            </a:extLst>
          </p:cNvPr>
          <p:cNvSpPr txBox="1"/>
          <p:nvPr/>
        </p:nvSpPr>
        <p:spPr>
          <a:xfrm>
            <a:off x="3548781" y="5879282"/>
            <a:ext cx="4982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nucleotidyltransferase catalyzing formation of cyclic GMP-AMP; plays role in innate immunity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F06483-848C-7C5D-27F2-45278FA99187}"/>
              </a:ext>
            </a:extLst>
          </p:cNvPr>
          <p:cNvSpPr txBox="1"/>
          <p:nvPr/>
        </p:nvSpPr>
        <p:spPr>
          <a:xfrm>
            <a:off x="6582805" y="21108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Q8N884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B5E299E-F9C4-86A8-9515-04FA20C80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5270993"/>
              </p:ext>
            </p:extLst>
          </p:nvPr>
        </p:nvGraphicFramePr>
        <p:xfrm>
          <a:off x="448364" y="511683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CBASS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5.53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1385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[73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3D7881BF-EBA7-A1A0-8F19-0FD5880F2F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219800" y="1385293"/>
            <a:ext cx="3011454" cy="294540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5DBEF63E-33ED-8D98-5B30-F4F5C5956DEA}"/>
              </a:ext>
            </a:extLst>
          </p:cNvPr>
          <p:cNvSpPr/>
          <p:nvPr/>
        </p:nvSpPr>
        <p:spPr>
          <a:xfrm>
            <a:off x="1860550" y="1661056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67FE4B-2CC6-3D45-48A6-471835C06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6" r="22135" b="13290"/>
          <a:stretch>
            <a:fillRect/>
          </a:stretch>
        </p:blipFill>
        <p:spPr>
          <a:xfrm>
            <a:off x="3425869" y="568235"/>
            <a:ext cx="4367510" cy="40646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8C65CB3-2FEF-EABD-3D6A-BC88643002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23" t="69182" r="39358"/>
          <a:stretch>
            <a:fillRect/>
          </a:stretch>
        </p:blipFill>
        <p:spPr>
          <a:xfrm>
            <a:off x="8372475" y="360362"/>
            <a:ext cx="1740245" cy="196027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18336F-2397-0EF1-4EBA-A626ED12BB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95" t="60625" r="38916"/>
          <a:stretch>
            <a:fillRect/>
          </a:stretch>
        </p:blipFill>
        <p:spPr>
          <a:xfrm>
            <a:off x="7582618" y="2005014"/>
            <a:ext cx="2560363" cy="2504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3181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52B96-FB69-526B-80F1-486BE515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D7CA461C-AB95-3E4B-73EB-87FFCB666F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48" t="66578" r="34644"/>
          <a:stretch>
            <a:fillRect/>
          </a:stretch>
        </p:blipFill>
        <p:spPr>
          <a:xfrm>
            <a:off x="8071324" y="2349284"/>
            <a:ext cx="2790765" cy="231574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B15CA2F-4F07-6703-1917-EF06DBBCDC7C}"/>
              </a:ext>
            </a:extLst>
          </p:cNvPr>
          <p:cNvSpPr txBox="1"/>
          <p:nvPr/>
        </p:nvSpPr>
        <p:spPr>
          <a:xfrm>
            <a:off x="7789866" y="392858"/>
            <a:ext cx="1266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J8G6Z1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27B76DD-E0D2-F564-E423-3A77E5A1E798}"/>
              </a:ext>
            </a:extLst>
          </p:cNvPr>
          <p:cNvSpPr/>
          <p:nvPr/>
        </p:nvSpPr>
        <p:spPr>
          <a:xfrm>
            <a:off x="3540154" y="4761874"/>
            <a:ext cx="700084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1D4D55-792F-E6CB-7F48-9704C1D9C701}"/>
              </a:ext>
            </a:extLst>
          </p:cNvPr>
          <p:cNvSpPr txBox="1"/>
          <p:nvPr/>
        </p:nvSpPr>
        <p:spPr>
          <a:xfrm>
            <a:off x="3590957" y="475711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J8G6Z1 [B. cereus][thsA]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300AA5-4C4C-00DF-4E9A-AAF9B5650E0D}"/>
              </a:ext>
            </a:extLst>
          </p:cNvPr>
          <p:cNvSpPr txBox="1"/>
          <p:nvPr/>
        </p:nvSpPr>
        <p:spPr>
          <a:xfrm>
            <a:off x="3590957" y="564454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Q9BPY3 [H. sapiens][FAM118B]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E8BE26-53CA-8612-2BF2-34D7549440C7}"/>
              </a:ext>
            </a:extLst>
          </p:cNvPr>
          <p:cNvSpPr/>
          <p:nvPr/>
        </p:nvSpPr>
        <p:spPr>
          <a:xfrm>
            <a:off x="3540153" y="5619753"/>
            <a:ext cx="700084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696AAF-EF99-A7A2-3A32-7483C0EF0E63}"/>
              </a:ext>
            </a:extLst>
          </p:cNvPr>
          <p:cNvSpPr txBox="1"/>
          <p:nvPr/>
        </p:nvSpPr>
        <p:spPr>
          <a:xfrm>
            <a:off x="3590958" y="4973886"/>
            <a:ext cx="4940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NAD+ hydrolyzing component (NADase) of Thoeris antiviral defense system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9CF23C-ACC0-0A61-1F9A-D137D7927C64}"/>
              </a:ext>
            </a:extLst>
          </p:cNvPr>
          <p:cNvSpPr txBox="1"/>
          <p:nvPr/>
        </p:nvSpPr>
        <p:spPr>
          <a:xfrm>
            <a:off x="3548781" y="5879282"/>
            <a:ext cx="498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Cajal body regulation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7BDDA1-243D-C75E-752F-BCD63BCB3EF9}"/>
              </a:ext>
            </a:extLst>
          </p:cNvPr>
          <p:cNvSpPr txBox="1"/>
          <p:nvPr/>
        </p:nvSpPr>
        <p:spPr>
          <a:xfrm>
            <a:off x="7921419" y="1939049"/>
            <a:ext cx="11352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Q9BPY3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7BD3758-FFC0-88EE-19AE-21535738F4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086360"/>
              </p:ext>
            </p:extLst>
          </p:nvPr>
        </p:nvGraphicFramePr>
        <p:xfrm>
          <a:off x="448364" y="509559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SIR2 antiphage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3.88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1252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[66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9AF6A182-4FF9-CFAE-0BC9-E814B90DA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0849" r="8850"/>
          <a:stretch>
            <a:fillRect/>
          </a:stretch>
        </p:blipFill>
        <p:spPr>
          <a:xfrm>
            <a:off x="219800" y="1182093"/>
            <a:ext cx="3011454" cy="294540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07B46E29-E8BA-FD3A-1927-3AADE4609CA7}"/>
              </a:ext>
            </a:extLst>
          </p:cNvPr>
          <p:cNvSpPr/>
          <p:nvPr/>
        </p:nvSpPr>
        <p:spPr>
          <a:xfrm>
            <a:off x="1454150" y="1722761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3C8650-AB27-C535-5337-57A9A96ACB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66" t="7467" r="21790"/>
          <a:stretch>
            <a:fillRect/>
          </a:stretch>
        </p:blipFill>
        <p:spPr>
          <a:xfrm>
            <a:off x="3500153" y="365519"/>
            <a:ext cx="4302272" cy="42995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69C0F12-5F8D-F474-1E8D-B708B6BFAE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55" t="74322" r="36286" b="4700"/>
          <a:stretch>
            <a:fillRect/>
          </a:stretch>
        </p:blipFill>
        <p:spPr>
          <a:xfrm>
            <a:off x="8174388" y="743943"/>
            <a:ext cx="2527485" cy="1453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917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DDCF-9877-BB0E-77F5-0E4B2A6B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59D6C-186E-FB87-6875-039B8DFC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18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3CC149-56F8-D0FE-FDF7-2E8A44BE12F1}"/>
              </a:ext>
            </a:extLst>
          </p:cNvPr>
          <p:cNvSpPr txBox="1"/>
          <p:nvPr/>
        </p:nvSpPr>
        <p:spPr>
          <a:xfrm>
            <a:off x="863600" y="1528457"/>
            <a:ext cx="9272016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Work with V Furlan to further develop composite score for protein pair prioritization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Use V Furlan's pipeline frontend to conduct prioritization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develop Blastp canonical protein flagger tool and integrate with frontend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Work with V Furlan to get a gene list by next meeting (1 - 2 months)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B01CEC-11C5-581C-E64C-95DD1E05A5CC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CAB3A2-9926-3BC4-CE71-F9A9183C5B7A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Next steps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7129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2115</TotalTime>
  <Words>1071</Words>
  <Application>Microsoft Office PowerPoint</Application>
  <PresentationFormat>Widescreen</PresentationFormat>
  <Paragraphs>289</Paragraphs>
  <Slides>18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143</cp:revision>
  <dcterms:created xsi:type="dcterms:W3CDTF">2026-04-01T17:28:23Z</dcterms:created>
  <dcterms:modified xsi:type="dcterms:W3CDTF">2026-04-10T18:17:17Z</dcterms:modified>
</cp:coreProperties>
</file>