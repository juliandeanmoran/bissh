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7" r:id="rId15"/>
    <p:sldId id="298" r:id="rId16"/>
    <p:sldId id="299" r:id="rId17"/>
    <p:sldId id="302" r:id="rId18"/>
    <p:sldId id="303" r:id="rId19"/>
    <p:sldId id="300" r:id="rId20"/>
    <p:sldId id="301" r:id="rId21"/>
    <p:sldId id="29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36"/>
    <a:srgbClr val="0162B3"/>
    <a:srgbClr val="4A27F9"/>
    <a:srgbClr val="181A1B"/>
    <a:srgbClr val="1B1E1F"/>
    <a:srgbClr val="F8F9FA"/>
    <a:srgbClr val="DC445D"/>
    <a:srgbClr val="1A926E"/>
    <a:srgbClr val="EEEEEE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642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596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8222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291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E4ZAF3 species</a:t>
            </a:r>
            <a:r>
              <a:rPr lang="en-US" dirty="0"/>
              <a:t>:  N. </a:t>
            </a:r>
            <a:r>
              <a:rPr lang="en-US" dirty="0" err="1"/>
              <a:t>lactamica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5616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HelY species: </a:t>
            </a:r>
            <a:r>
              <a:rPr lang="en-US" dirty="0" err="1"/>
              <a:t>Methylobacterium</a:t>
            </a:r>
            <a:r>
              <a:rPr lang="en-US" dirty="0"/>
              <a:t> </a:t>
            </a:r>
            <a:r>
              <a:rPr lang="en-US" dirty="0" err="1"/>
              <a:t>symbioticum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864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run </a:t>
            </a:r>
            <a:r>
              <a:rPr lang="en-US" dirty="0" err="1"/>
              <a:t>BLASTp</a:t>
            </a:r>
            <a:r>
              <a:rPr lang="en-US" dirty="0"/>
              <a:t> of the HelY sequence, DDX20 is not a hit.</a:t>
            </a:r>
          </a:p>
          <a:p>
            <a:r>
              <a:rPr lang="en-US" dirty="0"/>
              <a:t>If I run </a:t>
            </a:r>
            <a:r>
              <a:rPr lang="en-US" dirty="0" err="1"/>
              <a:t>psiBLAST</a:t>
            </a:r>
            <a:r>
              <a:rPr lang="en-US" dirty="0"/>
              <a:t> of the HelY sequence,  DDX20 is not a hit.</a:t>
            </a:r>
          </a:p>
          <a:p>
            <a:r>
              <a:rPr lang="en-US" dirty="0"/>
              <a:t>There is no literature evidence that I could find indicating that DDX20 and the HelY have either sequence of structural homology.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242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E75-68F9-6873-5999-FE39C893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9910-22BB-B7E4-B9A9-588E13A8B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0EDF-53F0-DBFE-131A-B1068D2C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24BD3-FB97-18FD-CA72-B4130882A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641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F871A-C88D-4E10-8D99-FEC85A8B5E41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15EDE-C0F7-48C8-B8A5-4485BFFB8F68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85E81-C11B-4BFC-8E0F-A46B659CA5CC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352C1-CE60-48F2-83B2-89F8AAE1ABE4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EB51-E2E5-4C12-94EF-09C758EA7AE2}" type="datetime1">
              <a:rPr lang="en-CA" smtClean="0"/>
              <a:t>2026-09-03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A2A0C-E38A-4D25-A5E7-41DB973BEC7B}" type="datetime1">
              <a:rPr lang="en-CA" smtClean="0"/>
              <a:t>2026-09-03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A473A-0C70-42D7-BA3C-E2CE5C69DDC6}" type="datetime1">
              <a:rPr lang="en-CA" smtClean="0"/>
              <a:t>2026-09-03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18C3E-A425-4BB7-888B-C63327DEEC39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68DE8-A919-4E28-A5E0-4E676A751803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C229A-4736-4449-92BD-4CADA47166CF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05B2-E522-4BB5-808B-BCB1B07386AB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6DE4D-47A6-4C4B-B9C5-A49E0BFD7885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5B9211-EF83-BA2C-7773-E0219305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96BCAD-5AA8-ED57-A337-0FC563367AAA}"/>
              </a:ext>
            </a:extLst>
          </p:cNvPr>
          <p:cNvSpPr txBox="1"/>
          <p:nvPr/>
        </p:nvSpPr>
        <p:spPr>
          <a:xfrm>
            <a:off x="6644626" y="2527277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PyMol super can achieve good alignment when TM-align cannot </a:t>
            </a:r>
          </a:p>
          <a:p>
            <a:r>
              <a:rPr lang="en-US" dirty="0">
                <a:latin typeface="Georgia Pro" panose="02040502050405020303" pitchFamily="18" charset="0"/>
              </a:rPr>
              <a:t>(see top-left quadrant vs. bottom-right).</a:t>
            </a:r>
          </a:p>
          <a:p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2428FC-2987-C8AD-2DE4-4C943B167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CB4EDB-B6D3-F39E-DDEF-0E875E273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33CB5-0241-B85B-521F-B662A3C5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217063"/>
            <a:ext cx="2851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FoldSeek 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IEI_BISSH pipeline workflow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DefenseFinder protein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9A02DB-0425-B796-820A-CA4928CF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AA94CC-AC47-7D89-8FED-EEBCA141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 </a:t>
              </a:r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(Q6ICS7)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  <a:p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(E4ZAF3)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DNMT2: C5 methyltransferase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94B21-9ED9-712C-B028-37BA266B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DDX20: HelY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(A0A7P0TB94)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(A0A509EDC2)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(SngC?)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Shango helicase effects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D6B9CB-5802-43B8-3067-6B75B8D3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8CCD6-A90A-63F9-3A82-A75084EA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69BB3-3796-09BD-E00C-B2AE5BA4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647" b="-1"/>
          <a:stretch>
            <a:fillRect/>
          </a:stretch>
        </p:blipFill>
        <p:spPr>
          <a:xfrm>
            <a:off x="0" y="3701600"/>
            <a:ext cx="12192000" cy="31426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34E845-2754-4E53-933A-BDCBDC3953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777426"/>
            <a:ext cx="12192000" cy="29241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0698A4-C1AD-54BB-6545-50BC20230B0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8C51B-8CAE-C2EF-317E-D4F3B4608B94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A0A7P0TB94(DDX20)-A0A509EDC2(HelY)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89AF6-E05D-96E1-196D-AD16F28D1BF2}"/>
              </a:ext>
            </a:extLst>
          </p:cNvPr>
          <p:cNvSpPr txBox="1"/>
          <p:nvPr/>
        </p:nvSpPr>
        <p:spPr>
          <a:xfrm>
            <a:off x="2735970" y="5775836"/>
            <a:ext cx="84400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identity: 24.3%			BLASTp score: 29.6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alignment coverage: 24%</a:t>
            </a:r>
          </a:p>
          <a:p>
            <a:r>
              <a:rPr lang="en-CA" dirty="0">
                <a:solidFill>
                  <a:schemeClr val="bg1"/>
                </a:solidFill>
                <a:latin typeface="Verdana Pro" panose="020B0604030504040204" pitchFamily="34" charset="0"/>
              </a:rPr>
              <a:t>BLASTp e-value: 2e-4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E66E-9D79-38CB-AC25-F25BE4A5579E}"/>
              </a:ext>
            </a:extLst>
          </p:cNvPr>
          <p:cNvSpPr txBox="1"/>
          <p:nvPr/>
        </p:nvSpPr>
        <p:spPr>
          <a:xfrm>
            <a:off x="223235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27A09-8966-EDAF-D4B5-C06CA8653D37}"/>
              </a:ext>
            </a:extLst>
          </p:cNvPr>
          <p:cNvSpPr txBox="1"/>
          <p:nvPr/>
        </p:nvSpPr>
        <p:spPr>
          <a:xfrm>
            <a:off x="895241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1845182-CDB3-13F9-7753-9708C684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295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CF4A-D97A-021D-A0B4-D4EDDB71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520301-3D3B-BB56-C97D-CB7FBD81702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3E911E-28F8-7029-12B7-B92FD32A8D2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genes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9A594D-43BD-E531-BA8A-35095CBE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15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D207D-3263-DA2A-FF2E-404458FE51DA}"/>
              </a:ext>
            </a:extLst>
          </p:cNvPr>
          <p:cNvSpPr txBox="1"/>
          <p:nvPr/>
        </p:nvSpPr>
        <p:spPr>
          <a:xfrm>
            <a:off x="415225" y="2018963"/>
            <a:ext cx="502855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Inclusion criteria:</a:t>
            </a:r>
            <a:r>
              <a:rPr lang="en-US" baseline="30000" dirty="0">
                <a:latin typeface="Verdana Pro" panose="020B0604030504040204" pitchFamily="34" charset="0"/>
              </a:rPr>
              <a:t>6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Has a monogenic genotype reported in IEI cases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Not found in individuals without IEI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Experimental studies show variant impairs, destroys, or alters expression or function of gene product.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The causal relationship between the candidate genotype and IEI is confirmed via a relevant cellular phenotype, including where possible rescue of a functional defect.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D48AD-078D-465D-3398-57A0EC7F34C7}"/>
              </a:ext>
            </a:extLst>
          </p:cNvPr>
          <p:cNvSpPr txBox="1"/>
          <p:nvPr/>
        </p:nvSpPr>
        <p:spPr>
          <a:xfrm>
            <a:off x="415225" y="1007219"/>
            <a:ext cx="6739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2025 gene list from International Union of Immunological Societies Expert Committee 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FAE992A9-2006-184E-93C0-70236479E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7214" y="1653550"/>
            <a:ext cx="6435247" cy="386114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3C869-0E57-0AC7-8720-7FFFD8985D51}"/>
              </a:ext>
            </a:extLst>
          </p:cNvPr>
          <p:cNvCxnSpPr/>
          <p:nvPr/>
        </p:nvCxnSpPr>
        <p:spPr>
          <a:xfrm>
            <a:off x="10662247" y="3597215"/>
            <a:ext cx="0" cy="3881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4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49966A-D90E-CB6D-CCF8-33379C0AC943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528B15-BC53-1D75-3F8F-C562437223F6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have significantly greater composite score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AB0EA5-0DE6-BE33-07BE-E3ABC870E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12"/>
          <a:stretch>
            <a:fillRect/>
          </a:stretch>
        </p:blipFill>
        <p:spPr>
          <a:xfrm>
            <a:off x="1223410" y="928953"/>
            <a:ext cx="9143932" cy="5008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CFA2B3-991C-6BF4-5E62-F6DBFDDDF23D}"/>
              </a:ext>
            </a:extLst>
          </p:cNvPr>
          <p:cNvSpPr txBox="1"/>
          <p:nvPr/>
        </p:nvSpPr>
        <p:spPr>
          <a:xfrm>
            <a:off x="3496850" y="5937336"/>
            <a:ext cx="459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Permuted diff in mean composite score (100,000 iterations)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81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B5EDC-0665-E7E2-9086-31BE1547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BEE7EB9-6111-B105-D72F-68CD72883E4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EB74C-4BCE-7110-7209-CA9BD1E82135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ImmPort annotations on &gt;= 0.825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4D1C052-910F-B676-F3E1-28310C7A9E0B}"/>
              </a:ext>
            </a:extLst>
          </p:cNvPr>
          <p:cNvGrpSpPr/>
          <p:nvPr/>
        </p:nvGrpSpPr>
        <p:grpSpPr>
          <a:xfrm>
            <a:off x="621102" y="1509623"/>
            <a:ext cx="4071668" cy="4037163"/>
            <a:chOff x="457200" y="1570008"/>
            <a:chExt cx="4071668" cy="4037163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A3F1735D-EB76-444F-1A6C-8C6CFB6F2D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2371" t="5391" r="52868" b="4428"/>
            <a:stretch>
              <a:fillRect/>
            </a:stretch>
          </p:blipFill>
          <p:spPr>
            <a:xfrm>
              <a:off x="457200" y="1570008"/>
              <a:ext cx="4071668" cy="403716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4F3DEA-1231-4BEF-A74A-E08B8A03D02E}"/>
                </a:ext>
              </a:extLst>
            </p:cNvPr>
            <p:cNvSpPr txBox="1"/>
            <p:nvPr/>
          </p:nvSpPr>
          <p:spPr>
            <a:xfrm>
              <a:off x="901460" y="3670539"/>
              <a:ext cx="914400" cy="276999"/>
            </a:xfrm>
            <a:prstGeom prst="rect">
              <a:avLst/>
            </a:prstGeom>
            <a:solidFill>
              <a:srgbClr val="333336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57.3%</a:t>
              </a:r>
              <a:endParaRPr lang="en-CA" sz="1200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F4CD489-DBBD-AEFE-9EFE-F3F5783E5F04}"/>
              </a:ext>
            </a:extLst>
          </p:cNvPr>
          <p:cNvGrpSpPr/>
          <p:nvPr/>
        </p:nvGrpSpPr>
        <p:grpSpPr>
          <a:xfrm>
            <a:off x="5350627" y="3411753"/>
            <a:ext cx="4728532" cy="2855343"/>
            <a:chOff x="6668219" y="1992702"/>
            <a:chExt cx="4728532" cy="2855343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A6461EC0-AD35-7CE5-29EB-92C6A71652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48017" t="18399" b="17819"/>
            <a:stretch>
              <a:fillRect/>
            </a:stretch>
          </p:blipFill>
          <p:spPr>
            <a:xfrm>
              <a:off x="6668219" y="1992702"/>
              <a:ext cx="4728532" cy="2855343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EBB48B9-4792-792E-773D-2B6C192A2174}"/>
                </a:ext>
              </a:extLst>
            </p:cNvPr>
            <p:cNvSpPr txBox="1"/>
            <p:nvPr/>
          </p:nvSpPr>
          <p:spPr>
            <a:xfrm>
              <a:off x="7571116" y="2152289"/>
              <a:ext cx="2898476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Verdana Pro" panose="020B0604030504040204" pitchFamily="34" charset="0"/>
                </a:rPr>
                <a:t>ImmPort pathway annotation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75E80F6-ADE0-6E16-C2F9-C2702EEBCB69}"/>
              </a:ext>
            </a:extLst>
          </p:cNvPr>
          <p:cNvSpPr txBox="1"/>
          <p:nvPr/>
        </p:nvSpPr>
        <p:spPr>
          <a:xfrm>
            <a:off x="5414512" y="1833923"/>
            <a:ext cx="5515155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ImmPort annotation set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curated from "Immune System" event in Reactome and "Immune System Process" term in GO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further separated these broad term events until each gene list contains a maximum of 200 genes</a:t>
            </a:r>
          </a:p>
          <a:p>
            <a:pPr>
              <a:spcAft>
                <a:spcPts val="600"/>
              </a:spcAft>
            </a:pP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0804E9-437E-274E-6EF4-98356B558E9D}"/>
              </a:ext>
            </a:extLst>
          </p:cNvPr>
          <p:cNvSpPr txBox="1"/>
          <p:nvPr/>
        </p:nvSpPr>
        <p:spPr>
          <a:xfrm>
            <a:off x="5414512" y="1128402"/>
            <a:ext cx="5515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N genes: 1,008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6482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93E5-75F6-A9EF-165C-C604EB8D1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D87839-3232-A416-44A9-3F05C0710E3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C1E3-465B-AB90-ACA6-89F7CE290AA7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ImmPort annotations enrichment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58E1901B-717A-335E-DADF-03D4592499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7183921"/>
                  </p:ext>
                </p:extLst>
              </p:nvPr>
            </p:nvGraphicFramePr>
            <p:xfrm>
              <a:off x="8872747" y="2524400"/>
              <a:ext cx="2841925" cy="10058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34019">
                      <a:extLst>
                        <a:ext uri="{9D8B030D-6E8A-4147-A177-3AD203B41FA5}">
                          <a16:colId xmlns:a16="http://schemas.microsoft.com/office/drawing/2014/main" val="2524751995"/>
                        </a:ext>
                      </a:extLst>
                    </a:gridCol>
                    <a:gridCol w="1707906">
                      <a:extLst>
                        <a:ext uri="{9D8B030D-6E8A-4147-A177-3AD203B41FA5}">
                          <a16:colId xmlns:a16="http://schemas.microsoft.com/office/drawing/2014/main" val="3895262931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Set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Proportion with ImmPort ann.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8927844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  <m:t>&gt;=</m:t>
                              </m:r>
                            </m:oMath>
                          </a14:m>
                          <a:r>
                            <a:rPr lang="en-CA" sz="1200" dirty="0">
                              <a:latin typeface="Verdana Pro" panose="020B0604030504040204" pitchFamily="34" charset="0"/>
                            </a:rPr>
                            <a:t>0.825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0.237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3026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Background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0.202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66094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58E1901B-717A-335E-DADF-03D4592499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7183921"/>
                  </p:ext>
                </p:extLst>
              </p:nvPr>
            </p:nvGraphicFramePr>
            <p:xfrm>
              <a:off x="8872747" y="2524400"/>
              <a:ext cx="2841925" cy="10058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34019">
                      <a:extLst>
                        <a:ext uri="{9D8B030D-6E8A-4147-A177-3AD203B41FA5}">
                          <a16:colId xmlns:a16="http://schemas.microsoft.com/office/drawing/2014/main" val="2524751995"/>
                        </a:ext>
                      </a:extLst>
                    </a:gridCol>
                    <a:gridCol w="1707906">
                      <a:extLst>
                        <a:ext uri="{9D8B030D-6E8A-4147-A177-3AD203B41FA5}">
                          <a16:colId xmlns:a16="http://schemas.microsoft.com/office/drawing/2014/main" val="3895262931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Set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Proportion with ImmPort ann.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8927844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38" t="-165217" r="-152151" b="-1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0.237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30262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Background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0.202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660945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2" name="Graphic 11">
            <a:extLst>
              <a:ext uri="{FF2B5EF4-FFF2-40B4-BE49-F238E27FC236}">
                <a16:creationId xmlns:a16="http://schemas.microsoft.com/office/drawing/2014/main" id="{5A4543C6-581B-8FB6-4C97-52D366C2CE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5257" y="1150448"/>
            <a:ext cx="8419907" cy="505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984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ECA242-476F-CD63-C2D3-63C2D2E4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46E6E4-646B-2D17-ACF9-CBF07B2773AB}"/>
              </a:ext>
            </a:extLst>
          </p:cNvPr>
          <p:cNvSpPr txBox="1"/>
          <p:nvPr/>
        </p:nvSpPr>
        <p:spPr>
          <a:xfrm>
            <a:off x="679162" y="632668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Conclusions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1FB7BB-1F32-C312-9404-8F1B28C8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19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99718-BBFE-DF8E-81D7-1AA6D24C799B}"/>
              </a:ext>
            </a:extLst>
          </p:cNvPr>
          <p:cNvSpPr txBox="1"/>
          <p:nvPr/>
        </p:nvSpPr>
        <p:spPr>
          <a:xfrm>
            <a:off x="826716" y="1459282"/>
            <a:ext cx="880579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annotates protein pairs with a composite score that encapsulates strength of evidence for structural homology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known homologous proteins as per literature have high composite score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IUIS-IEI genes in pipeline output have significantly greater composite score than background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</a:t>
            </a:r>
            <a:r>
              <a:rPr lang="en-US" i="1" dirty="0">
                <a:solidFill>
                  <a:schemeClr val="bg1"/>
                </a:solidFill>
                <a:latin typeface="Verdana Pro" panose="020B0604030504040204" pitchFamily="34" charset="0"/>
              </a:rPr>
              <a:t>H. sapiens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proteins in top-scoring pairs have documented antiviral roles in humans</a:t>
            </a:r>
          </a:p>
          <a:p>
            <a:pPr marL="800100" lvl="1" indent="-3429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 threshold can be used to compile a gene list for clinical genetics 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elucidates human-bacteria protein homology that is not discernible from sequence homology alone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528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CF993-7558-8DD9-8875-BE65655F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875721-348E-DD05-25AB-E649F816AC90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2CEC08-BD14-4E67-D412-32101C458AE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D08597-320D-3D8D-4678-1F20F3CD6887}"/>
              </a:ext>
            </a:extLst>
          </p:cNvPr>
          <p:cNvSpPr txBox="1"/>
          <p:nvPr/>
        </p:nvSpPr>
        <p:spPr>
          <a:xfrm>
            <a:off x="527958" y="1146628"/>
            <a:ext cx="9363581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Anjali Jain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Andy Wang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Matthew Uchmanowicz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Stephen Scherer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Centre for Computational Medicine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541BCD-C37C-9A51-8EA7-F038561CD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556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400" dirty="0">
                <a:latin typeface="Verdana Pro" panose="020B0604030504040204" pitchFamily="34" charset="0"/>
              </a:rPr>
              <a:t>Poli MC, et al. Human inborn errors of immunity: 2024 update on the classification from the International Union of Immunological Societies Expert Committee. J Hum Immun. 2025;1:e20250003. DOI: 10.70962/jhi.20250003.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718C97-AE4F-2A1A-11B0-A312FAC0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6571</TotalTime>
  <Words>1132</Words>
  <Application>Microsoft Office PowerPoint</Application>
  <PresentationFormat>Widescreen</PresentationFormat>
  <Paragraphs>224</Paragraphs>
  <Slides>21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280</cp:revision>
  <dcterms:created xsi:type="dcterms:W3CDTF">2026-04-01T17:28:23Z</dcterms:created>
  <dcterms:modified xsi:type="dcterms:W3CDTF">2026-09-03T20:58:01Z</dcterms:modified>
</cp:coreProperties>
</file>