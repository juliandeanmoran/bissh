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8" r:id="rId16"/>
    <p:sldId id="299" r:id="rId17"/>
    <p:sldId id="300" r:id="rId18"/>
    <p:sldId id="301" r:id="rId19"/>
    <p:sldId id="29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4A27F9"/>
    <a:srgbClr val="181A1B"/>
    <a:srgbClr val="1B1E1F"/>
    <a:srgbClr val="F8F9FA"/>
    <a:srgbClr val="DC445D"/>
    <a:srgbClr val="1A926E"/>
    <a:srgbClr val="EEEEEE"/>
    <a:srgbClr val="0000FF"/>
    <a:srgbClr val="0000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613" autoAdjust="0"/>
  </p:normalViewPr>
  <p:slideViewPr>
    <p:cSldViewPr snapToGrid="0">
      <p:cViewPr varScale="1">
        <p:scale>
          <a:sx n="77" d="100"/>
          <a:sy n="77" d="100"/>
        </p:scale>
        <p:origin x="18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gene lists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596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8222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291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E75-68F9-6873-5999-FE39C89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9910-22BB-B7E4-B9A9-588E13A8B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0EDF-53F0-DBFE-131A-B1068D2C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24BD3-FB97-18FD-CA72-B4130882A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641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F871A-C88D-4E10-8D99-FEC85A8B5E41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15EDE-C0F7-48C8-B8A5-4485BFFB8F68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85E81-C11B-4BFC-8E0F-A46B659CA5CC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352C1-CE60-48F2-83B2-89F8AAE1ABE4}" type="datetime1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EB51-E2E5-4C12-94EF-09C758EA7AE2}" type="datetime1">
              <a:rPr lang="en-CA" smtClean="0"/>
              <a:t>2026-08-27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A2A0C-E38A-4D25-A5E7-41DB973BEC7B}" type="datetime1">
              <a:rPr lang="en-CA" smtClean="0"/>
              <a:t>2026-08-27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473A-0C70-42D7-BA3C-E2CE5C69DDC6}" type="datetime1">
              <a:rPr lang="en-CA" smtClean="0"/>
              <a:t>2026-08-27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18C3E-A425-4BB7-888B-C63327DEEC39}" type="datetime1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68DE8-A919-4E28-A5E0-4E676A751803}" type="datetime1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C229A-4736-4449-92BD-4CADA47166CF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05B2-E522-4BB5-808B-BCB1B07386AB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6DE4D-47A6-4C4B-B9C5-A49E0BFD7885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5B9211-EF83-BA2C-7773-E0219305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2428FC-2987-C8AD-2DE4-4C943B167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B4EDB-B6D3-F39E-DDEF-0E875E27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3CB5-0241-B85B-521F-B662A3C5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363705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IEI_BISSH pipeline workflow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protein in DefenseFinder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A02DB-0425-B796-820A-CA4928CF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AA94CC-AC47-7D89-8FED-EEBCA141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Q6ICS7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E4ZAF3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Q6IC7-E4ZAF3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94B21-9ED9-712C-B028-37BA266B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A0A7P0TB94-A0A509EDC2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A0A7P0TB94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A0A509EDC2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Helicase HelY 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activates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D6B9CB-5802-43B8-3067-6B75B8D3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A0A7P0TB94(DDX20)-A0A509EDC2(HelY)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</a:t>
            </a:r>
            <a:r>
              <a:rPr lang="en-US" dirty="0" err="1">
                <a:solidFill>
                  <a:schemeClr val="bg1"/>
                </a:solidFill>
                <a:latin typeface="Verdana Pro" panose="020B0604030504040204" pitchFamily="34" charset="0"/>
              </a:rPr>
              <a:t>BLASTp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BLASTp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1845182-CDB3-13F9-7753-9708C684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CF4A-D97A-021D-A0B4-D4EDDB71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520301-3D3B-BB56-C97D-CB7FBD81702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E911E-28F8-7029-12B7-B92FD32A8D2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genes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9A594D-43BD-E531-BA8A-35095CBE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15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D207D-3263-DA2A-FF2E-404458FE51DA}"/>
              </a:ext>
            </a:extLst>
          </p:cNvPr>
          <p:cNvSpPr txBox="1"/>
          <p:nvPr/>
        </p:nvSpPr>
        <p:spPr>
          <a:xfrm>
            <a:off x="415225" y="2018963"/>
            <a:ext cx="5028550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Inclusion criteria:</a:t>
            </a:r>
            <a:r>
              <a:rPr lang="en-US" baseline="30000" dirty="0">
                <a:latin typeface="Verdana Pro" panose="020B0604030504040204" pitchFamily="34" charset="0"/>
              </a:rPr>
              <a:t>6</a:t>
            </a:r>
            <a:endParaRPr lang="en-US" dirty="0">
              <a:latin typeface="Verdana Pro" panose="020B0604030504040204" pitchFamily="34" charset="0"/>
            </a:endParaRP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candidate genotype is monogenic and is not found in individuals without the clinical phenotype.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Experimental studies show variant impairs, destroys, or alters expression or function of gene product.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causal relationship between the candidate genotype and the clinical phenotype is confirmed via a relevant cellular phenotype, including where possible rescue of a functional defect.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D48AD-078D-465D-3398-57A0EC7F34C7}"/>
              </a:ext>
            </a:extLst>
          </p:cNvPr>
          <p:cNvSpPr txBox="1"/>
          <p:nvPr/>
        </p:nvSpPr>
        <p:spPr>
          <a:xfrm>
            <a:off x="415225" y="1007219"/>
            <a:ext cx="6739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2025 gene list from International Union of Immunological Societies Expert Committee 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AE992A9-2006-184E-93C0-70236479E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14" y="1653550"/>
            <a:ext cx="6435247" cy="386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4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49966A-D90E-CB6D-CCF8-33379C0AC943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28B15-BC53-1D75-3F8F-C562437223F6}"/>
              </a:ext>
            </a:extLst>
          </p:cNvPr>
          <p:cNvSpPr txBox="1"/>
          <p:nvPr/>
        </p:nvSpPr>
        <p:spPr>
          <a:xfrm>
            <a:off x="527958" y="62217"/>
            <a:ext cx="90168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 Pro" panose="020B0604030504040204" pitchFamily="34" charset="0"/>
              </a:rPr>
              <a:t>IUIS-IEI have significantly greater composite score</a:t>
            </a:r>
            <a:endParaRPr lang="en-CA" sz="2600" b="1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AB0EA5-0DE6-BE33-07BE-E3ABC870E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12"/>
          <a:stretch>
            <a:fillRect/>
          </a:stretch>
        </p:blipFill>
        <p:spPr>
          <a:xfrm>
            <a:off x="1223410" y="928953"/>
            <a:ext cx="9143932" cy="5008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CFA2B3-991C-6BF4-5E62-F6DBFDDDF23D}"/>
              </a:ext>
            </a:extLst>
          </p:cNvPr>
          <p:cNvSpPr txBox="1"/>
          <p:nvPr/>
        </p:nvSpPr>
        <p:spPr>
          <a:xfrm>
            <a:off x="3496850" y="5937336"/>
            <a:ext cx="459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Permuted diff in mean composite score (100,000 iterations)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81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ECA242-476F-CD63-C2D3-63C2D2E4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46E6E4-646B-2D17-ACF9-CBF07B2773AB}"/>
              </a:ext>
            </a:extLst>
          </p:cNvPr>
          <p:cNvSpPr txBox="1"/>
          <p:nvPr/>
        </p:nvSpPr>
        <p:spPr>
          <a:xfrm>
            <a:off x="679162" y="632668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Conclusions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FB7BB-1F32-C312-9404-8F1B28C8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17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99718-BBFE-DF8E-81D7-1AA6D24C799B}"/>
              </a:ext>
            </a:extLst>
          </p:cNvPr>
          <p:cNvSpPr txBox="1"/>
          <p:nvPr/>
        </p:nvSpPr>
        <p:spPr>
          <a:xfrm>
            <a:off x="826716" y="1459282"/>
            <a:ext cx="88057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annotates protein pairs with a composite score that encapsulates strength of evidence for structural homology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known homologous proteins as per literature have high composite score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IUIS-IEI genes in pipeline output have significantly greater composite score than background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</a:t>
            </a:r>
            <a:r>
              <a:rPr lang="en-US" i="1" dirty="0">
                <a:solidFill>
                  <a:schemeClr val="bg1"/>
                </a:solidFill>
                <a:latin typeface="Verdana Pro" panose="020B0604030504040204" pitchFamily="34" charset="0"/>
              </a:rPr>
              <a:t>H. sapiens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proteins in top-scoring pairs have documented antiviral roles in humans</a:t>
            </a:r>
          </a:p>
          <a:p>
            <a:pPr marL="800100" lvl="1" indent="-3429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 threshold can be used to compile a gene list for clinical genetics 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elucidates human-bacteria protein homology that is not discernible from sequence homology alone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28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993-7558-8DD9-8875-BE65655F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875721-348E-DD05-25AB-E649F816AC90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CEC08-BD14-4E67-D412-32101C458AE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D08597-320D-3D8D-4678-1F20F3CD6887}"/>
              </a:ext>
            </a:extLst>
          </p:cNvPr>
          <p:cNvSpPr txBox="1"/>
          <p:nvPr/>
        </p:nvSpPr>
        <p:spPr>
          <a:xfrm>
            <a:off x="527958" y="1146628"/>
            <a:ext cx="93635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Anjali Jain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Andy Wang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Steven Scherer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Centre for Computational Medicine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541BCD-C37C-9A51-8EA7-F038561CD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556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400" dirty="0">
                <a:latin typeface="Verdana Pro" panose="020B0604030504040204" pitchFamily="34" charset="0"/>
              </a:rPr>
              <a:t>Poli MC, et al. Human inborn errors of immunity: 2024 update on the classification from the International Union of Immunological Societies Expert Committee. J Hum Immun. 2025;1:e20250003. DOI: 10.70962/jhi.20250003.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718C97-AE4F-2A1A-11B0-A312FAC0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5320</TotalTime>
  <Words>1071</Words>
  <Application>Microsoft Office PowerPoint</Application>
  <PresentationFormat>Widescreen</PresentationFormat>
  <Paragraphs>212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251</cp:revision>
  <dcterms:created xsi:type="dcterms:W3CDTF">2026-04-01T17:28:23Z</dcterms:created>
  <dcterms:modified xsi:type="dcterms:W3CDTF">2026-08-27T21:19:31Z</dcterms:modified>
</cp:coreProperties>
</file>