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91" r:id="rId3"/>
    <p:sldId id="266" r:id="rId4"/>
    <p:sldId id="269" r:id="rId5"/>
    <p:sldId id="257" r:id="rId6"/>
    <p:sldId id="286" r:id="rId7"/>
    <p:sldId id="287" r:id="rId8"/>
    <p:sldId id="284" r:id="rId9"/>
    <p:sldId id="288" r:id="rId10"/>
    <p:sldId id="292" r:id="rId11"/>
    <p:sldId id="289" r:id="rId12"/>
    <p:sldId id="290" r:id="rId13"/>
    <p:sldId id="293" r:id="rId14"/>
    <p:sldId id="294" r:id="rId15"/>
    <p:sldId id="295" r:id="rId16"/>
    <p:sldId id="29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1A1B"/>
    <a:srgbClr val="1B1E1F"/>
    <a:srgbClr val="F8F9FA"/>
    <a:srgbClr val="DC445D"/>
    <a:srgbClr val="4A27F9"/>
    <a:srgbClr val="0162B3"/>
    <a:srgbClr val="1A926E"/>
    <a:srgbClr val="EEEEEE"/>
    <a:srgbClr val="0000FF"/>
    <a:srgbClr val="000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63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B410-5F38-DE54-2B45-90055E862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EEED9-4045-BC4E-CF09-5367B8E7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FDC1-2A47-6906-89D6-FE3D30FC6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2C652-75D6-5357-36A2-CF2BCCAD9A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5556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0DC9F-C527-472F-5002-FBB13CF4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256F2C-0357-EAC9-8B29-932635B28198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33967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sz="1400" dirty="0">
              <a:latin typeface="Verdana Pro" panose="020B060403050404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8585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76734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8584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76733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</a:t>
            </a:r>
          </a:p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method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E-value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858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7672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40139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58736" y="3479386"/>
            <a:ext cx="3306781" cy="2824035"/>
            <a:chOff x="374070" y="3478421"/>
            <a:chExt cx="3306781" cy="28240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5279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score term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325386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0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B665-2D1C-BE92-D560-316708F8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33E5B-9FB7-B156-5DBA-C9C55E842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974DA8-9E7C-193C-029D-F2C24289D4A9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ECC1CE-8E06-7958-0EBF-A2A7B9442C9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9AEED0B-859E-9ADC-B75F-82FA477055CA}"/>
              </a:ext>
            </a:extLst>
          </p:cNvPr>
          <p:cNvSpPr/>
          <p:nvPr/>
        </p:nvSpPr>
        <p:spPr>
          <a:xfrm>
            <a:off x="3769744" y="1535501"/>
            <a:ext cx="491706" cy="4054415"/>
          </a:xfrm>
          <a:prstGeom prst="leftBrace">
            <a:avLst>
              <a:gd name="adj1" fmla="val 6640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8DED4-DBC8-683D-0AD8-0D5A443D9BF4}"/>
              </a:ext>
            </a:extLst>
          </p:cNvPr>
          <p:cNvSpPr txBox="1"/>
          <p:nvPr/>
        </p:nvSpPr>
        <p:spPr>
          <a:xfrm>
            <a:off x="1802921" y="3343712"/>
            <a:ext cx="1751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Composite score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48A35C-C229-4D3B-B997-AAB149919B61}"/>
              </a:ext>
            </a:extLst>
          </p:cNvPr>
          <p:cNvSpPr txBox="1"/>
          <p:nvPr/>
        </p:nvSpPr>
        <p:spPr>
          <a:xfrm>
            <a:off x="4477111" y="1750580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0.40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6B46B0-3007-BCB5-CC7B-BA07D110976D}"/>
              </a:ext>
            </a:extLst>
          </p:cNvPr>
          <p:cNvSpPr txBox="1"/>
          <p:nvPr/>
        </p:nvSpPr>
        <p:spPr>
          <a:xfrm>
            <a:off x="4477111" y="2388323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0.35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3C0383-BE71-D53A-E78A-8914873CE23D}"/>
              </a:ext>
            </a:extLst>
          </p:cNvPr>
          <p:cNvSpPr txBox="1"/>
          <p:nvPr/>
        </p:nvSpPr>
        <p:spPr>
          <a:xfrm>
            <a:off x="4477111" y="3026066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CDBEE4-AF87-D882-E926-2C1B647F509A}"/>
              </a:ext>
            </a:extLst>
          </p:cNvPr>
          <p:cNvSpPr txBox="1"/>
          <p:nvPr/>
        </p:nvSpPr>
        <p:spPr>
          <a:xfrm>
            <a:off x="4307522" y="4301552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E05E2A-88A7-4FE5-B73D-087489CCC75A}"/>
              </a:ext>
            </a:extLst>
          </p:cNvPr>
          <p:cNvSpPr txBox="1"/>
          <p:nvPr/>
        </p:nvSpPr>
        <p:spPr>
          <a:xfrm>
            <a:off x="4477111" y="3663809"/>
            <a:ext cx="85314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5FDD19-BE06-690C-1633-B2C65A4190ED}"/>
              </a:ext>
            </a:extLst>
          </p:cNvPr>
          <p:cNvSpPr txBox="1"/>
          <p:nvPr/>
        </p:nvSpPr>
        <p:spPr>
          <a:xfrm>
            <a:off x="4307522" y="4939295"/>
            <a:ext cx="11923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Verdana Pro" panose="020B0604030504040204" pitchFamily="34" charset="0"/>
              </a:rPr>
              <a:t>0.075</a:t>
            </a:r>
            <a:endParaRPr lang="en-CA" sz="2000" dirty="0">
              <a:latin typeface="Verdana Pro" panose="020B060403050404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23687C-5692-135C-A4FE-826450958AAA}"/>
              </a:ext>
            </a:extLst>
          </p:cNvPr>
          <p:cNvSpPr txBox="1"/>
          <p:nvPr/>
        </p:nvSpPr>
        <p:spPr>
          <a:xfrm>
            <a:off x="5827142" y="1725962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PyMOL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CBEC20-DE87-68C0-E171-8639471C5A67}"/>
              </a:ext>
            </a:extLst>
          </p:cNvPr>
          <p:cNvSpPr txBox="1"/>
          <p:nvPr/>
        </p:nvSpPr>
        <p:spPr>
          <a:xfrm>
            <a:off x="5827142" y="2363705"/>
            <a:ext cx="285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E-value score term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61785F-B575-62D9-1FD4-C08CE622EDA0}"/>
              </a:ext>
            </a:extLst>
          </p:cNvPr>
          <p:cNvSpPr txBox="1"/>
          <p:nvPr/>
        </p:nvSpPr>
        <p:spPr>
          <a:xfrm>
            <a:off x="5827141" y="3041455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(human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183B46-826A-720E-6A3B-310E6F84CCCD}"/>
              </a:ext>
            </a:extLst>
          </p:cNvPr>
          <p:cNvSpPr txBox="1"/>
          <p:nvPr/>
        </p:nvSpPr>
        <p:spPr>
          <a:xfrm>
            <a:off x="5827141" y="3620711"/>
            <a:ext cx="341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TM score (bacterial protein)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A0E3E-AC9A-F986-2B7B-5BB737BE6048}"/>
              </a:ext>
            </a:extLst>
          </p:cNvPr>
          <p:cNvSpPr txBox="1"/>
          <p:nvPr/>
        </p:nvSpPr>
        <p:spPr>
          <a:xfrm>
            <a:off x="5827141" y="4301552"/>
            <a:ext cx="373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(human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79893-B955-E120-12A9-F39980A98AF7}"/>
              </a:ext>
            </a:extLst>
          </p:cNvPr>
          <p:cNvSpPr txBox="1"/>
          <p:nvPr/>
        </p:nvSpPr>
        <p:spPr>
          <a:xfrm>
            <a:off x="5827141" y="4939295"/>
            <a:ext cx="3929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pLDDT (bacterial protein) / 100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/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⁡(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_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𝑣𝑎𝑙𝑢𝑒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1257FA-61B4-79E9-59D2-FDAA739A4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480" y="2230481"/>
                <a:ext cx="2585772" cy="447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/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𝑃𝑦𝑀𝑂𝐿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𝑅𝑀𝑆𝐷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D07372F-CC59-F650-3BDF-BD7D83BD1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8" y="1601768"/>
                <a:ext cx="2951193" cy="5296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/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61CC45D-F2BB-BE0C-F1B1-FDEC601F8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45" y="1772128"/>
                <a:ext cx="211596" cy="276999"/>
              </a:xfrm>
              <a:prstGeom prst="rect">
                <a:avLst/>
              </a:prstGeom>
              <a:blipFill>
                <a:blip r:embed="rId5"/>
                <a:stretch>
                  <a:fillRect l="-20000" r="-20000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/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67DADA6-301A-D32D-1B6C-13F3A119D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2410584"/>
                <a:ext cx="211596" cy="276999"/>
              </a:xfrm>
              <a:prstGeom prst="rect">
                <a:avLst/>
              </a:prstGeom>
              <a:blipFill>
                <a:blip r:embed="rId6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/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5D25EA9-1605-948B-B576-2C65D459B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087621"/>
                <a:ext cx="211596" cy="276999"/>
              </a:xfrm>
              <a:prstGeom prst="rect">
                <a:avLst/>
              </a:prstGeom>
              <a:blipFill>
                <a:blip r:embed="rId7"/>
                <a:stretch>
                  <a:fillRect l="-20588" r="-2352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/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FB992AB-489E-22E8-7737-74D1D423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3663809"/>
                <a:ext cx="211596" cy="276999"/>
              </a:xfrm>
              <a:prstGeom prst="rect">
                <a:avLst/>
              </a:prstGeom>
              <a:blipFill>
                <a:blip r:embed="rId8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/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C54D887-6A46-65F6-E273-5532D8C79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986527"/>
                <a:ext cx="211596" cy="276999"/>
              </a:xfrm>
              <a:prstGeom prst="rect">
                <a:avLst/>
              </a:prstGeom>
              <a:blipFill>
                <a:blip r:embed="rId9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/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A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7A4BF02-3753-B25E-F29F-8885B574B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302" y="4363107"/>
                <a:ext cx="211596" cy="276999"/>
              </a:xfrm>
              <a:prstGeom prst="rect">
                <a:avLst/>
              </a:prstGeom>
              <a:blipFill>
                <a:blip r:embed="rId10"/>
                <a:stretch>
                  <a:fillRect l="-20588" r="-23529" b="-222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ED0DAFEE-3EF3-38A9-44F0-1354DB6BFDE9}"/>
              </a:ext>
            </a:extLst>
          </p:cNvPr>
          <p:cNvSpPr txBox="1"/>
          <p:nvPr/>
        </p:nvSpPr>
        <p:spPr>
          <a:xfrm>
            <a:off x="2119788" y="4116886"/>
            <a:ext cx="124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0.0 </a:t>
            </a:r>
            <a:r>
              <a:rPr lang="en-US" dirty="0">
                <a:sym typeface="Wingdings" panose="05000000000000000000" pitchFamily="2" charset="2"/>
              </a:rPr>
              <a:t> 1.0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310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EE49C3D-4F55-2A4E-9E34-6CEE16631388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3A4886-B1AC-EA6D-01D4-77894B69E9FC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Pipeline schematic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E2AB0-B71B-D41A-7A04-C71BDE321B1A}"/>
              </a:ext>
            </a:extLst>
          </p:cNvPr>
          <p:cNvSpPr txBox="1"/>
          <p:nvPr/>
        </p:nvSpPr>
        <p:spPr>
          <a:xfrm>
            <a:off x="585619" y="1755871"/>
            <a:ext cx="2652622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DefenseFinder UniProt IDs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482159-6150-31DC-0C89-FFC0F811E6C8}"/>
              </a:ext>
            </a:extLst>
          </p:cNvPr>
          <p:cNvSpPr txBox="1"/>
          <p:nvPr/>
        </p:nvSpPr>
        <p:spPr>
          <a:xfrm>
            <a:off x="527959" y="3392485"/>
            <a:ext cx="26526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AFDB FoldSeek all-v-all</a:t>
            </a:r>
          </a:p>
          <a:p>
            <a:r>
              <a:rPr lang="en-US" sz="1400" dirty="0">
                <a:latin typeface="Verdana Pro" panose="020B0604030504040204" pitchFamily="34" charset="0"/>
              </a:rPr>
              <a:t>network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9B3762C-08E2-50D0-C363-57E5057F2C1C}"/>
              </a:ext>
            </a:extLst>
          </p:cNvPr>
          <p:cNvGrpSpPr/>
          <p:nvPr/>
        </p:nvGrpSpPr>
        <p:grpSpPr>
          <a:xfrm>
            <a:off x="585619" y="2153230"/>
            <a:ext cx="1997014" cy="797920"/>
            <a:chOff x="892835" y="1928027"/>
            <a:chExt cx="1997014" cy="79792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55809C-D238-02A1-32C4-9D0C3A8C9C78}"/>
                </a:ext>
              </a:extLst>
            </p:cNvPr>
            <p:cNvSpPr/>
            <p:nvPr/>
          </p:nvSpPr>
          <p:spPr>
            <a:xfrm>
              <a:off x="892835" y="1932317"/>
              <a:ext cx="1997014" cy="79363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409073-8540-490B-2E26-F00F6726E36E}"/>
                </a:ext>
              </a:extLst>
            </p:cNvPr>
            <p:cNvSpPr/>
            <p:nvPr/>
          </p:nvSpPr>
          <p:spPr>
            <a:xfrm>
              <a:off x="892835" y="2148248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9908847-4851-CF9C-B87A-0CD52953B874}"/>
                </a:ext>
              </a:extLst>
            </p:cNvPr>
            <p:cNvSpPr/>
            <p:nvPr/>
          </p:nvSpPr>
          <p:spPr>
            <a:xfrm>
              <a:off x="892835" y="2533890"/>
              <a:ext cx="1997014" cy="1877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00B8D5-2535-B8A5-10D9-18C4BFF406FE}"/>
                </a:ext>
              </a:extLst>
            </p:cNvPr>
            <p:cNvSpPr/>
            <p:nvPr/>
          </p:nvSpPr>
          <p:spPr>
            <a:xfrm>
              <a:off x="892836" y="1928027"/>
              <a:ext cx="327964" cy="79363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A673C08-5E00-0296-8220-C14241A97C22}"/>
              </a:ext>
            </a:extLst>
          </p:cNvPr>
          <p:cNvGrpSpPr/>
          <p:nvPr/>
        </p:nvGrpSpPr>
        <p:grpSpPr>
          <a:xfrm>
            <a:off x="563503" y="4112852"/>
            <a:ext cx="1348427" cy="1405139"/>
            <a:chOff x="4226224" y="1980968"/>
            <a:chExt cx="934101" cy="973387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8BC38BD-5485-7068-A1D0-2A27736240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8126" y="2200930"/>
              <a:ext cx="254669" cy="4761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27A8ECE3-C0D5-1E89-80B4-6A56ADFEE7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8624" y="2212835"/>
              <a:ext cx="564171" cy="14278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4774099-69B7-2D71-C928-6D72BBFBAB8C}"/>
                </a:ext>
              </a:extLst>
            </p:cNvPr>
            <p:cNvCxnSpPr>
              <a:cxnSpLocks/>
              <a:stCxn id="21" idx="1"/>
              <a:endCxn id="69" idx="5"/>
            </p:cNvCxnSpPr>
            <p:nvPr/>
          </p:nvCxnSpPr>
          <p:spPr>
            <a:xfrm>
              <a:off x="4389395" y="2319709"/>
              <a:ext cx="350739" cy="3573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D443148-F790-D8E3-F1EF-BA243415E26C}"/>
                </a:ext>
              </a:extLst>
            </p:cNvPr>
            <p:cNvCxnSpPr>
              <a:cxnSpLocks/>
              <a:stCxn id="19" idx="1"/>
              <a:endCxn id="21" idx="5"/>
            </p:cNvCxnSpPr>
            <p:nvPr/>
          </p:nvCxnSpPr>
          <p:spPr>
            <a:xfrm>
              <a:off x="4236995" y="2167309"/>
              <a:ext cx="204408" cy="200420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81EF6D6-EDBD-4979-E12D-6395D0B2FD67}"/>
                </a:ext>
              </a:extLst>
            </p:cNvPr>
            <p:cNvSpPr/>
            <p:nvPr/>
          </p:nvSpPr>
          <p:spPr>
            <a:xfrm>
              <a:off x="4226224" y="21573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085ABB3-6CC5-194B-62B9-51F34BA705E1}"/>
                </a:ext>
              </a:extLst>
            </p:cNvPr>
            <p:cNvSpPr/>
            <p:nvPr/>
          </p:nvSpPr>
          <p:spPr>
            <a:xfrm>
              <a:off x="4378624" y="2309764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5D0699C-35D8-36F2-2907-B9370A5E6C88}"/>
                </a:ext>
              </a:extLst>
            </p:cNvPr>
            <p:cNvSpPr/>
            <p:nvPr/>
          </p:nvSpPr>
          <p:spPr>
            <a:xfrm>
              <a:off x="4257742" y="2401008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218D8C3-3685-D029-3978-476D864073A0}"/>
                </a:ext>
              </a:extLst>
            </p:cNvPr>
            <p:cNvSpPr/>
            <p:nvPr/>
          </p:nvSpPr>
          <p:spPr>
            <a:xfrm>
              <a:off x="4548608" y="2161869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697E2B0-D477-1861-C677-D88B02E87554}"/>
                </a:ext>
              </a:extLst>
            </p:cNvPr>
            <p:cNvSpPr/>
            <p:nvPr/>
          </p:nvSpPr>
          <p:spPr>
            <a:xfrm>
              <a:off x="4384712" y="2566682"/>
              <a:ext cx="73550" cy="67910"/>
            </a:xfrm>
            <a:prstGeom prst="ellipse">
              <a:avLst/>
            </a:prstGeom>
            <a:solidFill>
              <a:srgbClr val="4A27F9"/>
            </a:solidFill>
            <a:ln>
              <a:solidFill>
                <a:srgbClr val="4A27F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82FAA3D-718B-81F8-2749-683892BE6D2B}"/>
                </a:ext>
              </a:extLst>
            </p:cNvPr>
            <p:cNvCxnSpPr>
              <a:cxnSpLocks/>
              <a:stCxn id="21" idx="3"/>
              <a:endCxn id="25" idx="7"/>
            </p:cNvCxnSpPr>
            <p:nvPr/>
          </p:nvCxnSpPr>
          <p:spPr>
            <a:xfrm flipV="1">
              <a:off x="4389395" y="2171814"/>
              <a:ext cx="221992" cy="195915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63D84E-38E7-1A84-38C9-81E17B38D67B}"/>
                </a:ext>
              </a:extLst>
            </p:cNvPr>
            <p:cNvCxnSpPr>
              <a:cxnSpLocks/>
              <a:stCxn id="21" idx="7"/>
              <a:endCxn id="23" idx="3"/>
            </p:cNvCxnSpPr>
            <p:nvPr/>
          </p:nvCxnSpPr>
          <p:spPr>
            <a:xfrm flipH="1">
              <a:off x="4268513" y="2319709"/>
              <a:ext cx="172890" cy="139264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C619806-5D1B-7BBF-B279-574D17F67F9B}"/>
                </a:ext>
              </a:extLst>
            </p:cNvPr>
            <p:cNvCxnSpPr>
              <a:cxnSpLocks/>
              <a:stCxn id="21" idx="0"/>
              <a:endCxn id="27" idx="4"/>
            </p:cNvCxnSpPr>
            <p:nvPr/>
          </p:nvCxnSpPr>
          <p:spPr>
            <a:xfrm>
              <a:off x="4415399" y="2309764"/>
              <a:ext cx="6088" cy="324828"/>
            </a:xfrm>
            <a:prstGeom prst="line">
              <a:avLst/>
            </a:prstGeom>
            <a:ln>
              <a:solidFill>
                <a:srgbClr val="4A27F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917FAC-9F98-7DC8-1F1E-936043AF9A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84778" y="2215416"/>
              <a:ext cx="269538" cy="89146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0662BCC-64DC-5F56-F1AF-841B1CA46AAB}"/>
                </a:ext>
              </a:extLst>
            </p:cNvPr>
            <p:cNvSpPr/>
            <p:nvPr/>
          </p:nvSpPr>
          <p:spPr>
            <a:xfrm>
              <a:off x="5086775" y="2256121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0329036-493A-582C-9911-DD8C2D251EF8}"/>
                </a:ext>
              </a:extLst>
            </p:cNvPr>
            <p:cNvSpPr/>
            <p:nvPr/>
          </p:nvSpPr>
          <p:spPr>
            <a:xfrm>
              <a:off x="4880016" y="2190985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42D6F0-A580-DF22-0B10-353947028973}"/>
                </a:ext>
              </a:extLst>
            </p:cNvPr>
            <p:cNvSpPr/>
            <p:nvPr/>
          </p:nvSpPr>
          <p:spPr>
            <a:xfrm>
              <a:off x="4788079" y="2319444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48ED028-E19D-2BF3-F6C6-10696F68015C}"/>
                </a:ext>
              </a:extLst>
            </p:cNvPr>
            <p:cNvSpPr/>
            <p:nvPr/>
          </p:nvSpPr>
          <p:spPr>
            <a:xfrm>
              <a:off x="4729363" y="198096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E8405C9-BA06-1AE4-18D2-99978F4F0FE4}"/>
                </a:ext>
              </a:extLst>
            </p:cNvPr>
            <p:cNvSpPr/>
            <p:nvPr/>
          </p:nvSpPr>
          <p:spPr>
            <a:xfrm>
              <a:off x="5013225" y="2110628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DCB9F063-1A96-0791-C0AD-5469A951A4F0}"/>
                </a:ext>
              </a:extLst>
            </p:cNvPr>
            <p:cNvCxnSpPr>
              <a:cxnSpLocks/>
              <a:stCxn id="43" idx="7"/>
              <a:endCxn id="44" idx="3"/>
            </p:cNvCxnSpPr>
            <p:nvPr/>
          </p:nvCxnSpPr>
          <p:spPr>
            <a:xfrm flipH="1">
              <a:off x="4798850" y="2200930"/>
              <a:ext cx="143945" cy="1764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667B0733-C98D-4EED-C4B2-A68EC4AD2C47}"/>
                </a:ext>
              </a:extLst>
            </p:cNvPr>
            <p:cNvCxnSpPr>
              <a:cxnSpLocks/>
              <a:stCxn id="43" idx="3"/>
              <a:endCxn id="46" idx="7"/>
            </p:cNvCxnSpPr>
            <p:nvPr/>
          </p:nvCxnSpPr>
          <p:spPr>
            <a:xfrm flipV="1">
              <a:off x="4890787" y="2120573"/>
              <a:ext cx="185217" cy="12837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9C4C0168-501A-9F8A-30D2-CCB4F3D7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905073" y="2196168"/>
              <a:ext cx="99554" cy="220379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6FC40C0-DAD7-0368-B5C5-CFF8E959A039}"/>
                </a:ext>
              </a:extLst>
            </p:cNvPr>
            <p:cNvSpPr/>
            <p:nvPr/>
          </p:nvSpPr>
          <p:spPr>
            <a:xfrm>
              <a:off x="4953566" y="2353399"/>
              <a:ext cx="73550" cy="67910"/>
            </a:xfrm>
            <a:prstGeom prst="ellipse">
              <a:avLst/>
            </a:prstGeom>
            <a:solidFill>
              <a:srgbClr val="DC445D"/>
            </a:solidFill>
            <a:ln>
              <a:solidFill>
                <a:srgbClr val="DC44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D2FA517-B6BD-F3ED-0A83-1614D05C3061}"/>
                </a:ext>
              </a:extLst>
            </p:cNvPr>
            <p:cNvCxnSpPr>
              <a:cxnSpLocks/>
              <a:stCxn id="45" idx="1"/>
              <a:endCxn id="43" idx="5"/>
            </p:cNvCxnSpPr>
            <p:nvPr/>
          </p:nvCxnSpPr>
          <p:spPr>
            <a:xfrm>
              <a:off x="4740134" y="1990913"/>
              <a:ext cx="202661" cy="258037"/>
            </a:xfrm>
            <a:prstGeom prst="line">
              <a:avLst/>
            </a:prstGeom>
            <a:ln>
              <a:solidFill>
                <a:srgbClr val="DC44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566484AA-AA72-2B72-1265-C5022310C2C2}"/>
                </a:ext>
              </a:extLst>
            </p:cNvPr>
            <p:cNvCxnSpPr>
              <a:cxnSpLocks/>
              <a:stCxn id="76" idx="7"/>
              <a:endCxn id="69" idx="3"/>
            </p:cNvCxnSpPr>
            <p:nvPr/>
          </p:nvCxnSpPr>
          <p:spPr>
            <a:xfrm flipH="1">
              <a:off x="4688126" y="2542672"/>
              <a:ext cx="181119" cy="134377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E180036A-A98F-D7B5-7CFC-79A819FC5D45}"/>
                </a:ext>
              </a:extLst>
            </p:cNvPr>
            <p:cNvSpPr/>
            <p:nvPr/>
          </p:nvSpPr>
          <p:spPr>
            <a:xfrm>
              <a:off x="4884114" y="2684220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80BE4D-063C-2618-B8CA-78125421D875}"/>
                </a:ext>
              </a:extLst>
            </p:cNvPr>
            <p:cNvSpPr/>
            <p:nvPr/>
          </p:nvSpPr>
          <p:spPr>
            <a:xfrm>
              <a:off x="4677355" y="2619084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45E38CA0-635B-ACE6-3B8A-80B0331844FF}"/>
                </a:ext>
              </a:extLst>
            </p:cNvPr>
            <p:cNvSpPr/>
            <p:nvPr/>
          </p:nvSpPr>
          <p:spPr>
            <a:xfrm>
              <a:off x="4585418" y="2747543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527DEAE-9EB9-D726-C435-798F6FCC1672}"/>
                </a:ext>
              </a:extLst>
            </p:cNvPr>
            <p:cNvSpPr/>
            <p:nvPr/>
          </p:nvSpPr>
          <p:spPr>
            <a:xfrm>
              <a:off x="4628876" y="2454706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75AEAE8-7EFE-4A6C-413A-411E9DE26E45}"/>
                </a:ext>
              </a:extLst>
            </p:cNvPr>
            <p:cNvSpPr/>
            <p:nvPr/>
          </p:nvSpPr>
          <p:spPr>
            <a:xfrm>
              <a:off x="4507371" y="2656368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E837D91-AC0E-1B1E-A6BE-6C3DE76A1C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0983" y="2638553"/>
              <a:ext cx="269538" cy="89146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6D419CA-3EEC-8A1E-E310-BA65C0E5EF68}"/>
                </a:ext>
              </a:extLst>
            </p:cNvPr>
            <p:cNvCxnSpPr>
              <a:cxnSpLocks/>
              <a:stCxn id="70" idx="3"/>
              <a:endCxn id="69" idx="7"/>
            </p:cNvCxnSpPr>
            <p:nvPr/>
          </p:nvCxnSpPr>
          <p:spPr>
            <a:xfrm flipV="1">
              <a:off x="4596189" y="2629029"/>
              <a:ext cx="143945" cy="176479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A592A9B-213A-1744-F28D-311445D921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6603" y="2457087"/>
              <a:ext cx="79245" cy="219962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E3DA2B0B-F45E-F799-971A-C85A4B01616D}"/>
                </a:ext>
              </a:extLst>
            </p:cNvPr>
            <p:cNvSpPr/>
            <p:nvPr/>
          </p:nvSpPr>
          <p:spPr>
            <a:xfrm>
              <a:off x="4806466" y="2532727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66492D5-0741-746C-4FD9-ACF3722A9B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9752" y="2640934"/>
              <a:ext cx="232763" cy="61294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E9DDA3A-37C6-8F01-55D3-4E6A70B13770}"/>
                </a:ext>
              </a:extLst>
            </p:cNvPr>
            <p:cNvSpPr/>
            <p:nvPr/>
          </p:nvSpPr>
          <p:spPr>
            <a:xfrm>
              <a:off x="4670333" y="2886445"/>
              <a:ext cx="73550" cy="67910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88C601E-3155-2914-3E5F-E2219AADDC36}"/>
                </a:ext>
              </a:extLst>
            </p:cNvPr>
            <p:cNvCxnSpPr>
              <a:cxnSpLocks/>
              <a:stCxn id="69" idx="0"/>
              <a:endCxn id="92" idx="4"/>
            </p:cNvCxnSpPr>
            <p:nvPr/>
          </p:nvCxnSpPr>
          <p:spPr>
            <a:xfrm flipH="1">
              <a:off x="4707108" y="2619084"/>
              <a:ext cx="7022" cy="335271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A4D89389-CE9D-C96E-8378-71E08A093C8A}"/>
              </a:ext>
            </a:extLst>
          </p:cNvPr>
          <p:cNvSpPr txBox="1"/>
          <p:nvPr/>
        </p:nvSpPr>
        <p:spPr>
          <a:xfrm>
            <a:off x="4227609" y="1755870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Human-bacteria protein pairs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FDA91FCA-C304-3406-3EEC-B14900AC32FA}"/>
              </a:ext>
            </a:extLst>
          </p:cNvPr>
          <p:cNvCxnSpPr>
            <a:cxnSpLocks/>
            <a:stCxn id="8" idx="3"/>
            <a:endCxn id="107" idx="1"/>
          </p:cNvCxnSpPr>
          <p:nvPr/>
        </p:nvCxnSpPr>
        <p:spPr>
          <a:xfrm flipV="1">
            <a:off x="3238241" y="1909759"/>
            <a:ext cx="989368" cy="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757B1020-BD65-9003-1637-5C69A8B54BB9}"/>
              </a:ext>
            </a:extLst>
          </p:cNvPr>
          <p:cNvCxnSpPr>
            <a:cxnSpLocks/>
            <a:stCxn id="10" idx="3"/>
            <a:endCxn id="107" idx="1"/>
          </p:cNvCxnSpPr>
          <p:nvPr/>
        </p:nvCxnSpPr>
        <p:spPr>
          <a:xfrm flipV="1">
            <a:off x="3180581" y="1909759"/>
            <a:ext cx="1047028" cy="174433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3EC1BDA-16B8-F15B-DEA1-0928C4E3020D}"/>
              </a:ext>
            </a:extLst>
          </p:cNvPr>
          <p:cNvSpPr txBox="1"/>
          <p:nvPr/>
        </p:nvSpPr>
        <p:spPr>
          <a:xfrm>
            <a:off x="4227609" y="2217535"/>
            <a:ext cx="313570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Proteins with ...</a:t>
            </a:r>
          </a:p>
          <a:p>
            <a:pPr>
              <a:spcAft>
                <a:spcPts val="600"/>
              </a:spcAft>
            </a:pPr>
            <a:r>
              <a:rPr lang="en-US" sz="1400" dirty="0">
                <a:latin typeface="Verdana Pro" panose="020B0604030504040204" pitchFamily="34" charset="0"/>
              </a:rPr>
              <a:t>1. </a:t>
            </a:r>
            <a:r>
              <a:rPr lang="en-US" sz="1400" i="1" dirty="0">
                <a:latin typeface="Verdana Pro" panose="020B0604030504040204" pitchFamily="34" charset="0"/>
              </a:rPr>
              <a:t>H. sapiens</a:t>
            </a:r>
            <a:r>
              <a:rPr lang="en-US" sz="1400" dirty="0">
                <a:latin typeface="Verdana Pro" panose="020B0604030504040204" pitchFamily="34" charset="0"/>
              </a:rPr>
              <a:t> taxID in FoldSeek</a:t>
            </a:r>
          </a:p>
          <a:p>
            <a:r>
              <a:rPr lang="en-CA" sz="1400" dirty="0">
                <a:latin typeface="Verdana Pro" panose="020B0604030504040204" pitchFamily="34" charset="0"/>
              </a:rPr>
              <a:t>2. e-value with protein in DefenseFinder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F16BC33-2984-B617-CF5C-42D7CFA7F0A9}"/>
              </a:ext>
            </a:extLst>
          </p:cNvPr>
          <p:cNvSpPr txBox="1"/>
          <p:nvPr/>
        </p:nvSpPr>
        <p:spPr>
          <a:xfrm>
            <a:off x="7446884" y="1756315"/>
            <a:ext cx="290782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AlphaFold structures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5CDF36C5-0A33-7EBB-9651-44F21ED73DF0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4" y="2393484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D382093C-EB4F-E583-7FBB-0B33B71771BD}"/>
              </a:ext>
            </a:extLst>
          </p:cNvPr>
          <p:cNvSpPr txBox="1"/>
          <p:nvPr/>
        </p:nvSpPr>
        <p:spPr>
          <a:xfrm>
            <a:off x="7728858" y="2741214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TM-align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DC01794-2DD0-C54A-275F-3E2939A7898F}"/>
              </a:ext>
            </a:extLst>
          </p:cNvPr>
          <p:cNvSpPr txBox="1"/>
          <p:nvPr/>
        </p:nvSpPr>
        <p:spPr>
          <a:xfrm>
            <a:off x="7728858" y="3608571"/>
            <a:ext cx="211955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PyMOL-super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D4C6186-6C1A-AF6C-FB54-15FC9B19DBEF}"/>
              </a:ext>
            </a:extLst>
          </p:cNvPr>
          <p:cNvSpPr txBox="1"/>
          <p:nvPr/>
        </p:nvSpPr>
        <p:spPr>
          <a:xfrm>
            <a:off x="7708312" y="4403869"/>
            <a:ext cx="234387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Domain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66B4A858-B710-FA40-B1D2-91CE585502AA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3239885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953BB405-8981-7EC4-17EC-080344492422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071693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03470975-3E7B-0F53-8AC3-113DA53804D9}"/>
              </a:ext>
            </a:extLst>
          </p:cNvPr>
          <p:cNvSpPr txBox="1"/>
          <p:nvPr/>
        </p:nvSpPr>
        <p:spPr>
          <a:xfrm>
            <a:off x="7708311" y="5250270"/>
            <a:ext cx="23438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Composite score annotation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BB1825B2-B940-87C2-5109-25F575E5C771}"/>
              </a:ext>
            </a:extLst>
          </p:cNvPr>
          <p:cNvCxnSpPr>
            <a:cxnSpLocks/>
          </p:cNvCxnSpPr>
          <p:nvPr/>
        </p:nvCxnSpPr>
        <p:spPr>
          <a:xfrm rot="16200000" flipH="1">
            <a:off x="7206693" y="4921489"/>
            <a:ext cx="831456" cy="171781"/>
          </a:xfrm>
          <a:prstGeom prst="bentConnector3">
            <a:avLst>
              <a:gd name="adj1" fmla="val 998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0D4A427-7132-F54C-A374-309D4E705073}"/>
              </a:ext>
            </a:extLst>
          </p:cNvPr>
          <p:cNvGrpSpPr/>
          <p:nvPr/>
        </p:nvGrpSpPr>
        <p:grpSpPr>
          <a:xfrm>
            <a:off x="10308296" y="2741214"/>
            <a:ext cx="1375891" cy="3092898"/>
            <a:chOff x="10790885" y="2741214"/>
            <a:chExt cx="1375891" cy="309289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349F890-E835-A504-B1F6-1DA6E0B9702C}"/>
                </a:ext>
              </a:extLst>
            </p:cNvPr>
            <p:cNvSpPr/>
            <p:nvPr/>
          </p:nvSpPr>
          <p:spPr>
            <a:xfrm>
              <a:off x="10790886" y="4021098"/>
              <a:ext cx="1375890" cy="771881"/>
            </a:xfrm>
            <a:prstGeom prst="rect">
              <a:avLst/>
            </a:prstGeom>
            <a:solidFill>
              <a:srgbClr val="F8F9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155" name="Picture 154">
              <a:extLst>
                <a:ext uri="{FF2B5EF4-FFF2-40B4-BE49-F238E27FC236}">
                  <a16:creationId xmlns:a16="http://schemas.microsoft.com/office/drawing/2014/main" id="{75AF42F9-C387-1720-F708-36EA48A1E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049" r="16301"/>
            <a:stretch>
              <a:fillRect/>
            </a:stretch>
          </p:blipFill>
          <p:spPr>
            <a:xfrm>
              <a:off x="10790885" y="4418800"/>
              <a:ext cx="1375890" cy="141531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07792FB4-7BCC-06BF-8439-CCB868A85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84" r="16178"/>
            <a:stretch>
              <a:fillRect/>
            </a:stretch>
          </p:blipFill>
          <p:spPr>
            <a:xfrm>
              <a:off x="10790885" y="2741214"/>
              <a:ext cx="1375890" cy="1402636"/>
            </a:xfrm>
            <a:prstGeom prst="rect">
              <a:avLst/>
            </a:prstGeom>
          </p:spPr>
        </p:pic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4587CE1A-B379-7828-EA4E-5BFC7C108186}"/>
              </a:ext>
            </a:extLst>
          </p:cNvPr>
          <p:cNvSpPr txBox="1"/>
          <p:nvPr/>
        </p:nvSpPr>
        <p:spPr>
          <a:xfrm>
            <a:off x="11005019" y="548694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0.92</a:t>
            </a:r>
            <a:endParaRPr lang="en-CA" dirty="0">
              <a:latin typeface="Verdana Pro" panose="020B0604030504040204" pitchFamily="34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CC0A439-DE2B-E5A3-6BDC-937CA42DCC63}"/>
              </a:ext>
            </a:extLst>
          </p:cNvPr>
          <p:cNvCxnSpPr>
            <a:cxnSpLocks/>
            <a:stCxn id="107" idx="3"/>
          </p:cNvCxnSpPr>
          <p:nvPr/>
        </p:nvCxnSpPr>
        <p:spPr>
          <a:xfrm>
            <a:off x="7135430" y="1909759"/>
            <a:ext cx="3131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328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82B96F-B730-1DA5-EB18-8FC579142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CC1444-5E77-21AF-0D9D-5AE735660034}"/>
              </a:ext>
            </a:extLst>
          </p:cNvPr>
          <p:cNvSpPr txBox="1"/>
          <p:nvPr/>
        </p:nvSpPr>
        <p:spPr>
          <a:xfrm>
            <a:off x="7042384" y="4503211"/>
            <a:ext cx="415487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scoring results</a:t>
            </a:r>
          </a:p>
        </p:txBody>
      </p:sp>
    </p:spTree>
    <p:extLst>
      <p:ext uri="{BB962C8B-B14F-4D97-AF65-F5344CB8AC3E}">
        <p14:creationId xmlns:p14="http://schemas.microsoft.com/office/powerpoint/2010/main" val="51779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B91504B-73D4-8C2E-E7C0-99702B7967BB}"/>
              </a:ext>
            </a:extLst>
          </p:cNvPr>
          <p:cNvGrpSpPr/>
          <p:nvPr/>
        </p:nvGrpSpPr>
        <p:grpSpPr>
          <a:xfrm>
            <a:off x="0" y="1182845"/>
            <a:ext cx="12192000" cy="5319558"/>
            <a:chOff x="0" y="900721"/>
            <a:chExt cx="12192000" cy="531955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D369E40-9A3E-85BA-F618-50EEA50F2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058" b="6383"/>
            <a:stretch>
              <a:fillRect/>
            </a:stretch>
          </p:blipFill>
          <p:spPr>
            <a:xfrm>
              <a:off x="0" y="2280870"/>
              <a:ext cx="12192000" cy="393940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568F1C-E6F7-1875-942D-B6D95C345E87}"/>
                </a:ext>
              </a:extLst>
            </p:cNvPr>
            <p:cNvSpPr txBox="1"/>
            <p:nvPr/>
          </p:nvSpPr>
          <p:spPr>
            <a:xfrm>
              <a:off x="138107" y="900721"/>
              <a:ext cx="312896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Q6ICS7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DNMT2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tRNA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124AEA8-3D9A-9ECB-645C-4CA60CF2C66D}"/>
                </a:ext>
              </a:extLst>
            </p:cNvPr>
            <p:cNvSpPr txBox="1"/>
            <p:nvPr/>
          </p:nvSpPr>
          <p:spPr>
            <a:xfrm>
              <a:off x="8782054" y="900721"/>
              <a:ext cx="28765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E4ZAF3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RM Type II system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C5 methyltransferase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933D43-15CB-AE0A-C577-17D3FE9E46D1}"/>
                </a:ext>
              </a:extLst>
            </p:cNvPr>
            <p:cNvSpPr txBox="1"/>
            <p:nvPr/>
          </p:nvSpPr>
          <p:spPr>
            <a:xfrm>
              <a:off x="3405181" y="905227"/>
              <a:ext cx="458152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Composite score: 0.95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FoldSeek e-value: 6.31e-25</a:t>
              </a:r>
            </a:p>
            <a:p>
              <a:r>
                <a:rPr lang="en-US" dirty="0">
                  <a:solidFill>
                    <a:schemeClr val="bg1"/>
                  </a:solidFill>
                  <a:latin typeface="Verdana Pro" panose="020B0604030504040204" pitchFamily="34" charset="0"/>
                </a:rPr>
                <a:t>PyMOL RMSD: 1.23 Å</a:t>
              </a:r>
              <a:endParaRPr lang="en-CA" dirty="0">
                <a:solidFill>
                  <a:schemeClr val="bg1"/>
                </a:solidFill>
                <a:latin typeface="Verdana Pro" panose="020B0604030504040204" pitchFamily="34" charset="0"/>
              </a:endParaRPr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1EB9-CEA7-A481-F77A-1C4EBD1ACA3A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D1CE8-7E69-8E0B-AF83-D4B4601709D3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Q6IC7-E4ZAF3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72B6BA-1CD0-834B-7DDC-0CD888A52F82}"/>
              </a:ext>
            </a:extLst>
          </p:cNvPr>
          <p:cNvSpPr txBox="1"/>
          <p:nvPr/>
        </p:nvSpPr>
        <p:spPr>
          <a:xfrm>
            <a:off x="138107" y="2230633"/>
            <a:ext cx="326707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C5 methyltransferase protecting tRNA from stress-induces cleavage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Facilitates HIV RNA stability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2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B87F0D-8DBC-5F80-5532-BBF7F3254C79}"/>
              </a:ext>
            </a:extLst>
          </p:cNvPr>
          <p:cNvSpPr txBox="1"/>
          <p:nvPr/>
        </p:nvSpPr>
        <p:spPr>
          <a:xfrm>
            <a:off x="8782054" y="2176873"/>
            <a:ext cx="3267074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recognises short motifs on bacterial DNA and transfers methyl group to cytosine carbon 5 on the motif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viral DNA lacking methylation is targeted by restriction enzymes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4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00D8DE-55CD-D9AF-D600-99C3241FB647}"/>
              </a:ext>
            </a:extLst>
          </p:cNvPr>
          <p:cNvSpPr txBox="1"/>
          <p:nvPr/>
        </p:nvSpPr>
        <p:spPr>
          <a:xfrm>
            <a:off x="3543288" y="2230633"/>
            <a:ext cx="49765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DNMT2 is reported in the literature as exhibiting sequence homology to bacterial RM Type II C5 methyltransferases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3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302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A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AED45-3F0C-244E-4A45-7F1E2BB5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E94D014-05EB-4912-E4AC-F47F045C91D7}"/>
              </a:ext>
            </a:extLst>
          </p:cNvPr>
          <p:cNvSpPr/>
          <p:nvPr/>
        </p:nvSpPr>
        <p:spPr>
          <a:xfrm>
            <a:off x="315257" y="-593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325C7-E0C4-083A-3A93-556D9339CE5A}"/>
              </a:ext>
            </a:extLst>
          </p:cNvPr>
          <p:cNvSpPr txBox="1"/>
          <p:nvPr/>
        </p:nvSpPr>
        <p:spPr>
          <a:xfrm>
            <a:off x="527959" y="62217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A0A7P0TB94-A0A509EDC2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4A5418-024A-5D58-722B-4F7E96F9E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18"/>
          <a:stretch>
            <a:fillRect/>
          </a:stretch>
        </p:blipFill>
        <p:spPr>
          <a:xfrm>
            <a:off x="0" y="3871608"/>
            <a:ext cx="12192000" cy="29241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86B55F-AEA1-0C90-1799-8ABB02320248}"/>
              </a:ext>
            </a:extLst>
          </p:cNvPr>
          <p:cNvSpPr txBox="1"/>
          <p:nvPr/>
        </p:nvSpPr>
        <p:spPr>
          <a:xfrm>
            <a:off x="128582" y="1187351"/>
            <a:ext cx="31289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A0A7P0TB94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DDX20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RNA helicase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C6F725-7D36-EC74-8CBF-702E302E6210}"/>
              </a:ext>
            </a:extLst>
          </p:cNvPr>
          <p:cNvSpPr txBox="1"/>
          <p:nvPr/>
        </p:nvSpPr>
        <p:spPr>
          <a:xfrm>
            <a:off x="8782054" y="1138494"/>
            <a:ext cx="28765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A0A509EDC2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Shango system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Helicase HelY, SngC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99D806-1557-7763-4650-1BCADEB87BD0}"/>
              </a:ext>
            </a:extLst>
          </p:cNvPr>
          <p:cNvSpPr txBox="1"/>
          <p:nvPr/>
        </p:nvSpPr>
        <p:spPr>
          <a:xfrm>
            <a:off x="3405181" y="1187351"/>
            <a:ext cx="45815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Composite score: 0.87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FoldSeek e-value: 1.10e-17</a:t>
            </a:r>
          </a:p>
          <a:p>
            <a:r>
              <a:rPr lang="en-US" dirty="0">
                <a:solidFill>
                  <a:schemeClr val="bg1"/>
                </a:solidFill>
                <a:latin typeface="Verdana Pro" panose="020B0604030504040204" pitchFamily="34" charset="0"/>
              </a:rPr>
              <a:t>PyMOL RMSD: 2.81 Å</a:t>
            </a:r>
            <a:endParaRPr lang="en-CA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A44BE-0F4F-FD1C-BF53-1C3E64EAC09F}"/>
              </a:ext>
            </a:extLst>
          </p:cNvPr>
          <p:cNvSpPr txBox="1"/>
          <p:nvPr/>
        </p:nvSpPr>
        <p:spPr>
          <a:xfrm>
            <a:off x="3407783" y="2164700"/>
            <a:ext cx="49765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Align at helicase and ATP hydrolase domains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HelY A0A509EDC2 has additional non-aligned domains that do not bear InterPro annotations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Orange region does not bear a CATH superfamily annotation</a:t>
            </a:r>
            <a:endParaRPr lang="en-CA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9C67CA-DD8E-FA87-1F15-2AE4A8EF40BD}"/>
              </a:ext>
            </a:extLst>
          </p:cNvPr>
          <p:cNvSpPr txBox="1"/>
          <p:nvPr/>
        </p:nvSpPr>
        <p:spPr>
          <a:xfrm>
            <a:off x="8782054" y="2155595"/>
            <a:ext cx="2876551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helicase (sometimes called SngC) required for SngA, SngB activity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Proposed that SngA acts as a sensor, SngC effects antiviral response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D941F2-CB94-DFE2-8DFA-E8A593E0BD24}"/>
              </a:ext>
            </a:extLst>
          </p:cNvPr>
          <p:cNvSpPr txBox="1"/>
          <p:nvPr/>
        </p:nvSpPr>
        <p:spPr>
          <a:xfrm>
            <a:off x="130957" y="2110681"/>
            <a:ext cx="287655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ATP-dependent DEAD-box helicase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Participates in snRNP assembly for spliceosome-mediated pre-mRNA splicing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Verdana Pro" panose="020B0604030504040204" pitchFamily="34" charset="0"/>
              </a:rPr>
              <a:t>Exerts antiviral activity via transcriptional regulation in Vero E6 cells</a:t>
            </a:r>
            <a:r>
              <a:rPr lang="en-US" sz="1400" baseline="30000" dirty="0">
                <a:solidFill>
                  <a:schemeClr val="bg1"/>
                </a:solidFill>
                <a:latin typeface="Verdana Pro" panose="020B0604030504040204" pitchFamily="34" charset="0"/>
              </a:rPr>
              <a:t>5</a:t>
            </a:r>
            <a:endParaRPr lang="en-US" sz="1400" dirty="0">
              <a:solidFill>
                <a:schemeClr val="bg1"/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839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6FBCF-6996-7BE6-B15E-1A7B2134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F4CD7-59D5-B2D2-FA64-845C5B11662A}"/>
              </a:ext>
            </a:extLst>
          </p:cNvPr>
          <p:cNvSpPr txBox="1"/>
          <p:nvPr/>
        </p:nvSpPr>
        <p:spPr>
          <a:xfrm>
            <a:off x="381000" y="215900"/>
            <a:ext cx="758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Worked example: domain-specific homology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0462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05B-114B-43EA-7ED1-67E68CD5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6E6A77-6B5A-DF34-8EC2-8F13A2024E0E}"/>
              </a:ext>
            </a:extLst>
          </p:cNvPr>
          <p:cNvSpPr txBox="1"/>
          <p:nvPr/>
        </p:nvSpPr>
        <p:spPr>
          <a:xfrm>
            <a:off x="381000" y="215900"/>
            <a:ext cx="758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erdana Pro" panose="020B0604030504040204" pitchFamily="34" charset="0"/>
              </a:rPr>
              <a:t>IUIS-IEI genes have significantly higher score</a:t>
            </a:r>
            <a:endParaRPr lang="en-CA" dirty="0"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2590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6BC46-7673-C84B-18B4-63539AA9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A48913-4EF7-7226-450E-EB863B768EE5}"/>
              </a:ext>
            </a:extLst>
          </p:cNvPr>
          <p:cNvSpPr/>
          <p:nvPr/>
        </p:nvSpPr>
        <p:spPr>
          <a:xfrm>
            <a:off x="315257" y="8582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09E84-A853-2CE4-2353-6F32C167F0F1}"/>
              </a:ext>
            </a:extLst>
          </p:cNvPr>
          <p:cNvSpPr txBox="1"/>
          <p:nvPr/>
        </p:nvSpPr>
        <p:spPr>
          <a:xfrm>
            <a:off x="527959" y="76731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55B33F-2E1A-FAA4-32B8-ADE7D02D78D0}"/>
              </a:ext>
            </a:extLst>
          </p:cNvPr>
          <p:cNvSpPr txBox="1"/>
          <p:nvPr/>
        </p:nvSpPr>
        <p:spPr>
          <a:xfrm>
            <a:off x="527958" y="1146628"/>
            <a:ext cx="936358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Schaefer M, et al. RNA methylation by Dnmt2 protects transfer RNAs against stress-induced cleavage. Genes Dev. 2010;24:1590–1595. DOI: 10.1101/gad.586710.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Dev RR, et al. Cytosine methylation by DNMT2 facilitates stability and survival of HIV-1 RNA in the host cell during infection. Biochem J. 2017;474:2009–2026. DOI: 10.1042/BCJ20170258.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Dong A, et al. Structure of human DNMT2, an enigmatic DNA methyltransferase homolog that displays denaturant-resistant binding to DNA. Nucleic Acids Res. 2001;29:439–448.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Flodman K, et al. In vitro Type II Restriction of Bacteriophage DNA With Modified Pyrimidines. Front Microbiol. 2020;11:604618. DOI: 10.3389/fmicb.2020.604618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CA" sz="1400" dirty="0">
                <a:latin typeface="Verdana Pro" panose="020B0604030504040204" pitchFamily="34" charset="0"/>
              </a:rPr>
              <a:t>Chen Z, et al. DDX20 positively regulates the interferon pathway to inhibit viral infection. Antiviral Res. 2024;225:105875. DOI: 10.1016/j.antiviral.2024.105875</a:t>
            </a:r>
          </a:p>
        </p:txBody>
      </p:sp>
    </p:spTree>
    <p:extLst>
      <p:ext uri="{BB962C8B-B14F-4D97-AF65-F5344CB8AC3E}">
        <p14:creationId xmlns:p14="http://schemas.microsoft.com/office/powerpoint/2010/main" val="3064083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5183</TotalTime>
  <Words>781</Words>
  <Application>Microsoft Office PowerPoint</Application>
  <PresentationFormat>Widescreen</PresentationFormat>
  <Paragraphs>165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226</cp:revision>
  <dcterms:created xsi:type="dcterms:W3CDTF">2026-04-01T17:28:23Z</dcterms:created>
  <dcterms:modified xsi:type="dcterms:W3CDTF">2026-08-27T19:02:26Z</dcterms:modified>
</cp:coreProperties>
</file>