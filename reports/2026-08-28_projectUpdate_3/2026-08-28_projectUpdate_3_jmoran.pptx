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1" r:id="rId3"/>
    <p:sldId id="266" r:id="rId4"/>
    <p:sldId id="269" r:id="rId5"/>
    <p:sldId id="257" r:id="rId6"/>
    <p:sldId id="286" r:id="rId7"/>
    <p:sldId id="287" r:id="rId8"/>
    <p:sldId id="284" r:id="rId9"/>
    <p:sldId id="288" r:id="rId10"/>
    <p:sldId id="292" r:id="rId11"/>
    <p:sldId id="289" r:id="rId12"/>
    <p:sldId id="290" r:id="rId13"/>
    <p:sldId id="293" r:id="rId14"/>
    <p:sldId id="297" r:id="rId15"/>
    <p:sldId id="298" r:id="rId16"/>
    <p:sldId id="299" r:id="rId17"/>
    <p:sldId id="302" r:id="rId18"/>
    <p:sldId id="300" r:id="rId19"/>
    <p:sldId id="303" r:id="rId20"/>
    <p:sldId id="301" r:id="rId21"/>
    <p:sldId id="29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6"/>
    <a:srgbClr val="0162B3"/>
    <a:srgbClr val="4A27F9"/>
    <a:srgbClr val="181A1B"/>
    <a:srgbClr val="1B1E1F"/>
    <a:srgbClr val="F8F9FA"/>
    <a:srgbClr val="DC445D"/>
    <a:srgbClr val="1A926E"/>
    <a:srgbClr val="EEEEE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642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C651-C459-48E3-86F1-CED449A3498B}" type="datetimeFigureOut">
              <a:rPr lang="en-CA" smtClean="0"/>
              <a:t>2026-09-03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8BC55-598C-4AA3-BC46-22AAD297F91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22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671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5960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8222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2918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5F3F-76AB-0354-CA7C-9628886B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8F906-9532-7048-34CE-BD7EACCCF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BA2E69-9B93-34F9-362D-13C70A163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CE342-7832-5A30-0C3E-5879D380B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4472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BD46-A852-83BD-0DE7-6BBA1991F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B405E-D449-2FC1-FD38-066244525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563D2-F3B9-D0B3-A97A-FD0888FD5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95A25-DAD5-3C59-76BD-35850174D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8320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B410-5F38-DE54-2B45-90055E86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EEED9-4045-BC4E-CF09-5367B8E72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FFDC1-2A47-6906-89D6-FE3D30FC6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 list is for C Marshall</a:t>
            </a:r>
          </a:p>
          <a:p>
            <a:r>
              <a:rPr lang="en-US" dirty="0"/>
              <a:t>Used for improving diagnostic yield</a:t>
            </a:r>
            <a:r>
              <a:rPr lang="en-CA" dirty="0"/>
              <a:t> for pre-existing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2C652-75D6-5357-36A2-CF2BCCAD9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55561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E4ZAF3 species</a:t>
            </a:r>
            <a:r>
              <a:rPr lang="en-US" dirty="0"/>
              <a:t>:  N. </a:t>
            </a:r>
            <a:r>
              <a:rPr lang="en-US" dirty="0" err="1"/>
              <a:t>lactamica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616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HelY species: </a:t>
            </a:r>
            <a:r>
              <a:rPr lang="en-US" dirty="0" err="1"/>
              <a:t>Methylobacterium</a:t>
            </a:r>
            <a:r>
              <a:rPr lang="en-US" dirty="0"/>
              <a:t> </a:t>
            </a:r>
            <a:r>
              <a:rPr lang="en-US" dirty="0" err="1"/>
              <a:t>symbioticum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0864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 run </a:t>
            </a:r>
            <a:r>
              <a:rPr lang="en-US" dirty="0" err="1"/>
              <a:t>BLASTp</a:t>
            </a:r>
            <a:r>
              <a:rPr lang="en-US" dirty="0"/>
              <a:t> of the HelY sequence, DDX20 is not a hit.</a:t>
            </a:r>
          </a:p>
          <a:p>
            <a:r>
              <a:rPr lang="en-US" dirty="0"/>
              <a:t>If I run </a:t>
            </a:r>
            <a:r>
              <a:rPr lang="en-US" dirty="0" err="1"/>
              <a:t>psiBLAST</a:t>
            </a:r>
            <a:r>
              <a:rPr lang="en-US" dirty="0"/>
              <a:t> of the HelY sequence,  DDX20 is not a hit.</a:t>
            </a:r>
          </a:p>
          <a:p>
            <a:r>
              <a:rPr lang="en-US" dirty="0"/>
              <a:t>There is no literature evidence that I could find indicating that DDX20 and the HelY have either sequence of structural homology.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4124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AE75-68F9-6873-5999-FE39C893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69910-22BB-B7E4-B9A9-588E13A8B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90EDF-53F0-DBFE-131A-B1068D2C6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24BD3-FB97-18FD-CA72-B4130882A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8BC55-598C-4AA3-BC46-22AAD297F91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6415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3405-564D-8412-3665-E5640462C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CBA71-D5D7-C119-3618-4A51E1C2A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0E559-1F0D-BC59-C157-DC6771C4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F871A-C88D-4E10-8D99-FEC85A8B5E41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1C5E0-9EB8-B455-3207-E757D762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9DD1-6F3F-C7D6-9102-96DB688A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15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27BD-1999-C1B6-43C4-A0ED3C65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CCF1-C96B-5345-42FF-AFBC0216C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B1BF3-E848-E712-FBF5-90F5D4F5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15EDE-C0F7-48C8-B8A5-4485BFFB8F68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E954-7A6B-E876-D777-8551470D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B99DB-26F4-47EA-167E-F887E6F1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107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82263-9485-7531-6204-5B504D11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757A-BD5A-3274-5E51-DF0992B3A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8C0FA-9820-9A02-D4F7-C5BEFC0F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85E81-C11B-4BFC-8E0F-A46B659CA5CC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944C-9E72-F178-61A8-B3B32D01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3EB2-5575-7CA3-2906-852384A98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800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183D-B811-8FE1-796C-9E19EEC5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DE7D-E336-2569-26DF-60A6E975CB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A97DD-92A9-8A7C-42AF-8E4655A0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32366-F14A-D59F-F448-7E6E8F46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52C1-CE60-48F2-83B2-89F8AAE1ABE4}" type="datetime1">
              <a:rPr lang="en-CA" smtClean="0"/>
              <a:t>2026-09-03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E665C-8D9D-6118-D3CB-C77984F0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3875-7EE2-A044-5DE9-D639E9CE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938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57C4-D061-F1AA-F34E-C95B2B16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ABB81-94A5-7725-7A84-4BE3C4D47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1C367-EDD3-48F5-4BD0-69A189A65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6F6FF0-2520-A342-8D8F-CFC6CCFFA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D147F-B577-83ED-7213-2E2162512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1680C-BF13-9377-04BE-779A1633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4EB51-E2E5-4C12-94EF-09C758EA7AE2}" type="datetime1">
              <a:rPr lang="en-CA" smtClean="0"/>
              <a:t>2026-09-03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369D0-A215-17DF-BC24-E6FDA688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A22B1-B2A0-B603-063C-962D7DA9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707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E1A2-6AEC-6EC0-D9F1-64A3BF00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1E5A-A540-6668-6364-1ED5129F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2A0C-E38A-4D25-A5E7-41DB973BEC7B}" type="datetime1">
              <a:rPr lang="en-CA" smtClean="0"/>
              <a:t>2026-09-03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1332B-9BD2-9800-738D-47EE1B18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ACAFA-1FC1-CE5D-95C9-6EE67E646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97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84D1BB-83D8-7065-8EF2-1BD0EBC0C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473A-0C70-42D7-BA3C-E2CE5C69DDC6}" type="datetime1">
              <a:rPr lang="en-CA" smtClean="0"/>
              <a:t>2026-09-03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EB910E-77CF-2E20-951E-48D9E594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841D1-1312-EFDB-F5BD-54068F3F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99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3785-CE7A-391D-6042-D7DD319F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C71C-D4D6-A938-814A-5608D2FCA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67C7-379A-C028-EF7E-3A4EBDD45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C7590-E23A-C56B-C563-8FB230CA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8C3E-A425-4BB7-888B-C63327DEEC39}" type="datetime1">
              <a:rPr lang="en-CA" smtClean="0"/>
              <a:t>2026-09-03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FD81E-05B1-090E-30FE-AD2F2844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FD7BF-74EC-9EAC-6035-7CB6C5C9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3777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89CF0-E867-F66A-554A-4175E61C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21B9F-8790-FE9E-1CBC-97F6D6FFE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C898A-CA48-F0C2-DF2F-CDC1582A4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03A8B-B949-FCCB-30D4-13E59756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DE8-A919-4E28-A5E0-4E676A751803}" type="datetime1">
              <a:rPr lang="en-CA" smtClean="0"/>
              <a:t>2026-09-03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36B81-D8C2-D68C-BC67-22BFC81A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33F87-5A19-199E-41DD-D12492542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94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87FDC-C24F-6FBE-85CE-E5780EFF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A7BBC-AAAF-50CE-E378-2742E493A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10D55-75DE-0378-FF52-F1F35071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C229A-4736-4449-92BD-4CADA47166CF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B4349-3822-9C30-7178-ABC2AE1D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45E82-6A5A-606D-9886-E78FD8B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753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BF2F1-10E6-F239-7124-6FB2A6822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1B9B-BA41-2E31-0A65-BA2046C70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F3A0-A1AA-A5EA-A75B-3FC8C9FF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905B2-E522-4BB5-808B-BCB1B07386AB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22D23-1C74-19E9-7400-80A3212F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BAC07-68D7-C4E8-7720-CEEC0DDA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782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23011-03CD-D038-03E2-6F004698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7321A-5ED3-8B2F-C2A4-5AB4842DE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69918-9403-F470-7715-81F6D019B6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6DE4D-47A6-4C4B-B9C5-A49E0BFD7885}" type="datetime1">
              <a:rPr lang="en-CA" smtClean="0"/>
              <a:t>2026-09-03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B7D37-5892-ACB9-EA22-DD18A55B2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CAD6B-87BB-065D-BB5A-751EF84F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FA860-28F0-477C-BD76-C96AC22CF6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35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4AC242-29D2-C020-AC7C-B4E54B89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84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AEFAB5-6682-B0B6-851C-6C6486FC1B55}"/>
              </a:ext>
            </a:extLst>
          </p:cNvPr>
          <p:cNvSpPr/>
          <p:nvPr/>
        </p:nvSpPr>
        <p:spPr>
          <a:xfrm>
            <a:off x="3140752" y="3239170"/>
            <a:ext cx="8944825" cy="3332606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FA40D477-A24B-CC6F-FA51-F4CD40A03F52}"/>
              </a:ext>
            </a:extLst>
          </p:cNvPr>
          <p:cNvSpPr txBox="1"/>
          <p:nvPr/>
        </p:nvSpPr>
        <p:spPr>
          <a:xfrm>
            <a:off x="5198295" y="3577498"/>
            <a:ext cx="6616011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sz="2400" b="1" dirty="0">
              <a:solidFill>
                <a:schemeClr val="bg1"/>
              </a:solidFill>
              <a:latin typeface="Georgia Pro" panose="02040502050405020303" pitchFamily="18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dirty="0">
                <a:solidFill>
                  <a:schemeClr val="bg1"/>
                </a:solidFill>
                <a:latin typeface="Georgia Pro" panose="02040502050405020303" pitchFamily="18" charset="0"/>
                <a:cs typeface="Courier New" panose="02070309020205020404" pitchFamily="49" charset="0"/>
              </a:rPr>
              <a:t>IEI project: update 3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58A8BC8-CEBE-709C-2D19-85B5B4417DE9}"/>
              </a:ext>
            </a:extLst>
          </p:cNvPr>
          <p:cNvSpPr>
            <a:spLocks noGrp="1"/>
          </p:cNvSpPr>
          <p:nvPr/>
        </p:nvSpPr>
        <p:spPr>
          <a:xfrm>
            <a:off x="5202143" y="4850131"/>
            <a:ext cx="5580778" cy="1594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Julian Moran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2026-08-28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Centre for Applied Genomics, SickKids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6F31A-9D9C-32B6-F7EB-EC2699748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668" y="156850"/>
            <a:ext cx="2322549" cy="744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08C6D2-6225-C609-D6F3-280D4FC707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946" y="3423854"/>
            <a:ext cx="1400078" cy="2907728"/>
          </a:xfrm>
          <a:prstGeom prst="rect">
            <a:avLst/>
          </a:prstGeom>
        </p:spPr>
      </p:pic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823FCA6-53C2-3223-2608-69AA7951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11321" y="6492875"/>
            <a:ext cx="2743200" cy="365125"/>
          </a:xfrm>
        </p:spPr>
        <p:txBody>
          <a:bodyPr/>
          <a:lstStyle/>
          <a:p>
            <a:fld id="{3899FC77-40C7-4C49-9A19-86BDE9B75E8A}" type="slidenum">
              <a:rPr lang="en-CA" smtClean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fld>
            <a:endParaRPr lang="en-CA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46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0DC9F-C527-472F-5002-FBB13CF4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256F2C-0357-EAC9-8B29-932635B28198}"/>
              </a:ext>
            </a:extLst>
          </p:cNvPr>
          <p:cNvSpPr txBox="1"/>
          <p:nvPr/>
        </p:nvSpPr>
        <p:spPr>
          <a:xfrm>
            <a:off x="7042384" y="4503211"/>
            <a:ext cx="41548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Background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5B9211-EF83-BA2C-7773-E0219305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396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FCF-965B-417B-9C48-C3F0A918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F9B7D-37C6-6302-B1AA-10313FFB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3</a:t>
            </a:fld>
            <a:endParaRPr lang="en-CA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C2CBF-E878-53C7-4EA1-4823EE37C388}"/>
              </a:ext>
            </a:extLst>
          </p:cNvPr>
          <p:cNvSpPr txBox="1"/>
          <p:nvPr/>
        </p:nvSpPr>
        <p:spPr>
          <a:xfrm>
            <a:off x="838200" y="1033157"/>
            <a:ext cx="927201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Aft>
                <a:spcPts val="600"/>
              </a:spcAft>
            </a:pPr>
            <a:endParaRPr lang="en-US" sz="1200" dirty="0">
              <a:latin typeface="Lucida Console" panose="020B06090405040202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Run pipeline on all bacterial defense systems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incurs prioritization problem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therefore design composite score for protein pair prioritization</a:t>
            </a:r>
          </a:p>
          <a:p>
            <a:pPr lvl="1">
              <a:spcAft>
                <a:spcPts val="6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Georgia Pro" panose="02040502050405020303" pitchFamily="18" charset="0"/>
              </a:rPr>
              <a:t>Yield gene list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target users: C Marshall clinical research group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  <a:cs typeface="Courier New" panose="02070309020205020404" pitchFamily="49" charset="0"/>
              </a:rPr>
              <a:t>purpose: improve diagnostic yield for rare single-variant immune disease from genome sequencing</a:t>
            </a:r>
            <a:endParaRPr lang="en-US" sz="1400" dirty="0">
              <a:latin typeface="Verdana Pro" panose="020B060403050404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BA7778-ADAB-D7DC-51F1-3527DE2F3E77}"/>
              </a:ext>
            </a:extLst>
          </p:cNvPr>
          <p:cNvSpPr/>
          <p:nvPr/>
        </p:nvSpPr>
        <p:spPr>
          <a:xfrm>
            <a:off x="315257" y="8585"/>
            <a:ext cx="6204416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7E3C52-B774-3588-1211-3716B2FAB3B6}"/>
              </a:ext>
            </a:extLst>
          </p:cNvPr>
          <p:cNvSpPr txBox="1"/>
          <p:nvPr/>
        </p:nvSpPr>
        <p:spPr>
          <a:xfrm>
            <a:off x="527960" y="76734"/>
            <a:ext cx="5779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Aims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422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14782A36-411B-BF91-D3A3-983BB97D9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68" r="7181"/>
          <a:stretch>
            <a:fillRect/>
          </a:stretch>
        </p:blipFill>
        <p:spPr>
          <a:xfrm>
            <a:off x="875222" y="1297636"/>
            <a:ext cx="5092460" cy="5027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200952-412A-5895-354A-B719DD9272A7}"/>
              </a:ext>
            </a:extLst>
          </p:cNvPr>
          <p:cNvSpPr txBox="1"/>
          <p:nvPr/>
        </p:nvSpPr>
        <p:spPr>
          <a:xfrm>
            <a:off x="4791075" y="1503203"/>
            <a:ext cx="946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Verdana Pro" panose="020B0604030504040204" pitchFamily="34" charset="0"/>
              </a:rPr>
              <a:t>n = 237</a:t>
            </a:r>
            <a:endParaRPr lang="en-CA" sz="1000" dirty="0">
              <a:latin typeface="Verdana Pro" panose="020B060403050404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DE0692-D05C-BB80-EDC6-E37435C6FA25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6F973-03F9-14B6-88BB-FABBEC18960C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Why use PyMol to check structural alignment?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6CD2DF-6E36-8BCD-7326-6881563C8621}"/>
              </a:ext>
            </a:extLst>
          </p:cNvPr>
          <p:cNvSpPr/>
          <p:nvPr/>
        </p:nvSpPr>
        <p:spPr>
          <a:xfrm>
            <a:off x="4885922" y="1588212"/>
            <a:ext cx="92075" cy="952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ECBBA88-A498-EFBE-EAFC-A118DADA2326}"/>
              </a:ext>
            </a:extLst>
          </p:cNvPr>
          <p:cNvSpPr/>
          <p:nvPr/>
        </p:nvSpPr>
        <p:spPr>
          <a:xfrm>
            <a:off x="4791073" y="1530576"/>
            <a:ext cx="946151" cy="21249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96BCAD-5AA8-ED57-A337-0FC563367AAA}"/>
              </a:ext>
            </a:extLst>
          </p:cNvPr>
          <p:cNvSpPr txBox="1"/>
          <p:nvPr/>
        </p:nvSpPr>
        <p:spPr>
          <a:xfrm>
            <a:off x="6644626" y="2527277"/>
            <a:ext cx="440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PyMol super can achieve good alignment when TM-align cannot </a:t>
            </a:r>
          </a:p>
          <a:p>
            <a:r>
              <a:rPr lang="en-US" dirty="0">
                <a:latin typeface="Georgia Pro" panose="02040502050405020303" pitchFamily="18" charset="0"/>
              </a:rPr>
              <a:t>(see top-left quadrant vs. bottom-right).</a:t>
            </a:r>
          </a:p>
          <a:p>
            <a:endParaRPr lang="en-US" dirty="0">
              <a:latin typeface="Georgia Pro" panose="020405020504050203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2428FC-2987-C8AD-2DE4-4C943B16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1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phic 34">
            <a:extLst>
              <a:ext uri="{FF2B5EF4-FFF2-40B4-BE49-F238E27FC236}">
                <a16:creationId xmlns:a16="http://schemas.microsoft.com/office/drawing/2014/main" id="{4B80CB5E-449A-1753-3D11-C3F4161CA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961" r="11111"/>
          <a:stretch>
            <a:fillRect/>
          </a:stretch>
        </p:blipFill>
        <p:spPr>
          <a:xfrm>
            <a:off x="937403" y="1418503"/>
            <a:ext cx="4876801" cy="49399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F24223-3E5F-C954-8038-017E4C42796F}"/>
              </a:ext>
            </a:extLst>
          </p:cNvPr>
          <p:cNvSpPr/>
          <p:nvPr/>
        </p:nvSpPr>
        <p:spPr>
          <a:xfrm>
            <a:off x="315257" y="8584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A579F-3DAD-E76A-FDBB-D0A5681F25E7}"/>
              </a:ext>
            </a:extLst>
          </p:cNvPr>
          <p:cNvSpPr txBox="1"/>
          <p:nvPr/>
        </p:nvSpPr>
        <p:spPr>
          <a:xfrm>
            <a:off x="527959" y="76733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PyMOL-super and FoldSeek e-values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7BE64-1534-7000-268E-B124775A2A0B}"/>
              </a:ext>
            </a:extLst>
          </p:cNvPr>
          <p:cNvSpPr txBox="1"/>
          <p:nvPr/>
        </p:nvSpPr>
        <p:spPr>
          <a:xfrm rot="16200000">
            <a:off x="4399222" y="3485074"/>
            <a:ext cx="33297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Verdana Pro" panose="020B0604030504040204" pitchFamily="34" charset="0"/>
              </a:rPr>
              <a:t>Alignment length [TMalign] (AAs)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4F961-8528-3336-C5C4-443279088605}"/>
              </a:ext>
            </a:extLst>
          </p:cNvPr>
          <p:cNvSpPr/>
          <p:nvPr/>
        </p:nvSpPr>
        <p:spPr>
          <a:xfrm>
            <a:off x="1639019" y="3562709"/>
            <a:ext cx="1035170" cy="217385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98B92D-3280-C895-1B51-E0E5DA2DEFEC}"/>
                  </a:ext>
                </a:extLst>
              </p:cNvPr>
              <p:cNvSpPr txBox="1"/>
              <p:nvPr/>
            </p:nvSpPr>
            <p:spPr>
              <a:xfrm>
                <a:off x="5450258" y="6236616"/>
                <a:ext cx="2715972" cy="401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Better structural alignment according to Foldseek (</a:t>
                </a:r>
                <a14:m>
                  <m:oMath xmlns:m="http://schemas.openxmlformats.org/officeDocument/2006/math">
                    <m:r>
                      <a:rPr lang="en-US" sz="1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−35</m:t>
                        </m:r>
                      </m:sup>
                    </m:sSup>
                  </m:oMath>
                </a14:m>
                <a:r>
                  <a:rPr lang="en-US" sz="1000" dirty="0">
                    <a:solidFill>
                      <a:srgbClr val="FF0000"/>
                    </a:solidFill>
                    <a:latin typeface="Lucida Console" panose="020B0609040504020204" pitchFamily="49" charset="0"/>
                  </a:rPr>
                  <a:t>)</a:t>
                </a:r>
                <a:endParaRPr lang="en-CA" sz="1000" dirty="0">
                  <a:solidFill>
                    <a:srgbClr val="FF0000"/>
                  </a:solidFill>
                  <a:latin typeface="Lucida Console" panose="020B0609040504020204" pitchFamily="49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598B92D-3280-C895-1B51-E0E5DA2DE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258" y="6236616"/>
                <a:ext cx="2715972" cy="401777"/>
              </a:xfrm>
              <a:prstGeom prst="rect">
                <a:avLst/>
              </a:prstGeom>
              <a:blipFill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86FC953-FF62-69F5-1EEA-F199BC01B871}"/>
              </a:ext>
            </a:extLst>
          </p:cNvPr>
          <p:cNvSpPr txBox="1"/>
          <p:nvPr/>
        </p:nvSpPr>
        <p:spPr>
          <a:xfrm>
            <a:off x="7035441" y="1897186"/>
            <a:ext cx="4406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e-values are contingent on alignment length, which means filtering for only the most significant e-values risks missing domain-specific alignment</a:t>
            </a:r>
            <a:endParaRPr lang="en-CA" dirty="0">
              <a:latin typeface="Georgia Pro" panose="02040502050405020303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1907DD-0F01-1B4A-8180-41627B8E2954}"/>
              </a:ext>
            </a:extLst>
          </p:cNvPr>
          <p:cNvCxnSpPr>
            <a:cxnSpLocks/>
          </p:cNvCxnSpPr>
          <p:nvPr/>
        </p:nvCxnSpPr>
        <p:spPr>
          <a:xfrm>
            <a:off x="1639019" y="5762163"/>
            <a:ext cx="746493" cy="760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AE1744-050F-FB4E-F9DA-551C055D9543}"/>
              </a:ext>
            </a:extLst>
          </p:cNvPr>
          <p:cNvSpPr txBox="1"/>
          <p:nvPr/>
        </p:nvSpPr>
        <p:spPr>
          <a:xfrm>
            <a:off x="2385512" y="6457890"/>
            <a:ext cx="2715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Foldseek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822B6A-3ACA-45D7-F609-9C766EAA0AB8}"/>
              </a:ext>
            </a:extLst>
          </p:cNvPr>
          <p:cNvCxnSpPr>
            <a:cxnSpLocks/>
          </p:cNvCxnSpPr>
          <p:nvPr/>
        </p:nvCxnSpPr>
        <p:spPr>
          <a:xfrm>
            <a:off x="5008918" y="5751554"/>
            <a:ext cx="480053" cy="485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CB2184-1362-D437-6BCF-0EF6DECA4288}"/>
              </a:ext>
            </a:extLst>
          </p:cNvPr>
          <p:cNvCxnSpPr>
            <a:cxnSpLocks/>
          </p:cNvCxnSpPr>
          <p:nvPr/>
        </p:nvCxnSpPr>
        <p:spPr>
          <a:xfrm flipH="1" flipV="1">
            <a:off x="1122877" y="1466299"/>
            <a:ext cx="507516" cy="682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61D2EC8-4532-1BCA-FFD7-852F8F1C26DD}"/>
              </a:ext>
            </a:extLst>
          </p:cNvPr>
          <p:cNvSpPr txBox="1"/>
          <p:nvPr/>
        </p:nvSpPr>
        <p:spPr>
          <a:xfrm>
            <a:off x="11818" y="1035412"/>
            <a:ext cx="10492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Worse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FB2067F-9586-BD5E-3AE4-437BF37581C8}"/>
              </a:ext>
            </a:extLst>
          </p:cNvPr>
          <p:cNvCxnSpPr>
            <a:cxnSpLocks/>
          </p:cNvCxnSpPr>
          <p:nvPr/>
        </p:nvCxnSpPr>
        <p:spPr>
          <a:xfrm flipH="1" flipV="1">
            <a:off x="928777" y="5477775"/>
            <a:ext cx="701616" cy="2685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AA02446-24CA-A517-BA14-9F79233B7F36}"/>
              </a:ext>
            </a:extLst>
          </p:cNvPr>
          <p:cNvSpPr txBox="1"/>
          <p:nvPr/>
        </p:nvSpPr>
        <p:spPr>
          <a:xfrm>
            <a:off x="0" y="5200591"/>
            <a:ext cx="9747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Better structural alignment according to PyMol</a:t>
            </a:r>
            <a:endParaRPr lang="en-CA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2AA6D5-822F-B58D-0D88-D43E11D9A439}"/>
              </a:ext>
            </a:extLst>
          </p:cNvPr>
          <p:cNvSpPr/>
          <p:nvPr/>
        </p:nvSpPr>
        <p:spPr>
          <a:xfrm>
            <a:off x="3140014" y="1543132"/>
            <a:ext cx="1868903" cy="15543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8A122-3A77-CAF5-E908-9C6A8064B934}"/>
              </a:ext>
            </a:extLst>
          </p:cNvPr>
          <p:cNvSpPr txBox="1"/>
          <p:nvPr/>
        </p:nvSpPr>
        <p:spPr>
          <a:xfrm>
            <a:off x="7035441" y="3638962"/>
            <a:ext cx="440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 Pro" panose="02040502050405020303" pitchFamily="18" charset="0"/>
              </a:rPr>
              <a:t>Conversely, PyMOL alignments can be good but insignificant</a:t>
            </a:r>
            <a:endParaRPr lang="en-CA" dirty="0">
              <a:latin typeface="Georgia Pro" panose="020405020504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CB4EDB-B6D3-F39E-DDEF-0E875E27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920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DD5B3-55A8-870C-9077-613C0DBB2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884B9A-BA8F-74F6-84EA-58DC2F7DED5A}"/>
              </a:ext>
            </a:extLst>
          </p:cNvPr>
          <p:cNvSpPr txBox="1"/>
          <p:nvPr/>
        </p:nvSpPr>
        <p:spPr>
          <a:xfrm>
            <a:off x="7042384" y="4503211"/>
            <a:ext cx="41548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Composite scoring</a:t>
            </a:r>
          </a:p>
          <a:p>
            <a:pPr algn="r"/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method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33CB5-0241-B85B-521F-B662A3C5E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60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6A85D-26CD-069B-AAFD-6258D37F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024B9-E03B-B5B3-A003-A8B6B8A0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7</a:t>
            </a:fld>
            <a:endParaRPr lang="en-CA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210B37-EC49-7B10-214E-1549DEFEB3C3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DA659-010C-17FB-BE6D-EBC2AE29CF9A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Composite score: FoldSeek e-value term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DB10604-1415-D8DC-3E0A-FB7A8B02A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45891"/>
                  </p:ext>
                </p:extLst>
              </p:nvPr>
            </p:nvGraphicFramePr>
            <p:xfrm>
              <a:off x="1190445" y="1261081"/>
              <a:ext cx="2960626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0313">
                      <a:extLst>
                        <a:ext uri="{9D8B030D-6E8A-4147-A177-3AD203B41FA5}">
                          <a16:colId xmlns:a16="http://schemas.microsoft.com/office/drawing/2014/main" val="1869778181"/>
                        </a:ext>
                      </a:extLst>
                    </a:gridCol>
                    <a:gridCol w="1480313">
                      <a:extLst>
                        <a:ext uri="{9D8B030D-6E8A-4147-A177-3AD203B41FA5}">
                          <a16:colId xmlns:a16="http://schemas.microsoft.com/office/drawing/2014/main" val="2700513838"/>
                        </a:ext>
                      </a:extLst>
                    </a:gridCol>
                  </a:tblGrid>
                  <a:tr h="18054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_</m:t>
                                        </m:r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𝑣𝑎𝑙𝑢𝑒</m:t>
                                        </m:r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Score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2202861222"/>
                      </a:ext>
                    </a:extLst>
                  </a:tr>
                  <a:tr h="180542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0.00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4031372816"/>
                      </a:ext>
                    </a:extLst>
                  </a:tr>
                  <a:tr h="180542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0.4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0.10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3424690894"/>
                      </a:ext>
                    </a:extLst>
                  </a:tr>
                  <a:tr h="180542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6.0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0.70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3156004181"/>
                      </a:ext>
                    </a:extLst>
                  </a:tr>
                  <a:tr h="180542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10.0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0.90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1804626572"/>
                      </a:ext>
                    </a:extLst>
                  </a:tr>
                  <a:tr h="180542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15.0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0.99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1030796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BDB10604-1415-D8DC-3E0A-FB7A8B02A1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45891"/>
                  </p:ext>
                </p:extLst>
              </p:nvPr>
            </p:nvGraphicFramePr>
            <p:xfrm>
              <a:off x="1190445" y="1261081"/>
              <a:ext cx="2960626" cy="18288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80313">
                      <a:extLst>
                        <a:ext uri="{9D8B030D-6E8A-4147-A177-3AD203B41FA5}">
                          <a16:colId xmlns:a16="http://schemas.microsoft.com/office/drawing/2014/main" val="1869778181"/>
                        </a:ext>
                      </a:extLst>
                    </a:gridCol>
                    <a:gridCol w="1480313">
                      <a:extLst>
                        <a:ext uri="{9D8B030D-6E8A-4147-A177-3AD203B41FA5}">
                          <a16:colId xmlns:a16="http://schemas.microsoft.com/office/drawing/2014/main" val="2700513838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>
                        <a:blipFill>
                          <a:blip r:embed="rId3"/>
                          <a:stretch>
                            <a:fillRect l="-412" t="-2000" r="-101235" b="-5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Score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22028612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0.00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403137281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0.4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0.10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34246908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6.0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0.70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315600418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10.0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0.90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1804626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15.0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>
                              <a:latin typeface="Verdana Pro" panose="020B0604030504040204" pitchFamily="34" charset="0"/>
                            </a:rPr>
                            <a:t>0.99</a:t>
                          </a:r>
                          <a:endParaRPr lang="en-CA" sz="1400" dirty="0">
                            <a:latin typeface="Verdana Pro" panose="020B0604030504040204" pitchFamily="34" charset="0"/>
                          </a:endParaRPr>
                        </a:p>
                      </a:txBody>
                      <a:tcPr marL="45720" marR="45720"/>
                    </a:tc>
                    <a:extLst>
                      <a:ext uri="{0D108BD9-81ED-4DB2-BD59-A6C34878D82A}">
                        <a16:rowId xmlns:a16="http://schemas.microsoft.com/office/drawing/2014/main" val="103079685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B2BEAC5-D45D-56F2-727E-2D5992767AF5}"/>
              </a:ext>
            </a:extLst>
          </p:cNvPr>
          <p:cNvGrpSpPr/>
          <p:nvPr/>
        </p:nvGrpSpPr>
        <p:grpSpPr>
          <a:xfrm>
            <a:off x="558736" y="3301586"/>
            <a:ext cx="3695668" cy="2953751"/>
            <a:chOff x="374070" y="3300621"/>
            <a:chExt cx="3695668" cy="295375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15449BC-DD85-3BE0-7B8C-0B354D8CA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2" t="8432" r="7031" b="3714"/>
            <a:stretch>
              <a:fillRect/>
            </a:stretch>
          </p:blipFill>
          <p:spPr>
            <a:xfrm>
              <a:off x="762801" y="3429000"/>
              <a:ext cx="3306937" cy="25089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511F9B6-4A3A-EE5C-C82E-65BF9A010391}"/>
                    </a:ext>
                  </a:extLst>
                </p:cNvPr>
                <p:cNvSpPr txBox="1"/>
                <p:nvPr/>
              </p:nvSpPr>
              <p:spPr>
                <a:xfrm>
                  <a:off x="1138686" y="5946595"/>
                  <a:ext cx="240677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4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4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𝑣𝑎𝑙𝑢𝑒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CA" sz="1400" dirty="0">
                    <a:latin typeface="Verdana Pro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511F9B6-4A3A-EE5C-C82E-65BF9A010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8686" y="5946595"/>
                  <a:ext cx="2406770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2D70E0-5AED-1F5F-1BFD-A91F3DBB6AC6}"/>
                </a:ext>
              </a:extLst>
            </p:cNvPr>
            <p:cNvSpPr txBox="1"/>
            <p:nvPr/>
          </p:nvSpPr>
          <p:spPr>
            <a:xfrm rot="16200000">
              <a:off x="-675426" y="4350117"/>
              <a:ext cx="2406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Verdana Pro" panose="020B0604030504040204" pitchFamily="34" charset="0"/>
                </a:rPr>
                <a:t>E-value score term</a:t>
              </a:r>
              <a:endParaRPr lang="en-CA" sz="1400" dirty="0">
                <a:latin typeface="Verdana Pro" panose="020B0604030504040204" pitchFamily="34" charset="0"/>
              </a:endParaRP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85159B43-7FAA-3050-20C1-2BD0740C6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777" t="9000" r="7469" b="5168"/>
          <a:stretch>
            <a:fillRect/>
          </a:stretch>
        </p:blipFill>
        <p:spPr>
          <a:xfrm>
            <a:off x="4859026" y="1041918"/>
            <a:ext cx="6850844" cy="503107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6E8C2-A92D-9CF7-5929-4D33C5FAA0A5}"/>
              </a:ext>
            </a:extLst>
          </p:cNvPr>
          <p:cNvSpPr txBox="1"/>
          <p:nvPr/>
        </p:nvSpPr>
        <p:spPr>
          <a:xfrm rot="16200000">
            <a:off x="3495374" y="3040720"/>
            <a:ext cx="240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E-value score term</a:t>
            </a:r>
            <a:endParaRPr lang="en-CA" dirty="0">
              <a:latin typeface="Verdana Pro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F962D13-3D6D-86D5-2CFA-9FCF9A9287AB}"/>
                  </a:ext>
                </a:extLst>
              </p:cNvPr>
              <p:cNvSpPr txBox="1"/>
              <p:nvPr/>
            </p:nvSpPr>
            <p:spPr>
              <a:xfrm>
                <a:off x="7407215" y="5987018"/>
                <a:ext cx="24067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𝑣𝑎𝑙𝑢𝑒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>
                  <a:latin typeface="Verdana Pro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F962D13-3D6D-86D5-2CFA-9FCF9A928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215" y="5987018"/>
                <a:ext cx="2406770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36C8DD-1C3C-806D-F870-DD8422DDA852}"/>
                  </a:ext>
                </a:extLst>
              </p:cNvPr>
              <p:cNvSpPr txBox="1"/>
              <p:nvPr/>
            </p:nvSpPr>
            <p:spPr>
              <a:xfrm>
                <a:off x="8500227" y="2408915"/>
                <a:ext cx="1781834" cy="436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4.7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1.03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CA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D36C8DD-1C3C-806D-F870-DD8422DD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227" y="2408915"/>
                <a:ext cx="1781834" cy="4360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473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DDCF-9877-BB0E-77F5-0E4B2A6BD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967A8068-B353-1CDC-3C7C-DFC8F8FDF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241" t="9629" r="8503" b="4913"/>
          <a:stretch>
            <a:fillRect/>
          </a:stretch>
        </p:blipFill>
        <p:spPr>
          <a:xfrm>
            <a:off x="4793645" y="1139403"/>
            <a:ext cx="6655041" cy="50085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59D6C-186E-FB87-6875-039B8DFC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8</a:t>
            </a:fld>
            <a:endParaRPr lang="en-CA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2B14E4-856D-402A-DFFD-8A5A8E43FDB7}"/>
              </a:ext>
            </a:extLst>
          </p:cNvPr>
          <p:cNvSpPr/>
          <p:nvPr/>
        </p:nvSpPr>
        <p:spPr>
          <a:xfrm>
            <a:off x="315257" y="8580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F4D52-2E6A-8BEB-1540-5BF836ADC76F}"/>
              </a:ext>
            </a:extLst>
          </p:cNvPr>
          <p:cNvSpPr txBox="1"/>
          <p:nvPr/>
        </p:nvSpPr>
        <p:spPr>
          <a:xfrm>
            <a:off x="527959" y="76729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Composite score: PyMOL RMSD term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61428E-01B6-1C03-00A6-2B882249CA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340139"/>
              </p:ext>
            </p:extLst>
          </p:nvPr>
        </p:nvGraphicFramePr>
        <p:xfrm>
          <a:off x="1190445" y="1261081"/>
          <a:ext cx="2960626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5283">
                  <a:extLst>
                    <a:ext uri="{9D8B030D-6E8A-4147-A177-3AD203B41FA5}">
                      <a16:colId xmlns:a16="http://schemas.microsoft.com/office/drawing/2014/main" val="1869778181"/>
                    </a:ext>
                  </a:extLst>
                </a:gridCol>
                <a:gridCol w="1235343">
                  <a:extLst>
                    <a:ext uri="{9D8B030D-6E8A-4147-A177-3AD203B41FA5}">
                      <a16:colId xmlns:a16="http://schemas.microsoft.com/office/drawing/2014/main" val="2700513838"/>
                    </a:ext>
                  </a:extLst>
                </a:gridCol>
              </a:tblGrid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PyMOL RMSD (Å)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Verdana Pro" panose="020B0604030504040204" pitchFamily="34" charset="0"/>
                        </a:rPr>
                        <a:t>Score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202861222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1.0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031372816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1.0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0.99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424690894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2.9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0.85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156004181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4.0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0.70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04626572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5.0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0.50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30796854"/>
                  </a:ext>
                </a:extLst>
              </a:tr>
              <a:tr h="18054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10.0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Verdana Pro" panose="020B0604030504040204" pitchFamily="34" charset="0"/>
                        </a:rPr>
                        <a:t>0.10</a:t>
                      </a:r>
                      <a:endParaRPr lang="en-CA" sz="1400" dirty="0">
                        <a:latin typeface="Verdana Pro" panose="020B0604030504040204" pitchFamily="34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30053759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36B914A4-20DD-0D31-9993-BBB41C5593B5}"/>
              </a:ext>
            </a:extLst>
          </p:cNvPr>
          <p:cNvGrpSpPr/>
          <p:nvPr/>
        </p:nvGrpSpPr>
        <p:grpSpPr>
          <a:xfrm>
            <a:off x="558736" y="3479386"/>
            <a:ext cx="3306781" cy="2824035"/>
            <a:chOff x="374070" y="3478421"/>
            <a:chExt cx="3306781" cy="282403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D282AF-44C7-0962-2088-56007AE8F1E1}"/>
                </a:ext>
              </a:extLst>
            </p:cNvPr>
            <p:cNvSpPr txBox="1"/>
            <p:nvPr/>
          </p:nvSpPr>
          <p:spPr>
            <a:xfrm>
              <a:off x="1274081" y="5994679"/>
              <a:ext cx="2406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Verdana Pro" panose="020B0604030504040204" pitchFamily="34" charset="0"/>
                </a:rPr>
                <a:t>PyMOL RMSD (Å)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B2B035-6C0B-348D-D20D-4473D607D0D5}"/>
                </a:ext>
              </a:extLst>
            </p:cNvPr>
            <p:cNvSpPr txBox="1"/>
            <p:nvPr/>
          </p:nvSpPr>
          <p:spPr>
            <a:xfrm rot="16200000">
              <a:off x="-675426" y="4527917"/>
              <a:ext cx="2406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Verdana Pro" panose="020B0604030504040204" pitchFamily="34" charset="0"/>
                </a:rPr>
                <a:t>PyMOL score term</a:t>
              </a:r>
              <a:endParaRPr lang="en-CA" sz="1400" dirty="0">
                <a:latin typeface="Verdana Pro" panose="020B060403050404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91EED7C-D74A-CD8A-5951-A8369EB6ECC3}"/>
              </a:ext>
            </a:extLst>
          </p:cNvPr>
          <p:cNvSpPr txBox="1"/>
          <p:nvPr/>
        </p:nvSpPr>
        <p:spPr>
          <a:xfrm rot="16200000">
            <a:off x="3495374" y="3325386"/>
            <a:ext cx="240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PyMOL score term</a:t>
            </a:r>
            <a:endParaRPr lang="en-CA" dirty="0">
              <a:latin typeface="Verdana Pro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2AD62-7D1A-8501-E1B2-BFFD6ECC1704}"/>
                  </a:ext>
                </a:extLst>
              </p:cNvPr>
              <p:cNvSpPr txBox="1"/>
              <p:nvPr/>
            </p:nvSpPr>
            <p:spPr>
              <a:xfrm>
                <a:off x="7103180" y="6047961"/>
                <a:ext cx="2406770" cy="408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0" dirty="0">
                          <a:latin typeface="Verdana Pro" panose="020B0604030504040204" pitchFamily="34" charset="0"/>
                        </a:rPr>
                        <m:t>PyMOL RMSD (Å)</m:t>
                      </m:r>
                    </m:oMath>
                  </m:oMathPara>
                </a14:m>
                <a:endParaRPr lang="en-US" dirty="0">
                  <a:latin typeface="Verdana Pro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2AD62-7D1A-8501-E1B2-BFFD6ECC1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180" y="6047961"/>
                <a:ext cx="2406770" cy="408382"/>
              </a:xfrm>
              <a:prstGeom prst="rect">
                <a:avLst/>
              </a:prstGeom>
              <a:blipFill>
                <a:blip r:embed="rId4"/>
                <a:stretch>
                  <a:fillRect b="-223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phic 20">
            <a:extLst>
              <a:ext uri="{FF2B5EF4-FFF2-40B4-BE49-F238E27FC236}">
                <a16:creationId xmlns:a16="http://schemas.microsoft.com/office/drawing/2014/main" id="{83B545E8-BFCA-1657-95A6-E53E8B798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51" t="9825" r="8650" b="5109"/>
          <a:stretch>
            <a:fillRect/>
          </a:stretch>
        </p:blipFill>
        <p:spPr>
          <a:xfrm>
            <a:off x="897291" y="3532163"/>
            <a:ext cx="3288284" cy="24506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52C860-2C6C-FCA5-EA33-E45A7CA9331A}"/>
                  </a:ext>
                </a:extLst>
              </p:cNvPr>
              <p:cNvSpPr txBox="1"/>
              <p:nvPr/>
            </p:nvSpPr>
            <p:spPr>
              <a:xfrm>
                <a:off x="8500227" y="2408915"/>
                <a:ext cx="2138342" cy="529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0.635(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−4.94)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52C860-2C6C-FCA5-EA33-E45A7CA93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227" y="2408915"/>
                <a:ext cx="2138342" cy="5296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12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B665-2D1C-BE92-D560-316708F8D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33E5B-9FB7-B156-5DBA-C9C55E84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FC77-40C7-4C49-9A19-86BDE9B75E8A}" type="slidenum">
              <a:rPr lang="en-CA" smtClean="0"/>
              <a:pPr/>
              <a:t>9</a:t>
            </a:fld>
            <a:endParaRPr lang="en-CA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974DA8-9E7C-193C-029D-F2C24289D4A9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CC1CE-8E06-7958-0EBF-A2A7B9442C93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Composite score: PyMOL RMSD term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9AEED0B-859E-9ADC-B75F-82FA477055CA}"/>
              </a:ext>
            </a:extLst>
          </p:cNvPr>
          <p:cNvSpPr/>
          <p:nvPr/>
        </p:nvSpPr>
        <p:spPr>
          <a:xfrm>
            <a:off x="3769744" y="1535501"/>
            <a:ext cx="491706" cy="4054415"/>
          </a:xfrm>
          <a:prstGeom prst="leftBrace">
            <a:avLst>
              <a:gd name="adj1" fmla="val 66406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8DED4-DBC8-683D-0AD8-0D5A443D9BF4}"/>
              </a:ext>
            </a:extLst>
          </p:cNvPr>
          <p:cNvSpPr txBox="1"/>
          <p:nvPr/>
        </p:nvSpPr>
        <p:spPr>
          <a:xfrm>
            <a:off x="1802921" y="3343712"/>
            <a:ext cx="1751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Composite score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48A35C-C229-4D3B-B997-AAB149919B61}"/>
              </a:ext>
            </a:extLst>
          </p:cNvPr>
          <p:cNvSpPr txBox="1"/>
          <p:nvPr/>
        </p:nvSpPr>
        <p:spPr>
          <a:xfrm>
            <a:off x="4477111" y="1750580"/>
            <a:ext cx="85314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0.40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B46B0-3007-BCB5-CC7B-BA07D110976D}"/>
              </a:ext>
            </a:extLst>
          </p:cNvPr>
          <p:cNvSpPr txBox="1"/>
          <p:nvPr/>
        </p:nvSpPr>
        <p:spPr>
          <a:xfrm>
            <a:off x="4477111" y="2388323"/>
            <a:ext cx="85314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0.35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C0383-BE71-D53A-E78A-8914873CE23D}"/>
              </a:ext>
            </a:extLst>
          </p:cNvPr>
          <p:cNvSpPr txBox="1"/>
          <p:nvPr/>
        </p:nvSpPr>
        <p:spPr>
          <a:xfrm>
            <a:off x="4477111" y="3026066"/>
            <a:ext cx="85314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0.05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CDBEE4-AF87-D882-E926-2C1B647F509A}"/>
              </a:ext>
            </a:extLst>
          </p:cNvPr>
          <p:cNvSpPr txBox="1"/>
          <p:nvPr/>
        </p:nvSpPr>
        <p:spPr>
          <a:xfrm>
            <a:off x="4307522" y="4301552"/>
            <a:ext cx="119231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0.075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E05E2A-88A7-4FE5-B73D-087489CCC75A}"/>
              </a:ext>
            </a:extLst>
          </p:cNvPr>
          <p:cNvSpPr txBox="1"/>
          <p:nvPr/>
        </p:nvSpPr>
        <p:spPr>
          <a:xfrm>
            <a:off x="4477111" y="3663809"/>
            <a:ext cx="85314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0.05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5FDD19-BE06-690C-1633-B2C65A4190ED}"/>
              </a:ext>
            </a:extLst>
          </p:cNvPr>
          <p:cNvSpPr txBox="1"/>
          <p:nvPr/>
        </p:nvSpPr>
        <p:spPr>
          <a:xfrm>
            <a:off x="4307522" y="4939295"/>
            <a:ext cx="119231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Verdana Pro" panose="020B0604030504040204" pitchFamily="34" charset="0"/>
              </a:rPr>
              <a:t>0.075</a:t>
            </a:r>
            <a:endParaRPr lang="en-CA" sz="2000" dirty="0">
              <a:latin typeface="Verdana Pro" panose="020B060403050404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23687C-5692-135C-A4FE-826450958AAA}"/>
              </a:ext>
            </a:extLst>
          </p:cNvPr>
          <p:cNvSpPr txBox="1"/>
          <p:nvPr/>
        </p:nvSpPr>
        <p:spPr>
          <a:xfrm>
            <a:off x="5827142" y="1725962"/>
            <a:ext cx="285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PyMOL score term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CBEC20-DE87-68C0-E171-8639471C5A67}"/>
              </a:ext>
            </a:extLst>
          </p:cNvPr>
          <p:cNvSpPr txBox="1"/>
          <p:nvPr/>
        </p:nvSpPr>
        <p:spPr>
          <a:xfrm>
            <a:off x="5827142" y="2217063"/>
            <a:ext cx="2851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FoldSeek e-value score term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61785F-B575-62D9-1FD4-C08CE622EDA0}"/>
              </a:ext>
            </a:extLst>
          </p:cNvPr>
          <p:cNvSpPr txBox="1"/>
          <p:nvPr/>
        </p:nvSpPr>
        <p:spPr>
          <a:xfrm>
            <a:off x="5827141" y="3041455"/>
            <a:ext cx="34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TM score (human protein)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83B46-826A-720E-6A3B-310E6F84CCCD}"/>
              </a:ext>
            </a:extLst>
          </p:cNvPr>
          <p:cNvSpPr txBox="1"/>
          <p:nvPr/>
        </p:nvSpPr>
        <p:spPr>
          <a:xfrm>
            <a:off x="5827141" y="3620711"/>
            <a:ext cx="341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TM score (bacterial protein)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6A0E3E-AC9A-F986-2B7B-5BB737BE6048}"/>
              </a:ext>
            </a:extLst>
          </p:cNvPr>
          <p:cNvSpPr txBox="1"/>
          <p:nvPr/>
        </p:nvSpPr>
        <p:spPr>
          <a:xfrm>
            <a:off x="5827141" y="4301552"/>
            <a:ext cx="373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pLDDT (human protein) / 100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79893-B955-E120-12A9-F39980A98AF7}"/>
              </a:ext>
            </a:extLst>
          </p:cNvPr>
          <p:cNvSpPr txBox="1"/>
          <p:nvPr/>
        </p:nvSpPr>
        <p:spPr>
          <a:xfrm>
            <a:off x="5827141" y="4939295"/>
            <a:ext cx="3929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pLDDT (bacterial protein) / 100</a:t>
            </a:r>
            <a:endParaRPr lang="en-CA" dirty="0">
              <a:latin typeface="Verdana Pro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E1257FA-61B4-79E9-59D2-FDAA739A4643}"/>
                  </a:ext>
                </a:extLst>
              </p:cNvPr>
              <p:cNvSpPr txBox="1"/>
              <p:nvPr/>
            </p:nvSpPr>
            <p:spPr>
              <a:xfrm>
                <a:off x="8767642" y="2230481"/>
                <a:ext cx="2585772" cy="447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⁡(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𝑣𝑎𝑙𝑢𝑒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4.7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1.03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CA" dirty="0"/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E1257FA-61B4-79E9-59D2-FDAA739A4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7642" y="2230481"/>
                <a:ext cx="2585772" cy="447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07372F-CC59-F650-3BDF-BD7D83BD1D26}"/>
                  </a:ext>
                </a:extLst>
              </p:cNvPr>
              <p:cNvSpPr txBox="1"/>
              <p:nvPr/>
            </p:nvSpPr>
            <p:spPr>
              <a:xfrm>
                <a:off x="8750390" y="1601768"/>
                <a:ext cx="2951193" cy="5296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0.635(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𝑃𝑦𝑀𝑂𝐿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𝑅𝑀𝑆𝐷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−4.94)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D07372F-CC59-F650-3BDF-BD7D83BD1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390" y="1601768"/>
                <a:ext cx="2951193" cy="5296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61CC45D-F2BB-BE0C-F1B1-FDEC601F88E6}"/>
                  </a:ext>
                </a:extLst>
              </p:cNvPr>
              <p:cNvSpPr txBox="1"/>
              <p:nvPr/>
            </p:nvSpPr>
            <p:spPr>
              <a:xfrm>
                <a:off x="5615545" y="1772128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61CC45D-F2BB-BE0C-F1B1-FDEC601F8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545" y="1772128"/>
                <a:ext cx="211596" cy="276999"/>
              </a:xfrm>
              <a:prstGeom prst="rect">
                <a:avLst/>
              </a:prstGeom>
              <a:blipFill>
                <a:blip r:embed="rId5"/>
                <a:stretch>
                  <a:fillRect l="-20000" r="-20000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67DADA6-301A-D32D-1B6C-13F3A119DEB7}"/>
                  </a:ext>
                </a:extLst>
              </p:cNvPr>
              <p:cNvSpPr txBox="1"/>
              <p:nvPr/>
            </p:nvSpPr>
            <p:spPr>
              <a:xfrm>
                <a:off x="5642302" y="2410584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67DADA6-301A-D32D-1B6C-13F3A119D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302" y="2410584"/>
                <a:ext cx="211596" cy="276999"/>
              </a:xfrm>
              <a:prstGeom prst="rect">
                <a:avLst/>
              </a:prstGeom>
              <a:blipFill>
                <a:blip r:embed="rId6"/>
                <a:stretch>
                  <a:fillRect l="-20588" r="-235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5D25EA9-1605-948B-B576-2C65D459BDC0}"/>
                  </a:ext>
                </a:extLst>
              </p:cNvPr>
              <p:cNvSpPr txBox="1"/>
              <p:nvPr/>
            </p:nvSpPr>
            <p:spPr>
              <a:xfrm>
                <a:off x="5642302" y="3087621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5D25EA9-1605-948B-B576-2C65D459B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302" y="3087621"/>
                <a:ext cx="211596" cy="276999"/>
              </a:xfrm>
              <a:prstGeom prst="rect">
                <a:avLst/>
              </a:prstGeom>
              <a:blipFill>
                <a:blip r:embed="rId7"/>
                <a:stretch>
                  <a:fillRect l="-20588" r="-2352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B992AB-489E-22E8-7737-74D1D4230F38}"/>
                  </a:ext>
                </a:extLst>
              </p:cNvPr>
              <p:cNvSpPr txBox="1"/>
              <p:nvPr/>
            </p:nvSpPr>
            <p:spPr>
              <a:xfrm>
                <a:off x="5642302" y="3663809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FB992AB-489E-22E8-7737-74D1D4230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302" y="3663809"/>
                <a:ext cx="211596" cy="276999"/>
              </a:xfrm>
              <a:prstGeom prst="rect">
                <a:avLst/>
              </a:prstGeom>
              <a:blipFill>
                <a:blip r:embed="rId8"/>
                <a:stretch>
                  <a:fillRect l="-20588" r="-23529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C54D887-6A46-65F6-E273-5532D8C79E5F}"/>
                  </a:ext>
                </a:extLst>
              </p:cNvPr>
              <p:cNvSpPr txBox="1"/>
              <p:nvPr/>
            </p:nvSpPr>
            <p:spPr>
              <a:xfrm>
                <a:off x="5642302" y="4986527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C54D887-6A46-65F6-E273-5532D8C79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302" y="4986527"/>
                <a:ext cx="211596" cy="276999"/>
              </a:xfrm>
              <a:prstGeom prst="rect">
                <a:avLst/>
              </a:prstGeom>
              <a:blipFill>
                <a:blip r:embed="rId9"/>
                <a:stretch>
                  <a:fillRect l="-20588" r="-23529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A4BF02-3753-B25E-F29F-8885B574B8FD}"/>
                  </a:ext>
                </a:extLst>
              </p:cNvPr>
              <p:cNvSpPr txBox="1"/>
              <p:nvPr/>
            </p:nvSpPr>
            <p:spPr>
              <a:xfrm>
                <a:off x="5642302" y="4363107"/>
                <a:ext cx="211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A4BF02-3753-B25E-F29F-8885B574B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302" y="4363107"/>
                <a:ext cx="211596" cy="276999"/>
              </a:xfrm>
              <a:prstGeom prst="rect">
                <a:avLst/>
              </a:prstGeom>
              <a:blipFill>
                <a:blip r:embed="rId10"/>
                <a:stretch>
                  <a:fillRect l="-20588" r="-23529" b="-222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ED0DAFEE-3EF3-38A9-44F0-1354DB6BFDE9}"/>
              </a:ext>
            </a:extLst>
          </p:cNvPr>
          <p:cNvSpPr txBox="1"/>
          <p:nvPr/>
        </p:nvSpPr>
        <p:spPr>
          <a:xfrm>
            <a:off x="2119788" y="4116886"/>
            <a:ext cx="124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 </a:t>
            </a:r>
            <a:r>
              <a:rPr lang="en-US" dirty="0">
                <a:sym typeface="Wingdings" panose="05000000000000000000" pitchFamily="2" charset="2"/>
              </a:rPr>
              <a:t> 1.0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102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E49C3D-4F55-2A4E-9E34-6CEE16631388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A4886-B1AC-EA6D-01D4-77894B69E9FC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IEI_BISSH pipeline workflow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E2AB0-B71B-D41A-7A04-C71BDE321B1A}"/>
              </a:ext>
            </a:extLst>
          </p:cNvPr>
          <p:cNvSpPr txBox="1"/>
          <p:nvPr/>
        </p:nvSpPr>
        <p:spPr>
          <a:xfrm>
            <a:off x="585619" y="1755871"/>
            <a:ext cx="265262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DefenseFinder UniProt IDs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82159-6150-31DC-0C89-FFC0F811E6C8}"/>
              </a:ext>
            </a:extLst>
          </p:cNvPr>
          <p:cNvSpPr txBox="1"/>
          <p:nvPr/>
        </p:nvSpPr>
        <p:spPr>
          <a:xfrm>
            <a:off x="527959" y="3392485"/>
            <a:ext cx="265262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AFDB FoldSeek all-v-all</a:t>
            </a:r>
          </a:p>
          <a:p>
            <a:r>
              <a:rPr lang="en-US" sz="1400" dirty="0">
                <a:latin typeface="Verdana Pro" panose="020B0604030504040204" pitchFamily="34" charset="0"/>
              </a:rPr>
              <a:t>network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9B3762C-08E2-50D0-C363-57E5057F2C1C}"/>
              </a:ext>
            </a:extLst>
          </p:cNvPr>
          <p:cNvGrpSpPr/>
          <p:nvPr/>
        </p:nvGrpSpPr>
        <p:grpSpPr>
          <a:xfrm>
            <a:off x="585619" y="2153230"/>
            <a:ext cx="1997014" cy="797920"/>
            <a:chOff x="892835" y="1928027"/>
            <a:chExt cx="1997014" cy="7979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55809C-D238-02A1-32C4-9D0C3A8C9C78}"/>
                </a:ext>
              </a:extLst>
            </p:cNvPr>
            <p:cNvSpPr/>
            <p:nvPr/>
          </p:nvSpPr>
          <p:spPr>
            <a:xfrm>
              <a:off x="892835" y="1932317"/>
              <a:ext cx="1997014" cy="7936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409073-8540-490B-2E26-F00F6726E36E}"/>
                </a:ext>
              </a:extLst>
            </p:cNvPr>
            <p:cNvSpPr/>
            <p:nvPr/>
          </p:nvSpPr>
          <p:spPr>
            <a:xfrm>
              <a:off x="892835" y="2148248"/>
              <a:ext cx="1997014" cy="18776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908847-4851-CF9C-B87A-0CD52953B874}"/>
                </a:ext>
              </a:extLst>
            </p:cNvPr>
            <p:cNvSpPr/>
            <p:nvPr/>
          </p:nvSpPr>
          <p:spPr>
            <a:xfrm>
              <a:off x="892835" y="2533890"/>
              <a:ext cx="1997014" cy="18776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00B8D5-2535-B8A5-10D9-18C4BFF406FE}"/>
                </a:ext>
              </a:extLst>
            </p:cNvPr>
            <p:cNvSpPr/>
            <p:nvPr/>
          </p:nvSpPr>
          <p:spPr>
            <a:xfrm>
              <a:off x="892836" y="1928027"/>
              <a:ext cx="327964" cy="79363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A673C08-5E00-0296-8220-C14241A97C22}"/>
              </a:ext>
            </a:extLst>
          </p:cNvPr>
          <p:cNvGrpSpPr/>
          <p:nvPr/>
        </p:nvGrpSpPr>
        <p:grpSpPr>
          <a:xfrm>
            <a:off x="563503" y="4112852"/>
            <a:ext cx="1348427" cy="1405139"/>
            <a:chOff x="4226224" y="1980968"/>
            <a:chExt cx="934101" cy="973387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8BC38BD-5485-7068-A1D0-2A27736240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8126" y="2200930"/>
              <a:ext cx="254669" cy="476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7A8ECE3-C0D5-1E89-80B4-6A56ADFEE7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624" y="2212835"/>
              <a:ext cx="564171" cy="1427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4774099-69B7-2D71-C928-6D72BBFBAB8C}"/>
                </a:ext>
              </a:extLst>
            </p:cNvPr>
            <p:cNvCxnSpPr>
              <a:cxnSpLocks/>
              <a:stCxn id="21" idx="1"/>
              <a:endCxn id="69" idx="5"/>
            </p:cNvCxnSpPr>
            <p:nvPr/>
          </p:nvCxnSpPr>
          <p:spPr>
            <a:xfrm>
              <a:off x="4389395" y="2319709"/>
              <a:ext cx="350739" cy="357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D443148-F790-D8E3-F1EF-BA243415E26C}"/>
                </a:ext>
              </a:extLst>
            </p:cNvPr>
            <p:cNvCxnSpPr>
              <a:cxnSpLocks/>
              <a:stCxn id="19" idx="1"/>
              <a:endCxn id="21" idx="5"/>
            </p:cNvCxnSpPr>
            <p:nvPr/>
          </p:nvCxnSpPr>
          <p:spPr>
            <a:xfrm>
              <a:off x="4236995" y="2167309"/>
              <a:ext cx="204408" cy="200420"/>
            </a:xfrm>
            <a:prstGeom prst="line">
              <a:avLst/>
            </a:prstGeom>
            <a:ln>
              <a:solidFill>
                <a:srgbClr val="4A27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81EF6D6-EDBD-4979-E12D-6395D0B2FD67}"/>
                </a:ext>
              </a:extLst>
            </p:cNvPr>
            <p:cNvSpPr/>
            <p:nvPr/>
          </p:nvSpPr>
          <p:spPr>
            <a:xfrm>
              <a:off x="4226224" y="2157364"/>
              <a:ext cx="73550" cy="67910"/>
            </a:xfrm>
            <a:prstGeom prst="ellipse">
              <a:avLst/>
            </a:prstGeom>
            <a:solidFill>
              <a:srgbClr val="4A27F9"/>
            </a:solidFill>
            <a:ln>
              <a:solidFill>
                <a:srgbClr val="4A27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085ABB3-6CC5-194B-62B9-51F34BA705E1}"/>
                </a:ext>
              </a:extLst>
            </p:cNvPr>
            <p:cNvSpPr/>
            <p:nvPr/>
          </p:nvSpPr>
          <p:spPr>
            <a:xfrm>
              <a:off x="4378624" y="2309764"/>
              <a:ext cx="73550" cy="67910"/>
            </a:xfrm>
            <a:prstGeom prst="ellipse">
              <a:avLst/>
            </a:prstGeom>
            <a:solidFill>
              <a:srgbClr val="4A27F9"/>
            </a:solidFill>
            <a:ln>
              <a:solidFill>
                <a:srgbClr val="4A27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5D0699C-35D8-36F2-2907-B9370A5E6C88}"/>
                </a:ext>
              </a:extLst>
            </p:cNvPr>
            <p:cNvSpPr/>
            <p:nvPr/>
          </p:nvSpPr>
          <p:spPr>
            <a:xfrm>
              <a:off x="4257742" y="2401008"/>
              <a:ext cx="73550" cy="67910"/>
            </a:xfrm>
            <a:prstGeom prst="ellipse">
              <a:avLst/>
            </a:prstGeom>
            <a:solidFill>
              <a:srgbClr val="4A27F9"/>
            </a:solidFill>
            <a:ln>
              <a:solidFill>
                <a:srgbClr val="4A27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18D8C3-3685-D029-3978-476D864073A0}"/>
                </a:ext>
              </a:extLst>
            </p:cNvPr>
            <p:cNvSpPr/>
            <p:nvPr/>
          </p:nvSpPr>
          <p:spPr>
            <a:xfrm>
              <a:off x="4548608" y="2161869"/>
              <a:ext cx="73550" cy="67910"/>
            </a:xfrm>
            <a:prstGeom prst="ellipse">
              <a:avLst/>
            </a:prstGeom>
            <a:solidFill>
              <a:srgbClr val="4A27F9"/>
            </a:solidFill>
            <a:ln>
              <a:solidFill>
                <a:srgbClr val="4A27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697E2B0-D477-1861-C677-D88B02E87554}"/>
                </a:ext>
              </a:extLst>
            </p:cNvPr>
            <p:cNvSpPr/>
            <p:nvPr/>
          </p:nvSpPr>
          <p:spPr>
            <a:xfrm>
              <a:off x="4384712" y="2566682"/>
              <a:ext cx="73550" cy="67910"/>
            </a:xfrm>
            <a:prstGeom prst="ellipse">
              <a:avLst/>
            </a:prstGeom>
            <a:solidFill>
              <a:srgbClr val="4A27F9"/>
            </a:solidFill>
            <a:ln>
              <a:solidFill>
                <a:srgbClr val="4A27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82FAA3D-718B-81F8-2749-683892BE6D2B}"/>
                </a:ext>
              </a:extLst>
            </p:cNvPr>
            <p:cNvCxnSpPr>
              <a:cxnSpLocks/>
              <a:stCxn id="21" idx="3"/>
              <a:endCxn id="25" idx="7"/>
            </p:cNvCxnSpPr>
            <p:nvPr/>
          </p:nvCxnSpPr>
          <p:spPr>
            <a:xfrm flipV="1">
              <a:off x="4389395" y="2171814"/>
              <a:ext cx="221992" cy="195915"/>
            </a:xfrm>
            <a:prstGeom prst="line">
              <a:avLst/>
            </a:prstGeom>
            <a:ln>
              <a:solidFill>
                <a:srgbClr val="4A27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63D84E-38E7-1A84-38C9-81E17B38D67B}"/>
                </a:ext>
              </a:extLst>
            </p:cNvPr>
            <p:cNvCxnSpPr>
              <a:cxnSpLocks/>
              <a:stCxn id="21" idx="7"/>
              <a:endCxn id="23" idx="3"/>
            </p:cNvCxnSpPr>
            <p:nvPr/>
          </p:nvCxnSpPr>
          <p:spPr>
            <a:xfrm flipH="1">
              <a:off x="4268513" y="2319709"/>
              <a:ext cx="172890" cy="139264"/>
            </a:xfrm>
            <a:prstGeom prst="line">
              <a:avLst/>
            </a:prstGeom>
            <a:ln>
              <a:solidFill>
                <a:srgbClr val="4A27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C619806-5D1B-7BBF-B279-574D17F67F9B}"/>
                </a:ext>
              </a:extLst>
            </p:cNvPr>
            <p:cNvCxnSpPr>
              <a:cxnSpLocks/>
              <a:stCxn id="21" idx="0"/>
              <a:endCxn id="27" idx="4"/>
            </p:cNvCxnSpPr>
            <p:nvPr/>
          </p:nvCxnSpPr>
          <p:spPr>
            <a:xfrm>
              <a:off x="4415399" y="2309764"/>
              <a:ext cx="6088" cy="324828"/>
            </a:xfrm>
            <a:prstGeom prst="line">
              <a:avLst/>
            </a:prstGeom>
            <a:ln>
              <a:solidFill>
                <a:srgbClr val="4A27F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C917FAC-9F98-7DC8-1F1E-936043AF9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4778" y="2215416"/>
              <a:ext cx="269538" cy="89146"/>
            </a:xfrm>
            <a:prstGeom prst="line">
              <a:avLst/>
            </a:prstGeom>
            <a:ln>
              <a:solidFill>
                <a:srgbClr val="DC44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0662BCC-64DC-5F56-F1AF-841B1CA46AAB}"/>
                </a:ext>
              </a:extLst>
            </p:cNvPr>
            <p:cNvSpPr/>
            <p:nvPr/>
          </p:nvSpPr>
          <p:spPr>
            <a:xfrm>
              <a:off x="5086775" y="2256121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0329036-493A-582C-9911-DD8C2D251EF8}"/>
                </a:ext>
              </a:extLst>
            </p:cNvPr>
            <p:cNvSpPr/>
            <p:nvPr/>
          </p:nvSpPr>
          <p:spPr>
            <a:xfrm>
              <a:off x="4880016" y="2190985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742D6F0-A580-DF22-0B10-353947028973}"/>
                </a:ext>
              </a:extLst>
            </p:cNvPr>
            <p:cNvSpPr/>
            <p:nvPr/>
          </p:nvSpPr>
          <p:spPr>
            <a:xfrm>
              <a:off x="4788079" y="2319444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48ED028-E19D-2BF3-F6C6-10696F68015C}"/>
                </a:ext>
              </a:extLst>
            </p:cNvPr>
            <p:cNvSpPr/>
            <p:nvPr/>
          </p:nvSpPr>
          <p:spPr>
            <a:xfrm>
              <a:off x="4729363" y="1980968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E8405C9-BA06-1AE4-18D2-99978F4F0FE4}"/>
                </a:ext>
              </a:extLst>
            </p:cNvPr>
            <p:cNvSpPr/>
            <p:nvPr/>
          </p:nvSpPr>
          <p:spPr>
            <a:xfrm>
              <a:off x="5013225" y="2110628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CB9F063-1A96-0791-C0AD-5469A951A4F0}"/>
                </a:ext>
              </a:extLst>
            </p:cNvPr>
            <p:cNvCxnSpPr>
              <a:cxnSpLocks/>
              <a:stCxn id="43" idx="7"/>
              <a:endCxn id="44" idx="3"/>
            </p:cNvCxnSpPr>
            <p:nvPr/>
          </p:nvCxnSpPr>
          <p:spPr>
            <a:xfrm flipH="1">
              <a:off x="4798850" y="2200930"/>
              <a:ext cx="143945" cy="176479"/>
            </a:xfrm>
            <a:prstGeom prst="line">
              <a:avLst/>
            </a:prstGeom>
            <a:ln>
              <a:solidFill>
                <a:srgbClr val="DC44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67B0733-C98D-4EED-C4B2-A68EC4AD2C47}"/>
                </a:ext>
              </a:extLst>
            </p:cNvPr>
            <p:cNvCxnSpPr>
              <a:cxnSpLocks/>
              <a:stCxn id="43" idx="3"/>
              <a:endCxn id="46" idx="7"/>
            </p:cNvCxnSpPr>
            <p:nvPr/>
          </p:nvCxnSpPr>
          <p:spPr>
            <a:xfrm flipV="1">
              <a:off x="4890787" y="2120573"/>
              <a:ext cx="185217" cy="128377"/>
            </a:xfrm>
            <a:prstGeom prst="line">
              <a:avLst/>
            </a:prstGeom>
            <a:ln>
              <a:solidFill>
                <a:srgbClr val="DC44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C4C0168-501A-9F8A-30D2-CCB4F3D76A11}"/>
                </a:ext>
              </a:extLst>
            </p:cNvPr>
            <p:cNvCxnSpPr>
              <a:cxnSpLocks/>
            </p:cNvCxnSpPr>
            <p:nvPr/>
          </p:nvCxnSpPr>
          <p:spPr>
            <a:xfrm>
              <a:off x="4905073" y="2196168"/>
              <a:ext cx="99554" cy="220379"/>
            </a:xfrm>
            <a:prstGeom prst="line">
              <a:avLst/>
            </a:prstGeom>
            <a:ln>
              <a:solidFill>
                <a:srgbClr val="DC44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6FC40C0-DAD7-0368-B5C5-CFF8E959A039}"/>
                </a:ext>
              </a:extLst>
            </p:cNvPr>
            <p:cNvSpPr/>
            <p:nvPr/>
          </p:nvSpPr>
          <p:spPr>
            <a:xfrm>
              <a:off x="4953566" y="2353399"/>
              <a:ext cx="73550" cy="67910"/>
            </a:xfrm>
            <a:prstGeom prst="ellipse">
              <a:avLst/>
            </a:prstGeom>
            <a:solidFill>
              <a:srgbClr val="DC445D"/>
            </a:solidFill>
            <a:ln>
              <a:solidFill>
                <a:srgbClr val="DC44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D2FA517-B6BD-F3ED-0A83-1614D05C3061}"/>
                </a:ext>
              </a:extLst>
            </p:cNvPr>
            <p:cNvCxnSpPr>
              <a:cxnSpLocks/>
              <a:stCxn id="45" idx="1"/>
              <a:endCxn id="43" idx="5"/>
            </p:cNvCxnSpPr>
            <p:nvPr/>
          </p:nvCxnSpPr>
          <p:spPr>
            <a:xfrm>
              <a:off x="4740134" y="1990913"/>
              <a:ext cx="202661" cy="258037"/>
            </a:xfrm>
            <a:prstGeom prst="line">
              <a:avLst/>
            </a:prstGeom>
            <a:ln>
              <a:solidFill>
                <a:srgbClr val="DC44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66484AA-AA72-2B72-1265-C5022310C2C2}"/>
                </a:ext>
              </a:extLst>
            </p:cNvPr>
            <p:cNvCxnSpPr>
              <a:cxnSpLocks/>
              <a:stCxn id="76" idx="7"/>
              <a:endCxn id="69" idx="3"/>
            </p:cNvCxnSpPr>
            <p:nvPr/>
          </p:nvCxnSpPr>
          <p:spPr>
            <a:xfrm flipH="1">
              <a:off x="4688126" y="2542672"/>
              <a:ext cx="181119" cy="134377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180036A-A98F-D7B5-7CFC-79A819FC5D45}"/>
                </a:ext>
              </a:extLst>
            </p:cNvPr>
            <p:cNvSpPr/>
            <p:nvPr/>
          </p:nvSpPr>
          <p:spPr>
            <a:xfrm>
              <a:off x="4884114" y="2684220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A80BE4D-063C-2618-B8CA-78125421D875}"/>
                </a:ext>
              </a:extLst>
            </p:cNvPr>
            <p:cNvSpPr/>
            <p:nvPr/>
          </p:nvSpPr>
          <p:spPr>
            <a:xfrm>
              <a:off x="4677355" y="2619084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5E38CA0-635B-ACE6-3B8A-80B0331844FF}"/>
                </a:ext>
              </a:extLst>
            </p:cNvPr>
            <p:cNvSpPr/>
            <p:nvPr/>
          </p:nvSpPr>
          <p:spPr>
            <a:xfrm>
              <a:off x="4585418" y="2747543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527DEAE-9EB9-D726-C435-798F6FCC1672}"/>
                </a:ext>
              </a:extLst>
            </p:cNvPr>
            <p:cNvSpPr/>
            <p:nvPr/>
          </p:nvSpPr>
          <p:spPr>
            <a:xfrm>
              <a:off x="4628876" y="2454706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75AEAE8-7EFE-4A6C-413A-411E9DE26E45}"/>
                </a:ext>
              </a:extLst>
            </p:cNvPr>
            <p:cNvSpPr/>
            <p:nvPr/>
          </p:nvSpPr>
          <p:spPr>
            <a:xfrm>
              <a:off x="4507371" y="2656368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E837D91-AC0E-1B1E-A6BE-6C3DE76A1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0983" y="2638553"/>
              <a:ext cx="269538" cy="89146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D419CA-3EEC-8A1E-E310-BA65C0E5EF68}"/>
                </a:ext>
              </a:extLst>
            </p:cNvPr>
            <p:cNvCxnSpPr>
              <a:cxnSpLocks/>
              <a:stCxn id="70" idx="3"/>
              <a:endCxn id="69" idx="7"/>
            </p:cNvCxnSpPr>
            <p:nvPr/>
          </p:nvCxnSpPr>
          <p:spPr>
            <a:xfrm flipV="1">
              <a:off x="4596189" y="2629029"/>
              <a:ext cx="143945" cy="176479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4A592A9B-213A-1744-F28D-311445D921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6603" y="2457087"/>
              <a:ext cx="79245" cy="21996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3DA2B0B-F45E-F799-971A-C85A4B01616D}"/>
                </a:ext>
              </a:extLst>
            </p:cNvPr>
            <p:cNvSpPr/>
            <p:nvPr/>
          </p:nvSpPr>
          <p:spPr>
            <a:xfrm>
              <a:off x="4806466" y="2532727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66492D5-0741-746C-4FD9-ACF3722A9B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9752" y="2640934"/>
              <a:ext cx="232763" cy="61294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E9DDA3A-37C6-8F01-55D3-4E6A70B13770}"/>
                </a:ext>
              </a:extLst>
            </p:cNvPr>
            <p:cNvSpPr/>
            <p:nvPr/>
          </p:nvSpPr>
          <p:spPr>
            <a:xfrm>
              <a:off x="4670333" y="2886445"/>
              <a:ext cx="73550" cy="67910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88C601E-3155-2914-3E5F-E2219AADDC36}"/>
                </a:ext>
              </a:extLst>
            </p:cNvPr>
            <p:cNvCxnSpPr>
              <a:cxnSpLocks/>
              <a:stCxn id="69" idx="0"/>
              <a:endCxn id="92" idx="4"/>
            </p:cNvCxnSpPr>
            <p:nvPr/>
          </p:nvCxnSpPr>
          <p:spPr>
            <a:xfrm flipH="1">
              <a:off x="4707108" y="2619084"/>
              <a:ext cx="7022" cy="335271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A4D89389-CE9D-C96E-8378-71E08A093C8A}"/>
              </a:ext>
            </a:extLst>
          </p:cNvPr>
          <p:cNvSpPr txBox="1"/>
          <p:nvPr/>
        </p:nvSpPr>
        <p:spPr>
          <a:xfrm>
            <a:off x="4227609" y="1755870"/>
            <a:ext cx="29078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Human-bacteria protein pairs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DA91FCA-C304-3406-3EEC-B14900AC32FA}"/>
              </a:ext>
            </a:extLst>
          </p:cNvPr>
          <p:cNvCxnSpPr>
            <a:cxnSpLocks/>
            <a:stCxn id="8" idx="3"/>
            <a:endCxn id="107" idx="1"/>
          </p:cNvCxnSpPr>
          <p:nvPr/>
        </p:nvCxnSpPr>
        <p:spPr>
          <a:xfrm flipV="1">
            <a:off x="3238241" y="1909759"/>
            <a:ext cx="989368" cy="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757B1020-BD65-9003-1637-5C69A8B54BB9}"/>
              </a:ext>
            </a:extLst>
          </p:cNvPr>
          <p:cNvCxnSpPr>
            <a:cxnSpLocks/>
            <a:stCxn id="10" idx="3"/>
            <a:endCxn id="107" idx="1"/>
          </p:cNvCxnSpPr>
          <p:nvPr/>
        </p:nvCxnSpPr>
        <p:spPr>
          <a:xfrm flipV="1">
            <a:off x="3180581" y="1909759"/>
            <a:ext cx="1047028" cy="17443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73EC1BDA-16B8-F15B-DEA1-0928C4E3020D}"/>
              </a:ext>
            </a:extLst>
          </p:cNvPr>
          <p:cNvSpPr txBox="1"/>
          <p:nvPr/>
        </p:nvSpPr>
        <p:spPr>
          <a:xfrm>
            <a:off x="4227609" y="2217535"/>
            <a:ext cx="31357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>
                <a:latin typeface="Verdana Pro" panose="020B0604030504040204" pitchFamily="34" charset="0"/>
              </a:rPr>
              <a:t>Proteins with ...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Verdana Pro" panose="020B0604030504040204" pitchFamily="34" charset="0"/>
              </a:rPr>
              <a:t>1. </a:t>
            </a:r>
            <a:r>
              <a:rPr lang="en-US" sz="1400" i="1" dirty="0">
                <a:latin typeface="Verdana Pro" panose="020B0604030504040204" pitchFamily="34" charset="0"/>
              </a:rPr>
              <a:t>H. sapiens</a:t>
            </a:r>
            <a:r>
              <a:rPr lang="en-US" sz="1400" dirty="0">
                <a:latin typeface="Verdana Pro" panose="020B0604030504040204" pitchFamily="34" charset="0"/>
              </a:rPr>
              <a:t> taxID in FoldSeek</a:t>
            </a:r>
          </a:p>
          <a:p>
            <a:r>
              <a:rPr lang="en-CA" sz="1400" dirty="0">
                <a:latin typeface="Verdana Pro" panose="020B0604030504040204" pitchFamily="34" charset="0"/>
              </a:rPr>
              <a:t>2. e-value with DefenseFinder protein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F16BC33-2984-B617-CF5C-42D7CFA7F0A9}"/>
              </a:ext>
            </a:extLst>
          </p:cNvPr>
          <p:cNvSpPr txBox="1"/>
          <p:nvPr/>
        </p:nvSpPr>
        <p:spPr>
          <a:xfrm>
            <a:off x="7446884" y="1756315"/>
            <a:ext cx="29078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AlphaFold structures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5CDF36C5-0A33-7EBB-9651-44F21ED73DF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6694" y="2393484"/>
            <a:ext cx="831456" cy="171781"/>
          </a:xfrm>
          <a:prstGeom prst="bentConnector3">
            <a:avLst>
              <a:gd name="adj1" fmla="val 998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382093C-EB4F-E583-7FBB-0B33B71771BD}"/>
              </a:ext>
            </a:extLst>
          </p:cNvPr>
          <p:cNvSpPr txBox="1"/>
          <p:nvPr/>
        </p:nvSpPr>
        <p:spPr>
          <a:xfrm>
            <a:off x="7728858" y="2741214"/>
            <a:ext cx="21195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TM-align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DC01794-2DD0-C54A-275F-3E2939A7898F}"/>
              </a:ext>
            </a:extLst>
          </p:cNvPr>
          <p:cNvSpPr txBox="1"/>
          <p:nvPr/>
        </p:nvSpPr>
        <p:spPr>
          <a:xfrm>
            <a:off x="7728858" y="3608571"/>
            <a:ext cx="21195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PyMOL-super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D4C6186-6C1A-AF6C-FB54-15FC9B19DBEF}"/>
              </a:ext>
            </a:extLst>
          </p:cNvPr>
          <p:cNvSpPr txBox="1"/>
          <p:nvPr/>
        </p:nvSpPr>
        <p:spPr>
          <a:xfrm>
            <a:off x="7708312" y="4403869"/>
            <a:ext cx="234387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Domain annotation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66B4A858-B710-FA40-B1D2-91CE585502AA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6693" y="3239885"/>
            <a:ext cx="831456" cy="171781"/>
          </a:xfrm>
          <a:prstGeom prst="bentConnector3">
            <a:avLst>
              <a:gd name="adj1" fmla="val 998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953BB405-8981-7EC4-17EC-080344492422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6693" y="4071693"/>
            <a:ext cx="831456" cy="171781"/>
          </a:xfrm>
          <a:prstGeom prst="bentConnector3">
            <a:avLst>
              <a:gd name="adj1" fmla="val 998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03470975-3E7B-0F53-8AC3-113DA53804D9}"/>
              </a:ext>
            </a:extLst>
          </p:cNvPr>
          <p:cNvSpPr txBox="1"/>
          <p:nvPr/>
        </p:nvSpPr>
        <p:spPr>
          <a:xfrm>
            <a:off x="7708311" y="5250270"/>
            <a:ext cx="2343875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Verdana Pro" panose="020B0604030504040204" pitchFamily="34" charset="0"/>
              </a:rPr>
              <a:t>Composite score annotation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BB1825B2-B940-87C2-5109-25F575E5C77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06693" y="4921489"/>
            <a:ext cx="831456" cy="171781"/>
          </a:xfrm>
          <a:prstGeom prst="bentConnector3">
            <a:avLst>
              <a:gd name="adj1" fmla="val 998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0D4A427-7132-F54C-A374-309D4E705073}"/>
              </a:ext>
            </a:extLst>
          </p:cNvPr>
          <p:cNvGrpSpPr/>
          <p:nvPr/>
        </p:nvGrpSpPr>
        <p:grpSpPr>
          <a:xfrm>
            <a:off x="10308296" y="2741214"/>
            <a:ext cx="1375891" cy="3092898"/>
            <a:chOff x="10790885" y="2741214"/>
            <a:chExt cx="1375891" cy="3092898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349F890-E835-A504-B1F6-1DA6E0B9702C}"/>
                </a:ext>
              </a:extLst>
            </p:cNvPr>
            <p:cNvSpPr/>
            <p:nvPr/>
          </p:nvSpPr>
          <p:spPr>
            <a:xfrm>
              <a:off x="10790886" y="4021098"/>
              <a:ext cx="1375890" cy="771881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55" name="Picture 154">
              <a:extLst>
                <a:ext uri="{FF2B5EF4-FFF2-40B4-BE49-F238E27FC236}">
                  <a16:creationId xmlns:a16="http://schemas.microsoft.com/office/drawing/2014/main" id="{75AF42F9-C387-1720-F708-36EA48A1E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049" r="16301"/>
            <a:stretch>
              <a:fillRect/>
            </a:stretch>
          </p:blipFill>
          <p:spPr>
            <a:xfrm>
              <a:off x="10790885" y="4418800"/>
              <a:ext cx="1375890" cy="1415312"/>
            </a:xfrm>
            <a:prstGeom prst="rect">
              <a:avLst/>
            </a:prstGeom>
          </p:spPr>
        </p:pic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07792FB4-7BCC-06BF-8439-CCB868A85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84" r="16178"/>
            <a:stretch>
              <a:fillRect/>
            </a:stretch>
          </p:blipFill>
          <p:spPr>
            <a:xfrm>
              <a:off x="10790885" y="2741214"/>
              <a:ext cx="1375890" cy="1402636"/>
            </a:xfrm>
            <a:prstGeom prst="rect">
              <a:avLst/>
            </a:prstGeom>
          </p:spPr>
        </p:pic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4587CE1A-B379-7828-EA4E-5BFC7C108186}"/>
              </a:ext>
            </a:extLst>
          </p:cNvPr>
          <p:cNvSpPr txBox="1"/>
          <p:nvPr/>
        </p:nvSpPr>
        <p:spPr>
          <a:xfrm>
            <a:off x="11005019" y="548694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0.92</a:t>
            </a:r>
            <a:endParaRPr lang="en-CA" dirty="0">
              <a:latin typeface="Verdana Pro" panose="020B0604030504040204" pitchFamily="34" charset="0"/>
            </a:endParaRP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CC0A439-DE2B-E5A3-6BDC-937CA42DCC63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7135430" y="1909759"/>
            <a:ext cx="3131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A02DB-0425-B796-820A-CA4928CF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332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2B96F-B730-1DA5-EB18-8FC57914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CC1444-5E77-21AF-0D9D-5AE735660034}"/>
              </a:ext>
            </a:extLst>
          </p:cNvPr>
          <p:cNvSpPr txBox="1"/>
          <p:nvPr/>
        </p:nvSpPr>
        <p:spPr>
          <a:xfrm>
            <a:off x="7042384" y="4503211"/>
            <a:ext cx="41548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Composite scoring results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AA94CC-AC47-7D89-8FED-EEBCA141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7790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A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B91504B-73D4-8C2E-E7C0-99702B7967BB}"/>
              </a:ext>
            </a:extLst>
          </p:cNvPr>
          <p:cNvGrpSpPr/>
          <p:nvPr/>
        </p:nvGrpSpPr>
        <p:grpSpPr>
          <a:xfrm>
            <a:off x="0" y="1182845"/>
            <a:ext cx="12192000" cy="5319558"/>
            <a:chOff x="0" y="900721"/>
            <a:chExt cx="12192000" cy="53195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D369E40-9A3E-85BA-F618-50EEA50F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058" b="6383"/>
            <a:stretch>
              <a:fillRect/>
            </a:stretch>
          </p:blipFill>
          <p:spPr>
            <a:xfrm>
              <a:off x="0" y="2280870"/>
              <a:ext cx="12192000" cy="393940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568F1C-E6F7-1875-942D-B6D95C345E87}"/>
                </a:ext>
              </a:extLst>
            </p:cNvPr>
            <p:cNvSpPr txBox="1"/>
            <p:nvPr/>
          </p:nvSpPr>
          <p:spPr>
            <a:xfrm>
              <a:off x="138107" y="900721"/>
              <a:ext cx="3128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DNMT2 </a:t>
              </a:r>
              <a:r>
                <a:rPr lang="en-US" sz="1200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(Q6ICS7)</a:t>
              </a:r>
            </a:p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tRNA methyltransferase</a:t>
              </a:r>
              <a:endParaRPr lang="en-CA" dirty="0">
                <a:solidFill>
                  <a:schemeClr val="bg1"/>
                </a:solidFill>
                <a:latin typeface="Verdana Pro" panose="020B060403050404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24AEA8-3D9A-9ECB-645C-4CA60CF2C66D}"/>
                </a:ext>
              </a:extLst>
            </p:cNvPr>
            <p:cNvSpPr txBox="1"/>
            <p:nvPr/>
          </p:nvSpPr>
          <p:spPr>
            <a:xfrm>
              <a:off x="8782054" y="900721"/>
              <a:ext cx="287655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C5 methyltransferase</a:t>
              </a:r>
              <a:endParaRPr lang="en-CA" dirty="0">
                <a:solidFill>
                  <a:schemeClr val="bg1"/>
                </a:solidFill>
                <a:latin typeface="Verdana Pro" panose="020B0604030504040204" pitchFamily="34" charset="0"/>
              </a:endParaRPr>
            </a:p>
            <a:p>
              <a:r>
                <a:rPr lang="en-US" sz="1200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(E4ZAF3)</a:t>
              </a:r>
            </a:p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RM Type II system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933D43-15CB-AE0A-C577-17D3FE9E46D1}"/>
                </a:ext>
              </a:extLst>
            </p:cNvPr>
            <p:cNvSpPr txBox="1"/>
            <p:nvPr/>
          </p:nvSpPr>
          <p:spPr>
            <a:xfrm>
              <a:off x="3405181" y="905227"/>
              <a:ext cx="45815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Composite score: 0.95</a:t>
              </a:r>
            </a:p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FoldSeek e-value: 6.31e-25</a:t>
              </a:r>
            </a:p>
            <a:p>
              <a:r>
                <a:rPr lang="en-US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PyMOL RMSD: 1.23 Å</a:t>
              </a:r>
              <a:endParaRPr lang="en-CA" dirty="0">
                <a:solidFill>
                  <a:schemeClr val="bg1"/>
                </a:solidFill>
                <a:latin typeface="Verdana Pro" panose="020B0604030504040204" pitchFamily="34" charset="0"/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C71EB9-CEA7-A481-F77A-1C4EBD1ACA3A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D1CE8-7E69-8E0B-AF83-D4B4601709D3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DNMT2: C5 methyltransferase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72B6BA-1CD0-834B-7DDC-0CD888A52F82}"/>
              </a:ext>
            </a:extLst>
          </p:cNvPr>
          <p:cNvSpPr txBox="1"/>
          <p:nvPr/>
        </p:nvSpPr>
        <p:spPr>
          <a:xfrm>
            <a:off x="138107" y="2230633"/>
            <a:ext cx="3267074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C5 methyltransferase protecting tRNA from stress-induces cleavage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Facilitates HIV RNA stability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2</a:t>
            </a:r>
            <a:endParaRPr lang="en-CA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B87F0D-8DBC-5F80-5532-BBF7F3254C79}"/>
              </a:ext>
            </a:extLst>
          </p:cNvPr>
          <p:cNvSpPr txBox="1"/>
          <p:nvPr/>
        </p:nvSpPr>
        <p:spPr>
          <a:xfrm>
            <a:off x="8782054" y="2176873"/>
            <a:ext cx="3267074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recognises short motifs on bacterial DNA and transfers methyl group to cytosine carbon 5 on the motif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4</a:t>
            </a:r>
            <a:endParaRPr lang="en-US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viral DNA lacking methylation is targeted by restriction enzymes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4</a:t>
            </a:r>
            <a:endParaRPr lang="en-CA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00D8DE-55CD-D9AF-D600-99C3241FB647}"/>
              </a:ext>
            </a:extLst>
          </p:cNvPr>
          <p:cNvSpPr txBox="1"/>
          <p:nvPr/>
        </p:nvSpPr>
        <p:spPr>
          <a:xfrm>
            <a:off x="3543288" y="2230633"/>
            <a:ext cx="49765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DNMT2 is reported in the literature as exhibiting sequence homology to bacterial RM Type II C5 methyltransferases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3</a:t>
            </a:r>
            <a:endParaRPr lang="en-CA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C94B21-9ED9-712C-B028-37BA266B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530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A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AED45-3F0C-244E-4A45-7F1E2BB5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94D014-05EB-4912-E4AC-F47F045C91D7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325C7-E0C4-083A-3A93-556D9339CE5A}"/>
              </a:ext>
            </a:extLst>
          </p:cNvPr>
          <p:cNvSpPr txBox="1"/>
          <p:nvPr/>
        </p:nvSpPr>
        <p:spPr>
          <a:xfrm>
            <a:off x="527959" y="62217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DDX20: HelY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4A5418-024A-5D58-722B-4F7E96F9E5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18"/>
          <a:stretch>
            <a:fillRect/>
          </a:stretch>
        </p:blipFill>
        <p:spPr>
          <a:xfrm>
            <a:off x="0" y="3871608"/>
            <a:ext cx="12192000" cy="2924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86B55F-AEA1-0C90-1799-8ABB02320248}"/>
              </a:ext>
            </a:extLst>
          </p:cNvPr>
          <p:cNvSpPr txBox="1"/>
          <p:nvPr/>
        </p:nvSpPr>
        <p:spPr>
          <a:xfrm>
            <a:off x="128582" y="1187351"/>
            <a:ext cx="3128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DDX20 </a:t>
            </a:r>
            <a:r>
              <a:rPr lang="en-US" sz="1200" dirty="0">
                <a:solidFill>
                  <a:schemeClr val="bg1"/>
                </a:solidFill>
                <a:latin typeface="Verdana Pro" panose="020B0604030504040204" pitchFamily="34" charset="0"/>
              </a:rPr>
              <a:t>(A0A7P0TB94)</a:t>
            </a: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RNA helicase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6F725-7D36-EC74-8CBF-702E302E6210}"/>
              </a:ext>
            </a:extLst>
          </p:cNvPr>
          <p:cNvSpPr txBox="1"/>
          <p:nvPr/>
        </p:nvSpPr>
        <p:spPr>
          <a:xfrm>
            <a:off x="8782054" y="1138494"/>
            <a:ext cx="2876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HelY </a:t>
            </a:r>
            <a:r>
              <a:rPr lang="en-US" sz="1200" dirty="0">
                <a:solidFill>
                  <a:schemeClr val="bg1"/>
                </a:solidFill>
                <a:latin typeface="Verdana Pro" panose="020B0604030504040204" pitchFamily="34" charset="0"/>
              </a:rPr>
              <a:t>(A0A509EDC2)</a:t>
            </a: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(SngC?)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Shango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99D806-1557-7763-4650-1BCADEB87BD0}"/>
              </a:ext>
            </a:extLst>
          </p:cNvPr>
          <p:cNvSpPr txBox="1"/>
          <p:nvPr/>
        </p:nvSpPr>
        <p:spPr>
          <a:xfrm>
            <a:off x="3405181" y="1187351"/>
            <a:ext cx="45815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Composite score: 0.87</a:t>
            </a: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FoldSeek e-value: 1.10e-17</a:t>
            </a: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PyMOL RMSD: 2.81 Å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A44BE-0F4F-FD1C-BF53-1C3E64EAC09F}"/>
              </a:ext>
            </a:extLst>
          </p:cNvPr>
          <p:cNvSpPr txBox="1"/>
          <p:nvPr/>
        </p:nvSpPr>
        <p:spPr>
          <a:xfrm>
            <a:off x="3407783" y="2164700"/>
            <a:ext cx="49765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Align at helicase and ATP hydrolase domains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HelY A0A509EDC2 has additional non-aligned domains that do not bear InterPro annotations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Orange region does not bear a CATH superfamily annotation</a:t>
            </a:r>
            <a:endParaRPr lang="en-CA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9C67CA-DD8E-FA87-1F15-2AE4A8EF40BD}"/>
              </a:ext>
            </a:extLst>
          </p:cNvPr>
          <p:cNvSpPr txBox="1"/>
          <p:nvPr/>
        </p:nvSpPr>
        <p:spPr>
          <a:xfrm>
            <a:off x="8782054" y="2155595"/>
            <a:ext cx="287655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ATP-dependent helicase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Proposed that SngA acts as a sensor, Shango helicase effects antiviral response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D941F2-CB94-DFE2-8DFA-E8A593E0BD24}"/>
              </a:ext>
            </a:extLst>
          </p:cNvPr>
          <p:cNvSpPr txBox="1"/>
          <p:nvPr/>
        </p:nvSpPr>
        <p:spPr>
          <a:xfrm>
            <a:off x="130957" y="2110681"/>
            <a:ext cx="287655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ATP-dependent DEAD-box helicase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Participates in snRNP assembly for spliceosome-mediated pre-mRNA splicing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Verdana Pro" panose="020B0604030504040204" pitchFamily="34" charset="0"/>
              </a:rPr>
              <a:t>Exerts antiviral activity via transcriptional regulation in Vero E6 cells</a:t>
            </a:r>
            <a:r>
              <a:rPr lang="en-US" sz="1400" baseline="30000" dirty="0">
                <a:solidFill>
                  <a:schemeClr val="bg1"/>
                </a:solidFill>
                <a:latin typeface="Verdana Pro" panose="020B0604030504040204" pitchFamily="34" charset="0"/>
              </a:rPr>
              <a:t>5</a:t>
            </a:r>
            <a:endParaRPr lang="en-US" sz="1400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6B9CB-5802-43B8-3067-6B75B8D3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883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A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8CCD6-A90A-63F9-3A82-A75084EA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E69BB3-3796-09BD-E00C-B2AE5BA4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647" b="-1"/>
          <a:stretch>
            <a:fillRect/>
          </a:stretch>
        </p:blipFill>
        <p:spPr>
          <a:xfrm>
            <a:off x="0" y="3701600"/>
            <a:ext cx="12192000" cy="31426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34E845-2754-4E53-933A-BDCBDC395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18"/>
          <a:stretch>
            <a:fillRect/>
          </a:stretch>
        </p:blipFill>
        <p:spPr>
          <a:xfrm>
            <a:off x="0" y="777426"/>
            <a:ext cx="12192000" cy="292417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0698A4-C1AD-54BB-6545-50BC20230B0D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E8C51B-8CAE-C2EF-317E-D4F3B4608B94}"/>
              </a:ext>
            </a:extLst>
          </p:cNvPr>
          <p:cNvSpPr txBox="1"/>
          <p:nvPr/>
        </p:nvSpPr>
        <p:spPr>
          <a:xfrm>
            <a:off x="527959" y="62217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A0A7P0TB94(DDX20)-A0A509EDC2(HelY)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89AF6-E05D-96E1-196D-AD16F28D1BF2}"/>
              </a:ext>
            </a:extLst>
          </p:cNvPr>
          <p:cNvSpPr txBox="1"/>
          <p:nvPr/>
        </p:nvSpPr>
        <p:spPr>
          <a:xfrm>
            <a:off x="2735970" y="5775836"/>
            <a:ext cx="8440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Sequence identity: 24.3%			BLASTp score: 29.6</a:t>
            </a:r>
          </a:p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Sequence alignment coverage: 24%</a:t>
            </a:r>
          </a:p>
          <a:p>
            <a:r>
              <a:rPr lang="en-CA" dirty="0">
                <a:solidFill>
                  <a:schemeClr val="bg1"/>
                </a:solidFill>
                <a:latin typeface="Verdana Pro" panose="020B0604030504040204" pitchFamily="34" charset="0"/>
              </a:rPr>
              <a:t>BLASTp e-value: 2e-4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6E66E-9D79-38CB-AC25-F25BE4A5579E}"/>
              </a:ext>
            </a:extLst>
          </p:cNvPr>
          <p:cNvSpPr txBox="1"/>
          <p:nvPr/>
        </p:nvSpPr>
        <p:spPr>
          <a:xfrm>
            <a:off x="2232358" y="1037779"/>
            <a:ext cx="100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DDX20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B27A09-8966-EDAF-D4B5-C06CA8653D37}"/>
              </a:ext>
            </a:extLst>
          </p:cNvPr>
          <p:cNvSpPr txBox="1"/>
          <p:nvPr/>
        </p:nvSpPr>
        <p:spPr>
          <a:xfrm>
            <a:off x="8952418" y="1037779"/>
            <a:ext cx="1007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HelY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1845182-CDB3-13F9-7753-9708C684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295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CF4A-D97A-021D-A0B4-D4EDDB71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520301-3D3B-BB56-C97D-CB7FBD817029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E911E-28F8-7029-12B7-B92FD32A8D2A}"/>
              </a:ext>
            </a:extLst>
          </p:cNvPr>
          <p:cNvSpPr txBox="1"/>
          <p:nvPr/>
        </p:nvSpPr>
        <p:spPr>
          <a:xfrm>
            <a:off x="527959" y="62217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IUIS-IEI genes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9A594D-43BD-E531-BA8A-35095CBE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15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D207D-3263-DA2A-FF2E-404458FE51DA}"/>
              </a:ext>
            </a:extLst>
          </p:cNvPr>
          <p:cNvSpPr txBox="1"/>
          <p:nvPr/>
        </p:nvSpPr>
        <p:spPr>
          <a:xfrm>
            <a:off x="415225" y="2018963"/>
            <a:ext cx="502855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Verdana Pro" panose="020B0604030504040204" pitchFamily="34" charset="0"/>
              </a:rPr>
              <a:t>Inclusion criteria:</a:t>
            </a:r>
            <a:r>
              <a:rPr lang="en-US" baseline="30000" dirty="0">
                <a:latin typeface="Verdana Pro" panose="020B0604030504040204" pitchFamily="34" charset="0"/>
              </a:rPr>
              <a:t>6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 Pro" panose="020B0604030504040204" pitchFamily="34" charset="0"/>
              </a:rPr>
              <a:t>Has a monogenic genotype reported in IEI cases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 Pro" panose="020B0604030504040204" pitchFamily="34" charset="0"/>
              </a:rPr>
              <a:t>Not found in individuals without IEI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 Pro" panose="020B0604030504040204" pitchFamily="34" charset="0"/>
              </a:rPr>
              <a:t>Experimental studies show variant impairs, destroys, or alters expression or function of gene product.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Verdana Pro" panose="020B0604030504040204" pitchFamily="34" charset="0"/>
              </a:rPr>
              <a:t>The causal relationship between the candidate genotype and IEI is confirmed via a relevant cellular phenotype, including where possible rescue of a functional defect.</a:t>
            </a:r>
            <a:endParaRPr lang="en-CA" dirty="0">
              <a:latin typeface="Verdana Pro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D48AD-078D-465D-3398-57A0EC7F34C7}"/>
              </a:ext>
            </a:extLst>
          </p:cNvPr>
          <p:cNvSpPr txBox="1"/>
          <p:nvPr/>
        </p:nvSpPr>
        <p:spPr>
          <a:xfrm>
            <a:off x="415225" y="1007219"/>
            <a:ext cx="6739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2025 gene list from International Union of Immunological Societies Expert Committee </a:t>
            </a:r>
            <a:endParaRPr lang="en-CA" dirty="0">
              <a:latin typeface="Verdana Pro" panose="020B060403050404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AE992A9-2006-184E-93C0-70236479E0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214" y="1653550"/>
            <a:ext cx="6435247" cy="386114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93C869-0E57-0AC7-8720-7FFFD8985D51}"/>
              </a:ext>
            </a:extLst>
          </p:cNvPr>
          <p:cNvCxnSpPr/>
          <p:nvPr/>
        </p:nvCxnSpPr>
        <p:spPr>
          <a:xfrm>
            <a:off x="10662247" y="3597215"/>
            <a:ext cx="0" cy="388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540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49966A-D90E-CB6D-CCF8-33379C0AC943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>
              <a:latin typeface="Verdana Pro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28B15-BC53-1D75-3F8F-C562437223F6}"/>
              </a:ext>
            </a:extLst>
          </p:cNvPr>
          <p:cNvSpPr txBox="1"/>
          <p:nvPr/>
        </p:nvSpPr>
        <p:spPr>
          <a:xfrm>
            <a:off x="527958" y="62217"/>
            <a:ext cx="90168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IUIS-IEI have significantly greater composite score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AB0EA5-0DE6-BE33-07BE-E3ABC870E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12"/>
          <a:stretch>
            <a:fillRect/>
          </a:stretch>
        </p:blipFill>
        <p:spPr>
          <a:xfrm>
            <a:off x="1223410" y="928953"/>
            <a:ext cx="9143932" cy="50083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CFA2B3-991C-6BF4-5E62-F6DBFDDDF23D}"/>
              </a:ext>
            </a:extLst>
          </p:cNvPr>
          <p:cNvSpPr txBox="1"/>
          <p:nvPr/>
        </p:nvSpPr>
        <p:spPr>
          <a:xfrm>
            <a:off x="3496850" y="5937336"/>
            <a:ext cx="45970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erdana Pro" panose="020B0604030504040204" pitchFamily="34" charset="0"/>
              </a:rPr>
              <a:t>Permuted diff in mean composite score (100,000 iterations)</a:t>
            </a:r>
            <a:endParaRPr lang="en-CA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815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5EDC-0665-E7E2-9086-31BE1547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EE7EB9-6111-B105-D72F-68CD72883E4D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>
              <a:latin typeface="Verdana Pro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EEB74C-4BCE-7110-7209-CA9BD1E82135}"/>
              </a:ext>
            </a:extLst>
          </p:cNvPr>
          <p:cNvSpPr txBox="1"/>
          <p:nvPr/>
        </p:nvSpPr>
        <p:spPr>
          <a:xfrm>
            <a:off x="527958" y="62217"/>
            <a:ext cx="90168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ImmPort annotations on &gt;= 0.825 set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4D1C052-910F-B676-F3E1-28310C7A9E0B}"/>
              </a:ext>
            </a:extLst>
          </p:cNvPr>
          <p:cNvGrpSpPr/>
          <p:nvPr/>
        </p:nvGrpSpPr>
        <p:grpSpPr>
          <a:xfrm>
            <a:off x="621102" y="1509623"/>
            <a:ext cx="4071668" cy="4037163"/>
            <a:chOff x="457200" y="1570008"/>
            <a:chExt cx="4071668" cy="403716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3F1735D-EB76-444F-1A6C-8C6CFB6F2D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371" t="5391" r="52868" b="4428"/>
            <a:stretch>
              <a:fillRect/>
            </a:stretch>
          </p:blipFill>
          <p:spPr>
            <a:xfrm>
              <a:off x="457200" y="1570008"/>
              <a:ext cx="4071668" cy="403716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14F3DEA-1231-4BEF-A74A-E08B8A03D02E}"/>
                </a:ext>
              </a:extLst>
            </p:cNvPr>
            <p:cNvSpPr txBox="1"/>
            <p:nvPr/>
          </p:nvSpPr>
          <p:spPr>
            <a:xfrm>
              <a:off x="901460" y="3670539"/>
              <a:ext cx="914400" cy="276999"/>
            </a:xfrm>
            <a:prstGeom prst="rect">
              <a:avLst/>
            </a:prstGeom>
            <a:solidFill>
              <a:srgbClr val="333336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Verdana Pro" panose="020B0604030504040204" pitchFamily="34" charset="0"/>
                </a:rPr>
                <a:t>57.3%</a:t>
              </a:r>
              <a:endParaRPr lang="en-CA" sz="1200" dirty="0">
                <a:solidFill>
                  <a:schemeClr val="bg1"/>
                </a:solidFill>
                <a:latin typeface="Verdana Pro" panose="020B060403050404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4CD489-DBBD-AEFE-9EFE-F3F5783E5F04}"/>
              </a:ext>
            </a:extLst>
          </p:cNvPr>
          <p:cNvGrpSpPr/>
          <p:nvPr/>
        </p:nvGrpSpPr>
        <p:grpSpPr>
          <a:xfrm>
            <a:off x="5350627" y="3411753"/>
            <a:ext cx="4728532" cy="2855343"/>
            <a:chOff x="6668219" y="1992702"/>
            <a:chExt cx="4728532" cy="2855343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A6461EC0-AD35-7CE5-29EB-92C6A71652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8017" t="18399" b="17819"/>
            <a:stretch>
              <a:fillRect/>
            </a:stretch>
          </p:blipFill>
          <p:spPr>
            <a:xfrm>
              <a:off x="6668219" y="1992702"/>
              <a:ext cx="4728532" cy="285534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BB48B9-4792-792E-773D-2B6C192A2174}"/>
                </a:ext>
              </a:extLst>
            </p:cNvPr>
            <p:cNvSpPr txBox="1"/>
            <p:nvPr/>
          </p:nvSpPr>
          <p:spPr>
            <a:xfrm>
              <a:off x="7571116" y="2152289"/>
              <a:ext cx="289847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Verdana Pro" panose="020B0604030504040204" pitchFamily="34" charset="0"/>
                </a:rPr>
                <a:t>ImmPort pathway annotation</a:t>
              </a:r>
              <a:endParaRPr lang="en-CA" sz="1200" dirty="0">
                <a:latin typeface="Verdana Pro" panose="020B060403050404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75E80F6-ADE0-6E16-C2F9-C2702EEBCB69}"/>
              </a:ext>
            </a:extLst>
          </p:cNvPr>
          <p:cNvSpPr txBox="1"/>
          <p:nvPr/>
        </p:nvSpPr>
        <p:spPr>
          <a:xfrm>
            <a:off x="5414512" y="1833923"/>
            <a:ext cx="5515155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Verdana Pro" panose="020B0604030504040204" pitchFamily="34" charset="0"/>
              </a:rPr>
              <a:t>ImmPort annotation set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</a:rPr>
              <a:t>curated from "Immune System" event in Reactome and "Immune System Process" term in GO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Verdana Pro" panose="020B0604030504040204" pitchFamily="34" charset="0"/>
              </a:rPr>
              <a:t>further separated these broad term events until each gene list contains a maximum of 200 genes</a:t>
            </a:r>
          </a:p>
          <a:p>
            <a:pPr>
              <a:spcAft>
                <a:spcPts val="600"/>
              </a:spcAft>
            </a:pP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0804E9-437E-274E-6EF4-98356B558E9D}"/>
              </a:ext>
            </a:extLst>
          </p:cNvPr>
          <p:cNvSpPr txBox="1"/>
          <p:nvPr/>
        </p:nvSpPr>
        <p:spPr>
          <a:xfrm>
            <a:off x="5414512" y="1128402"/>
            <a:ext cx="5515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Verdana Pro" panose="020B0604030504040204" pitchFamily="34" charset="0"/>
              </a:rPr>
              <a:t>N genes: 1,008</a:t>
            </a:r>
            <a:endParaRPr lang="en-CA" dirty="0"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482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2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ECA242-476F-CD63-C2D3-63C2D2E4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46E6E4-646B-2D17-ACF9-CBF07B2773AB}"/>
              </a:ext>
            </a:extLst>
          </p:cNvPr>
          <p:cNvSpPr txBox="1"/>
          <p:nvPr/>
        </p:nvSpPr>
        <p:spPr>
          <a:xfrm>
            <a:off x="679162" y="632668"/>
            <a:ext cx="415487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Conclusions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1FB7BB-1F32-C312-9404-8F1B28C8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18</a:t>
            </a:fld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99718-BBFE-DF8E-81D7-1AA6D24C799B}"/>
              </a:ext>
            </a:extLst>
          </p:cNvPr>
          <p:cNvSpPr txBox="1"/>
          <p:nvPr/>
        </p:nvSpPr>
        <p:spPr>
          <a:xfrm>
            <a:off x="826716" y="1459282"/>
            <a:ext cx="88057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IEI_BISSH pipeline annotates protein pairs with a composite score that encapsulates strength of evidence for structural homology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examples of known homologous proteins as per literature have high composite score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IUIS-IEI genes in pipeline output have significantly greater composite score than background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examples of </a:t>
            </a:r>
            <a:r>
              <a:rPr lang="en-US" i="1" dirty="0">
                <a:solidFill>
                  <a:schemeClr val="bg1"/>
                </a:solidFill>
                <a:latin typeface="Verdana Pro" panose="020B0604030504040204" pitchFamily="34" charset="0"/>
              </a:rPr>
              <a:t>H. sapiens</a:t>
            </a: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 proteins in top-scoring pairs have documented antiviral roles in humans</a:t>
            </a:r>
          </a:p>
          <a:p>
            <a:pPr marL="800100" lvl="1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composite score threshold can be used to compile a gene list for clinical genetics applications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Verdana Pro" panose="020B0604030504040204" pitchFamily="34" charset="0"/>
              </a:rPr>
              <a:t>IEI_BISSH pipeline elucidates human-bacteria protein homology that is not discernible from sequence homology alone</a:t>
            </a:r>
            <a:endParaRPr lang="en-CA" dirty="0">
              <a:solidFill>
                <a:schemeClr val="bg1"/>
              </a:solidFill>
              <a:latin typeface="Verdana Pro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28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93E5-75F6-A9EF-165C-C604EB8D1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D87839-3232-A416-44A9-3F05C0710E39}"/>
              </a:ext>
            </a:extLst>
          </p:cNvPr>
          <p:cNvSpPr/>
          <p:nvPr/>
        </p:nvSpPr>
        <p:spPr>
          <a:xfrm>
            <a:off x="315257" y="-593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>
              <a:latin typeface="Verdana Pro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AC1E3-465B-AB90-ACA6-89F7CE290AA7}"/>
              </a:ext>
            </a:extLst>
          </p:cNvPr>
          <p:cNvSpPr txBox="1"/>
          <p:nvPr/>
        </p:nvSpPr>
        <p:spPr>
          <a:xfrm>
            <a:off x="527958" y="62217"/>
            <a:ext cx="90168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ImmPort annotations enrichment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E1901B-717A-335E-DADF-03D459249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183921"/>
                  </p:ext>
                </p:extLst>
              </p:nvPr>
            </p:nvGraphicFramePr>
            <p:xfrm>
              <a:off x="8872747" y="2524400"/>
              <a:ext cx="2841925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4019">
                      <a:extLst>
                        <a:ext uri="{9D8B030D-6E8A-4147-A177-3AD203B41FA5}">
                          <a16:colId xmlns:a16="http://schemas.microsoft.com/office/drawing/2014/main" val="2524751995"/>
                        </a:ext>
                      </a:extLst>
                    </a:gridCol>
                    <a:gridCol w="1707906">
                      <a:extLst>
                        <a:ext uri="{9D8B030D-6E8A-4147-A177-3AD203B41FA5}">
                          <a16:colId xmlns:a16="http://schemas.microsoft.com/office/drawing/2014/main" val="389526293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Set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Proportion with ImmPort ann.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927844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&gt;=</m:t>
                              </m:r>
                            </m:oMath>
                          </a14:m>
                          <a:r>
                            <a:rPr lang="en-CA" sz="1200" dirty="0">
                              <a:latin typeface="Verdana Pro" panose="020B0604030504040204" pitchFamily="34" charset="0"/>
                            </a:rPr>
                            <a:t>0.825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0.237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3026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Background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0.202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66094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E1901B-717A-335E-DADF-03D4592499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183921"/>
                  </p:ext>
                </p:extLst>
              </p:nvPr>
            </p:nvGraphicFramePr>
            <p:xfrm>
              <a:off x="8872747" y="2524400"/>
              <a:ext cx="2841925" cy="10058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4019">
                      <a:extLst>
                        <a:ext uri="{9D8B030D-6E8A-4147-A177-3AD203B41FA5}">
                          <a16:colId xmlns:a16="http://schemas.microsoft.com/office/drawing/2014/main" val="2524751995"/>
                        </a:ext>
                      </a:extLst>
                    </a:gridCol>
                    <a:gridCol w="1707906">
                      <a:extLst>
                        <a:ext uri="{9D8B030D-6E8A-4147-A177-3AD203B41FA5}">
                          <a16:colId xmlns:a16="http://schemas.microsoft.com/office/drawing/2014/main" val="389526293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Set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Proportion with ImmPort ann.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927844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38" t="-165217" r="-152151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0.237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30262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Background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>
                              <a:latin typeface="Verdana Pro" panose="020B0604030504040204" pitchFamily="34" charset="0"/>
                            </a:rPr>
                            <a:t>0.202</a:t>
                          </a:r>
                          <a:endParaRPr lang="en-CA" sz="1200" dirty="0">
                            <a:latin typeface="Verdana Pro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660945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Graphic 11">
            <a:extLst>
              <a:ext uri="{FF2B5EF4-FFF2-40B4-BE49-F238E27FC236}">
                <a16:creationId xmlns:a16="http://schemas.microsoft.com/office/drawing/2014/main" id="{5A4543C6-581B-8FB6-4C97-52D366C2C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257" y="1150448"/>
            <a:ext cx="8419907" cy="505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84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F993-7558-8DD9-8875-BE65655F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9875721-348E-DD05-25AB-E649F816AC90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2CEC08-BD14-4E67-D412-32101C458AE1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Acknowledgements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08597-320D-3D8D-4678-1F20F3CD6887}"/>
              </a:ext>
            </a:extLst>
          </p:cNvPr>
          <p:cNvSpPr txBox="1"/>
          <p:nvPr/>
        </p:nvSpPr>
        <p:spPr>
          <a:xfrm>
            <a:off x="527958" y="1146628"/>
            <a:ext cx="9363581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Vinicius Furlan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Anjali Jain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Andy Wang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Matthew Uchmanowicz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Dr. Chantel Trost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Dr. Christian Marshall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Dr. Stephen Scherer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Georgia Pro" panose="02040502050405020303" pitchFamily="18" charset="0"/>
              </a:rPr>
              <a:t>Centre for Computational Medicine</a:t>
            </a:r>
            <a:endParaRPr lang="en-CA" dirty="0">
              <a:latin typeface="Georgia Pro" panose="02040502050405020303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541BCD-C37C-9A51-8EA7-F038561C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9556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BC46-7673-C84B-18B4-63539AA9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A48913-4EF7-7226-450E-EB863B768EE5}"/>
              </a:ext>
            </a:extLst>
          </p:cNvPr>
          <p:cNvSpPr/>
          <p:nvPr/>
        </p:nvSpPr>
        <p:spPr>
          <a:xfrm>
            <a:off x="315257" y="8582"/>
            <a:ext cx="9363581" cy="628742"/>
          </a:xfrm>
          <a:prstGeom prst="roundRect">
            <a:avLst/>
          </a:prstGeom>
          <a:solidFill>
            <a:srgbClr val="0162B3"/>
          </a:solidFill>
          <a:ln>
            <a:solidFill>
              <a:srgbClr val="0162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A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09E84-A853-2CE4-2353-6F32C167F0F1}"/>
              </a:ext>
            </a:extLst>
          </p:cNvPr>
          <p:cNvSpPr txBox="1"/>
          <p:nvPr/>
        </p:nvSpPr>
        <p:spPr>
          <a:xfrm>
            <a:off x="527959" y="76731"/>
            <a:ext cx="871093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Georgia Pro" panose="02040502050405020303" pitchFamily="18" charset="0"/>
              </a:rPr>
              <a:t>References</a:t>
            </a:r>
            <a:endParaRPr lang="en-CA" sz="2600" b="1" dirty="0">
              <a:solidFill>
                <a:schemeClr val="bg1"/>
              </a:solidFill>
              <a:latin typeface="Georgia Pro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55B33F-2E1A-FAA4-32B8-ADE7D02D78D0}"/>
              </a:ext>
            </a:extLst>
          </p:cNvPr>
          <p:cNvSpPr txBox="1"/>
          <p:nvPr/>
        </p:nvSpPr>
        <p:spPr>
          <a:xfrm>
            <a:off x="527958" y="1146628"/>
            <a:ext cx="936358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CA" sz="1400" dirty="0">
                <a:latin typeface="Verdana Pro" panose="020B0604030504040204" pitchFamily="34" charset="0"/>
              </a:rPr>
              <a:t>Schaefer M, et al. RNA methylation by Dnmt2 protects transfer RNAs against stress-induced cleavage. Genes Dev. 2010;24:1590–1595. DOI: 10.1101/gad.586710.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CA" sz="1400" dirty="0">
                <a:latin typeface="Verdana Pro" panose="020B0604030504040204" pitchFamily="34" charset="0"/>
              </a:rPr>
              <a:t>Dev RR, et al. Cytosine methylation by DNMT2 facilitates stability and survival of HIV-1 RNA in the host cell during infection. Biochem J. 2017;474:2009–2026. DOI: 10.1042/BCJ20170258.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CA" sz="1400" dirty="0">
                <a:latin typeface="Verdana Pro" panose="020B0604030504040204" pitchFamily="34" charset="0"/>
              </a:rPr>
              <a:t>Dong A, et al. Structure of human DNMT2, an enigmatic DNA methyltransferase homolog that displays denaturant-resistant binding to DNA. Nucleic Acids Res. 2001;29:439–448.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CA" sz="1400" dirty="0">
                <a:latin typeface="Verdana Pro" panose="020B0604030504040204" pitchFamily="34" charset="0"/>
              </a:rPr>
              <a:t>Flodman K, et al. In vitro Type II Restriction of Bacteriophage DNA With Modified Pyrimidines. Front Microbiol. 2020;11:604618. DOI: 10.3389/fmicb.2020.604618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CA" sz="1400" dirty="0">
                <a:latin typeface="Verdana Pro" panose="020B0604030504040204" pitchFamily="34" charset="0"/>
              </a:rPr>
              <a:t>Chen Z, et al. DDX20 positively regulates the interferon pathway to inhibit viral infection. Antiviral Res. 2024;225:105875. DOI: 10.1016/j.antiviral.2024.105875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400" dirty="0">
                <a:latin typeface="Verdana Pro" panose="020B0604030504040204" pitchFamily="34" charset="0"/>
              </a:rPr>
              <a:t>Poli MC, et al. Human inborn errors of immunity: 2024 update on the classification from the International Union of Immunological Societies Expert Committee. J Hum Immun. 2025;1:e20250003. DOI: 10.70962/jhi.20250003.</a:t>
            </a:r>
            <a:endParaRPr lang="en-CA" sz="1400" dirty="0">
              <a:latin typeface="Verdana Pro" panose="020B060403050404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718C97-AE4F-2A1A-11B0-A312FAC0F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FA860-28F0-477C-BD76-C96AC22CF614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408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6589</TotalTime>
  <Words>1132</Words>
  <Application>Microsoft Office PowerPoint</Application>
  <PresentationFormat>Widescreen</PresentationFormat>
  <Paragraphs>224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Courier New</vt:lpstr>
      <vt:lpstr>Georgia Pro</vt:lpstr>
      <vt:lpstr>Lucida Console</vt:lpstr>
      <vt:lpstr>Verdana 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Moran</dc:creator>
  <cp:lastModifiedBy>Julian Moran</cp:lastModifiedBy>
  <cp:revision>281</cp:revision>
  <dcterms:created xsi:type="dcterms:W3CDTF">2026-04-01T17:28:23Z</dcterms:created>
  <dcterms:modified xsi:type="dcterms:W3CDTF">2026-09-03T21:15:54Z</dcterms:modified>
</cp:coreProperties>
</file>