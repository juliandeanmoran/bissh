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2" r:id="rId18"/>
    <p:sldId id="300" r:id="rId19"/>
    <p:sldId id="303" r:id="rId20"/>
    <p:sldId id="301" r:id="rId21"/>
    <p:sldId id="29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6"/>
    <a:srgbClr val="0162B3"/>
    <a:srgbClr val="4A27F9"/>
    <a:srgbClr val="181A1B"/>
    <a:srgbClr val="1B1E1F"/>
    <a:srgbClr val="F8F9FA"/>
    <a:srgbClr val="DC445D"/>
    <a:srgbClr val="1A926E"/>
    <a:srgbClr val="EEEEE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642" autoAdjust="0"/>
  </p:normalViewPr>
  <p:slideViewPr>
    <p:cSldViewPr snapToGrid="0">
      <p:cViewPr varScale="1">
        <p:scale>
          <a:sx n="74" d="100"/>
          <a:sy n="74" d="100"/>
        </p:scale>
        <p:origin x="196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2026-09-03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2026-09-03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2026-09-03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217063"/>
            <a:ext cx="2851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FoldSeek 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DefenseFinder protein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 </a:t>
              </a:r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(Q6ICS7)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  <a:p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(E4ZAF3)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DNMT2: C5 methyltransferase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DDX20: HelY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(A0A7P0TB94)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(A0A509EDC2)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DDX20: HelY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BLASTp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Has a monogenic genotype reported in IEI cases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Not found in individuals without IEI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IEI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3C869-0E57-0AC7-8720-7FFFD8985D51}"/>
              </a:ext>
            </a:extLst>
          </p:cNvPr>
          <p:cNvCxnSpPr/>
          <p:nvPr/>
        </p:nvCxnSpPr>
        <p:spPr>
          <a:xfrm>
            <a:off x="10662247" y="3597215"/>
            <a:ext cx="0" cy="3881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B5EDC-0665-E7E2-9086-31BE1547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aphic 24">
            <a:extLst>
              <a:ext uri="{FF2B5EF4-FFF2-40B4-BE49-F238E27FC236}">
                <a16:creationId xmlns:a16="http://schemas.microsoft.com/office/drawing/2014/main" id="{FD4E93F6-70AC-CCE9-4AE2-19946633EC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2689" t="25061" b="25061"/>
          <a:stretch>
            <a:fillRect/>
          </a:stretch>
        </p:blipFill>
        <p:spPr>
          <a:xfrm>
            <a:off x="5169745" y="3157268"/>
            <a:ext cx="5404284" cy="257233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EE7EB9-6111-B105-D72F-68CD72883E4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EB74C-4BCE-7110-7209-CA9BD1E82135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on &gt;= 0.825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5E80F6-ADE0-6E16-C2F9-C2702EEBCB69}"/>
              </a:ext>
            </a:extLst>
          </p:cNvPr>
          <p:cNvSpPr txBox="1"/>
          <p:nvPr/>
        </p:nvSpPr>
        <p:spPr>
          <a:xfrm>
            <a:off x="5414512" y="1833923"/>
            <a:ext cx="5515155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ImmPort annotation set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curated from "Immune System" event in Reactome and "Immune System Process" term in GO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further separated these broad term events until each gene list contains a maximum of 200 genes</a:t>
            </a:r>
          </a:p>
          <a:p>
            <a:pPr>
              <a:spcAft>
                <a:spcPts val="600"/>
              </a:spcAft>
            </a:pP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0804E9-437E-274E-6EF4-98356B558E9D}"/>
              </a:ext>
            </a:extLst>
          </p:cNvPr>
          <p:cNvSpPr txBox="1"/>
          <p:nvPr/>
        </p:nvSpPr>
        <p:spPr>
          <a:xfrm>
            <a:off x="6386523" y="3405185"/>
            <a:ext cx="2823715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ImmPort annotations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3B6632D-DEE0-D6EA-4CF6-F8D4CEB272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396" r="52523"/>
          <a:stretch>
            <a:fillRect/>
          </a:stretch>
        </p:blipFill>
        <p:spPr>
          <a:xfrm>
            <a:off x="232913" y="1833923"/>
            <a:ext cx="4945217" cy="399453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B93D7BA-4807-592D-5790-DE7FFED54BF2}"/>
              </a:ext>
            </a:extLst>
          </p:cNvPr>
          <p:cNvSpPr txBox="1"/>
          <p:nvPr/>
        </p:nvSpPr>
        <p:spPr>
          <a:xfrm>
            <a:off x="5414511" y="1294474"/>
            <a:ext cx="5515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N genes: 1,008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48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18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93E5-75F6-A9EF-165C-C604EB8D1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D87839-3232-A416-44A9-3F05C0710E3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C1E3-465B-AB90-ACA6-89F7CE290AA7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enrichment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619930"/>
                  </p:ext>
                </p:extLst>
              </p:nvPr>
            </p:nvGraphicFramePr>
            <p:xfrm>
              <a:off x="8539372" y="2076725"/>
              <a:ext cx="3537251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28503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080942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  <a:gridCol w="1327806">
                      <a:extLst>
                        <a:ext uri="{9D8B030D-6E8A-4147-A177-3AD203B41FA5}">
                          <a16:colId xmlns:a16="http://schemas.microsoft.com/office/drawing/2014/main" val="1685863581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Size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&gt;=</m:t>
                              </m:r>
                            </m:oMath>
                          </a14:m>
                          <a:r>
                            <a:rPr lang="en-CA" sz="1200" dirty="0">
                              <a:latin typeface="Verdana Pro" panose="020B0604030504040204" pitchFamily="34" charset="0"/>
                            </a:rPr>
                            <a:t>0.825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1,008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0.175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3,660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58E1901B-717A-335E-DADF-03D4592499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619930"/>
                  </p:ext>
                </p:extLst>
              </p:nvPr>
            </p:nvGraphicFramePr>
            <p:xfrm>
              <a:off x="8539372" y="2076725"/>
              <a:ext cx="3537251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28503">
                      <a:extLst>
                        <a:ext uri="{9D8B030D-6E8A-4147-A177-3AD203B41FA5}">
                          <a16:colId xmlns:a16="http://schemas.microsoft.com/office/drawing/2014/main" val="2524751995"/>
                        </a:ext>
                      </a:extLst>
                    </a:gridCol>
                    <a:gridCol w="1080942">
                      <a:extLst>
                        <a:ext uri="{9D8B030D-6E8A-4147-A177-3AD203B41FA5}">
                          <a16:colId xmlns:a16="http://schemas.microsoft.com/office/drawing/2014/main" val="3895262931"/>
                        </a:ext>
                      </a:extLst>
                    </a:gridCol>
                    <a:gridCol w="1327806">
                      <a:extLst>
                        <a:ext uri="{9D8B030D-6E8A-4147-A177-3AD203B41FA5}">
                          <a16:colId xmlns:a16="http://schemas.microsoft.com/office/drawing/2014/main" val="1685863581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Set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Proportion with ImmPort ann.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Size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8927844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38" t="-304444" r="-213978" b="-1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0.177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1,008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930262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Background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0.175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>
                              <a:latin typeface="Verdana Pro" panose="020B0604030504040204" pitchFamily="34" charset="0"/>
                            </a:rPr>
                            <a:t>3,660</a:t>
                          </a:r>
                          <a:endParaRPr lang="en-CA" sz="1200" dirty="0">
                            <a:latin typeface="Verdana Pro" panose="020B060403050404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8660945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4" name="Graphic 13">
            <a:extLst>
              <a:ext uri="{FF2B5EF4-FFF2-40B4-BE49-F238E27FC236}">
                <a16:creationId xmlns:a16="http://schemas.microsoft.com/office/drawing/2014/main" id="{8EBCCE77-B5E6-8268-BEFE-1896FA40D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378" y="1038500"/>
            <a:ext cx="830580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844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Matthew Uchmanowicz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Stephen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7875</TotalTime>
  <Words>1127</Words>
  <Application>Microsoft Office PowerPoint</Application>
  <PresentationFormat>Widescreen</PresentationFormat>
  <Paragraphs>226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286</cp:revision>
  <dcterms:created xsi:type="dcterms:W3CDTF">2026-04-01T17:28:23Z</dcterms:created>
  <dcterms:modified xsi:type="dcterms:W3CDTF">2026-09-04T18:41:55Z</dcterms:modified>
</cp:coreProperties>
</file>