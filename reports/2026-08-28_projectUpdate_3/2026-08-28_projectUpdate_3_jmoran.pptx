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7" r:id="rId15"/>
    <p:sldId id="29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1A1B"/>
    <a:srgbClr val="1B1E1F"/>
    <a:srgbClr val="F8F9FA"/>
    <a:srgbClr val="DC445D"/>
    <a:srgbClr val="4A27F9"/>
    <a:srgbClr val="0162B3"/>
    <a:srgbClr val="1A926E"/>
    <a:srgbClr val="EEEEEE"/>
    <a:srgbClr val="0000FF"/>
    <a:srgbClr val="000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613" autoAdjust="0"/>
  </p:normalViewPr>
  <p:slideViewPr>
    <p:cSldViewPr snapToGrid="0">
      <p:cViewPr varScale="1">
        <p:scale>
          <a:sx n="77" d="100"/>
          <a:sy n="77" d="100"/>
        </p:scale>
        <p:origin x="18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E4ZAF3 species</a:t>
            </a:r>
            <a:r>
              <a:rPr lang="en-US" dirty="0"/>
              <a:t>:  N. </a:t>
            </a:r>
            <a:r>
              <a:rPr lang="en-US" dirty="0" err="1"/>
              <a:t>lactamica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561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HelY species: </a:t>
            </a:r>
            <a:r>
              <a:rPr lang="en-US" dirty="0" err="1"/>
              <a:t>Methylobacterium</a:t>
            </a:r>
            <a:r>
              <a:rPr lang="en-US" dirty="0"/>
              <a:t> </a:t>
            </a:r>
            <a:r>
              <a:rPr lang="en-US" dirty="0" err="1"/>
              <a:t>symbioticum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40864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run </a:t>
            </a:r>
            <a:r>
              <a:rPr lang="en-US" dirty="0" err="1"/>
              <a:t>BLASTp</a:t>
            </a:r>
            <a:r>
              <a:rPr lang="en-US" dirty="0"/>
              <a:t> of the HelY sequence, DDX20 is not a hit.</a:t>
            </a:r>
          </a:p>
          <a:p>
            <a:r>
              <a:rPr lang="en-US" dirty="0"/>
              <a:t>If I run </a:t>
            </a:r>
            <a:r>
              <a:rPr lang="en-US" dirty="0" err="1"/>
              <a:t>psiBLAST</a:t>
            </a:r>
            <a:r>
              <a:rPr lang="en-US" dirty="0"/>
              <a:t> of the HelY sequence,  DDX20 is not a hit.</a:t>
            </a:r>
          </a:p>
          <a:p>
            <a:r>
              <a:rPr lang="en-US" dirty="0"/>
              <a:t>There is no literature evidence that I could find indicating that DDX20 and the HelY have either sequence of structural homology.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04124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96BCAD-5AA8-ED57-A337-0FC563367AAA}"/>
              </a:ext>
            </a:extLst>
          </p:cNvPr>
          <p:cNvSpPr txBox="1"/>
          <p:nvPr/>
        </p:nvSpPr>
        <p:spPr>
          <a:xfrm>
            <a:off x="6644626" y="2527277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PyMol super can achieve good alignment when TM-align cannot </a:t>
            </a:r>
          </a:p>
          <a:p>
            <a:r>
              <a:rPr lang="en-US" dirty="0">
                <a:latin typeface="Georgia Pro" panose="02040502050405020303" pitchFamily="18" charset="0"/>
              </a:rPr>
              <a:t>(see top-left quadrant vs. bottom-right).</a:t>
            </a:r>
          </a:p>
          <a:p>
            <a:endParaRPr lang="en-US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Pipeline schematic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protein in DefenseFinder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Q6ICS7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E4ZAF3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Q6IC7-E4ZAF3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A0A7P0TB94-A0A509EDC2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A0A7P0TB94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A0A509EDC2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Helicase HelY (SngC?)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Shango helicase activates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8CCD6-A90A-63F9-3A82-A75084EA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69BB3-3796-09BD-E00C-B2AE5BA4F0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647" b="-1"/>
          <a:stretch>
            <a:fillRect/>
          </a:stretch>
        </p:blipFill>
        <p:spPr>
          <a:xfrm>
            <a:off x="0" y="3701600"/>
            <a:ext cx="12192000" cy="31426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34E845-2754-4E53-933A-BDCBDC3953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777426"/>
            <a:ext cx="12192000" cy="2924175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0698A4-C1AD-54BB-6545-50BC20230B0D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8C51B-8CAE-C2EF-317E-D4F3B4608B94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A0A7P0TB94(DDX20)-A0A509EDC2(HelY)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89AF6-E05D-96E1-196D-AD16F28D1BF2}"/>
              </a:ext>
            </a:extLst>
          </p:cNvPr>
          <p:cNvSpPr txBox="1"/>
          <p:nvPr/>
        </p:nvSpPr>
        <p:spPr>
          <a:xfrm>
            <a:off x="2735970" y="5775836"/>
            <a:ext cx="84400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identity: 24.3%			</a:t>
            </a:r>
            <a:r>
              <a:rPr lang="en-US" dirty="0" err="1">
                <a:solidFill>
                  <a:schemeClr val="bg1"/>
                </a:solidFill>
                <a:latin typeface="Verdana Pro" panose="020B0604030504040204" pitchFamily="34" charset="0"/>
              </a:rPr>
              <a:t>BLASTp</a:t>
            </a:r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 score: 29.6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Sequence alignment coverage: 24%</a:t>
            </a:r>
          </a:p>
          <a:p>
            <a:r>
              <a:rPr lang="en-CA" dirty="0" err="1">
                <a:solidFill>
                  <a:schemeClr val="bg1"/>
                </a:solidFill>
                <a:latin typeface="Verdana Pro" panose="020B0604030504040204" pitchFamily="34" charset="0"/>
              </a:rPr>
              <a:t>BLASTp</a:t>
            </a:r>
            <a:r>
              <a:rPr lang="en-CA" dirty="0">
                <a:solidFill>
                  <a:schemeClr val="bg1"/>
                </a:solidFill>
                <a:latin typeface="Verdana Pro" panose="020B0604030504040204" pitchFamily="34" charset="0"/>
              </a:rPr>
              <a:t> e-value: 2e-4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E6E66E-9D79-38CB-AC25-F25BE4A5579E}"/>
              </a:ext>
            </a:extLst>
          </p:cNvPr>
          <p:cNvSpPr txBox="1"/>
          <p:nvPr/>
        </p:nvSpPr>
        <p:spPr>
          <a:xfrm>
            <a:off x="223235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27A09-8966-EDAF-D4B5-C06CA8653D37}"/>
              </a:ext>
            </a:extLst>
          </p:cNvPr>
          <p:cNvSpPr txBox="1"/>
          <p:nvPr/>
        </p:nvSpPr>
        <p:spPr>
          <a:xfrm>
            <a:off x="8952418" y="1037779"/>
            <a:ext cx="100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HelY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2953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5229</TotalTime>
  <Words>825</Words>
  <Application>Microsoft Office PowerPoint</Application>
  <PresentationFormat>Widescreen</PresentationFormat>
  <Paragraphs>175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235</cp:revision>
  <dcterms:created xsi:type="dcterms:W3CDTF">2026-04-01T17:28:23Z</dcterms:created>
  <dcterms:modified xsi:type="dcterms:W3CDTF">2026-08-27T19:48:23Z</dcterms:modified>
</cp:coreProperties>
</file>