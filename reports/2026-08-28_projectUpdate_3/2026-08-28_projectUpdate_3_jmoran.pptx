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6" r:id="rId3"/>
    <p:sldId id="269" r:id="rId4"/>
    <p:sldId id="257" r:id="rId5"/>
    <p:sldId id="286" r:id="rId6"/>
    <p:sldId id="287" r:id="rId7"/>
    <p:sldId id="28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2B3"/>
    <a:srgbClr val="1A926E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63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5F3F-76AB-0354-CA7C-9628886BA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8F906-9532-7048-34CE-BD7EACCCF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A2E69-9B93-34F9-362D-13C70A163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CE342-7832-5A30-0C3E-5879D380B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4726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BD46-A852-83BD-0DE7-6BBA1991F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B405E-D449-2FC1-FD38-066244525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8563D2-F3B9-D0B3-A97A-FD0888FD5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95A25-DAD5-3C59-76BD-35850174D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8320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2026-08-25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3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2026-08-28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033157"/>
            <a:ext cx="9272016" cy="2477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Run pipeline on all bacterial defense systems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incurs prioritization problem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therefore design composite score for protein pair prioritization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Yield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Aims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PyMOL-super and FoldSeek e-values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35441" y="189718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155438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48A122-3A77-CAF5-E908-9C6A8064B934}"/>
              </a:ext>
            </a:extLst>
          </p:cNvPr>
          <p:cNvSpPr txBox="1"/>
          <p:nvPr/>
        </p:nvSpPr>
        <p:spPr>
          <a:xfrm>
            <a:off x="7035441" y="3638962"/>
            <a:ext cx="44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Conversely, PyMOL alignments can be good but insignificant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CDD5B3-55A8-870C-9077-613C0DB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884B9A-BA8F-74F6-84EA-58DC2F7DED5A}"/>
              </a:ext>
            </a:extLst>
          </p:cNvPr>
          <p:cNvSpPr txBox="1"/>
          <p:nvPr/>
        </p:nvSpPr>
        <p:spPr>
          <a:xfrm>
            <a:off x="7042384" y="4503211"/>
            <a:ext cx="415487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</a:t>
            </a:r>
          </a:p>
        </p:txBody>
      </p:sp>
    </p:spTree>
    <p:extLst>
      <p:ext uri="{BB962C8B-B14F-4D97-AF65-F5344CB8AC3E}">
        <p14:creationId xmlns:p14="http://schemas.microsoft.com/office/powerpoint/2010/main" val="353607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6A85D-26CD-069B-AAFD-6258D37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8024B9-E03B-B5B3-A003-A8B6B8A05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6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8210B37-EC49-7B10-214E-1549DEFEB3C3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DA659-010C-17FB-BE6D-EBC2AE29CF9A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FoldSeek e-value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18054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_</m:t>
                                        </m:r>
                                        <m:r>
                                          <a:rPr lang="en-US" sz="1400" b="0" i="1" smtClean="0">
                                            <a:latin typeface="Cambria Math" panose="02040503050406030204" pitchFamily="18" charset="0"/>
                                          </a:rPr>
                                          <m:t>𝑣𝑎𝑙𝑢𝑒</m:t>
                                        </m:r>
                                      </m:e>
                                    </m:d>
                                  </m:e>
                                </m:func>
                              </m:oMath>
                            </m:oMathPara>
                          </a14:m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180542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DB10604-1415-D8DC-3E0A-FB7A8B02A1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45891"/>
                  </p:ext>
                </p:extLst>
              </p:nvPr>
            </p:nvGraphicFramePr>
            <p:xfrm>
              <a:off x="1190445" y="1261081"/>
              <a:ext cx="2960626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480313">
                      <a:extLst>
                        <a:ext uri="{9D8B030D-6E8A-4147-A177-3AD203B41FA5}">
                          <a16:colId xmlns:a16="http://schemas.microsoft.com/office/drawing/2014/main" val="1869778181"/>
                        </a:ext>
                      </a:extLst>
                    </a:gridCol>
                    <a:gridCol w="1480313">
                      <a:extLst>
                        <a:ext uri="{9D8B030D-6E8A-4147-A177-3AD203B41FA5}">
                          <a16:colId xmlns:a16="http://schemas.microsoft.com/office/drawing/2014/main" val="270051383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45720">
                        <a:blipFill>
                          <a:blip r:embed="rId3"/>
                          <a:stretch>
                            <a:fillRect l="-412" t="-2000" r="-101235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Score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220286122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0.00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40313728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0.4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0.10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42469089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6.0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0.70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3156004181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10.0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8046265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15.0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latin typeface="Verdana Pro" panose="020B0604030504040204" pitchFamily="34" charset="0"/>
                            </a:rPr>
                            <a:t>0.99</a:t>
                          </a:r>
                          <a:endParaRPr lang="en-CA" sz="1400" dirty="0">
                            <a:latin typeface="Verdana Pro" panose="020B0604030504040204" pitchFamily="34" charset="0"/>
                          </a:endParaRPr>
                        </a:p>
                      </a:txBody>
                      <a:tcPr marL="45720" marR="45720"/>
                    </a:tc>
                    <a:extLst>
                      <a:ext uri="{0D108BD9-81ED-4DB2-BD59-A6C34878D82A}">
                        <a16:rowId xmlns:a16="http://schemas.microsoft.com/office/drawing/2014/main" val="10307968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B2BEAC5-D45D-56F2-727E-2D5992767AF5}"/>
              </a:ext>
            </a:extLst>
          </p:cNvPr>
          <p:cNvGrpSpPr/>
          <p:nvPr/>
        </p:nvGrpSpPr>
        <p:grpSpPr>
          <a:xfrm>
            <a:off x="558736" y="3301586"/>
            <a:ext cx="3695668" cy="2953751"/>
            <a:chOff x="374070" y="3300621"/>
            <a:chExt cx="3695668" cy="295375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15449BC-DD85-3BE0-7B8C-0B354D8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2" t="8432" r="7031" b="3714"/>
            <a:stretch>
              <a:fillRect/>
            </a:stretch>
          </p:blipFill>
          <p:spPr>
            <a:xfrm>
              <a:off x="762801" y="3429000"/>
              <a:ext cx="3306937" cy="2508969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/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_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𝑣𝑎𝑙𝑢𝑒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en-CA" sz="1400" dirty="0">
                    <a:latin typeface="Verdana Pro" panose="020B0604030504040204" pitchFamily="34" charset="0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511F9B6-4A3A-EE5C-C82E-65BF9A010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686" y="5946595"/>
                  <a:ext cx="2406770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2D70E0-5AED-1F5F-1BFD-A91F3DBB6AC6}"/>
                </a:ext>
              </a:extLst>
            </p:cNvPr>
            <p:cNvSpPr txBox="1"/>
            <p:nvPr/>
          </p:nvSpPr>
          <p:spPr>
            <a:xfrm rot="16200000">
              <a:off x="-675426" y="4350117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Score</a:t>
              </a:r>
              <a:endParaRPr lang="en-CA" sz="1400" dirty="0">
                <a:latin typeface="Verdana Pro" panose="020B0604030504040204" pitchFamily="34" charset="0"/>
              </a:endParaRPr>
            </a:p>
          </p:txBody>
        </p:sp>
      </p:grpSp>
      <p:pic>
        <p:nvPicPr>
          <p:cNvPr id="15" name="Graphic 14">
            <a:extLst>
              <a:ext uri="{FF2B5EF4-FFF2-40B4-BE49-F238E27FC236}">
                <a16:creationId xmlns:a16="http://schemas.microsoft.com/office/drawing/2014/main" id="{85159B43-7FAA-3050-20C1-2BD0740C6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777" t="9000" r="7469" b="5168"/>
          <a:stretch>
            <a:fillRect/>
          </a:stretch>
        </p:blipFill>
        <p:spPr>
          <a:xfrm>
            <a:off x="4859026" y="1041918"/>
            <a:ext cx="6850844" cy="50310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56E8C2-A92D-9CF7-5929-4D33C5FAA0A5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Score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/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𝑣𝑎𝑙𝑢𝑒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CA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F962D13-3D6D-86D5-2CFA-9FCF9A928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7215" y="5987018"/>
                <a:ext cx="2406770" cy="369332"/>
              </a:xfrm>
              <a:prstGeom prst="rect">
                <a:avLst/>
              </a:prstGeom>
              <a:blipFill>
                <a:blip r:embed="rId7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4.7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1.03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CA" dirty="0"/>
                  <a:t>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36C8DD-1C3C-806D-F870-DD8422DDA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1781834" cy="4360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730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DDCF-9877-BB0E-77F5-0E4B2A6B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phic 22">
            <a:extLst>
              <a:ext uri="{FF2B5EF4-FFF2-40B4-BE49-F238E27FC236}">
                <a16:creationId xmlns:a16="http://schemas.microsoft.com/office/drawing/2014/main" id="{967A8068-B353-1CDC-3C7C-DFC8F8FDF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41" t="9629" r="8503" b="4913"/>
          <a:stretch>
            <a:fillRect/>
          </a:stretch>
        </p:blipFill>
        <p:spPr>
          <a:xfrm>
            <a:off x="4793645" y="1139403"/>
            <a:ext cx="6655041" cy="5008551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959D6C-186E-FB87-6875-039B8DFC3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2B14E4-856D-402A-DFFD-8A5A8E43FDB7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F4D52-2E6A-8BEB-1540-5BF836ADC76F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Composite score: PyMOL RMSD term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961428E-01B6-1C03-00A6-2B882249C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173442"/>
              </p:ext>
            </p:extLst>
          </p:nvPr>
        </p:nvGraphicFramePr>
        <p:xfrm>
          <a:off x="1190445" y="1261081"/>
          <a:ext cx="2960626" cy="2133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5283">
                  <a:extLst>
                    <a:ext uri="{9D8B030D-6E8A-4147-A177-3AD203B41FA5}">
                      <a16:colId xmlns:a16="http://schemas.microsoft.com/office/drawing/2014/main" val="1869778181"/>
                    </a:ext>
                  </a:extLst>
                </a:gridCol>
                <a:gridCol w="1235343">
                  <a:extLst>
                    <a:ext uri="{9D8B030D-6E8A-4147-A177-3AD203B41FA5}">
                      <a16:colId xmlns:a16="http://schemas.microsoft.com/office/drawing/2014/main" val="2700513838"/>
                    </a:ext>
                  </a:extLst>
                </a:gridCol>
              </a:tblGrid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PyMOL RMSD (Å)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Verdana Pro" panose="020B0604030504040204" pitchFamily="34" charset="0"/>
                        </a:rPr>
                        <a:t>Score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220286122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031372816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0.99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42469089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2.9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0.85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3156004181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4.0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0.70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804626572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5.0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0.50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030796854"/>
                  </a:ext>
                </a:extLst>
              </a:tr>
              <a:tr h="180542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10.0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Verdana Pro" panose="020B0604030504040204" pitchFamily="34" charset="0"/>
                        </a:rPr>
                        <a:t>0.10</a:t>
                      </a:r>
                      <a:endParaRPr lang="en-CA" sz="1400" dirty="0">
                        <a:latin typeface="Verdana Pro" panose="020B0604030504040204" pitchFamily="34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430053759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36B914A4-20DD-0D31-9993-BBB41C5593B5}"/>
              </a:ext>
            </a:extLst>
          </p:cNvPr>
          <p:cNvGrpSpPr/>
          <p:nvPr/>
        </p:nvGrpSpPr>
        <p:grpSpPr>
          <a:xfrm>
            <a:off x="527959" y="3301586"/>
            <a:ext cx="3337558" cy="3001835"/>
            <a:chOff x="343293" y="3300621"/>
            <a:chExt cx="3337558" cy="300183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D282AF-44C7-0962-2088-56007AE8F1E1}"/>
                </a:ext>
              </a:extLst>
            </p:cNvPr>
            <p:cNvSpPr txBox="1"/>
            <p:nvPr/>
          </p:nvSpPr>
          <p:spPr>
            <a:xfrm>
              <a:off x="1274081" y="5994679"/>
              <a:ext cx="240677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Verdana Pro" panose="020B0604030504040204" pitchFamily="34" charset="0"/>
                </a:rPr>
                <a:t>PyMOL RMSD (Å)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B2B035-6C0B-348D-D20D-4473D607D0D5}"/>
                </a:ext>
              </a:extLst>
            </p:cNvPr>
            <p:cNvSpPr txBox="1"/>
            <p:nvPr/>
          </p:nvSpPr>
          <p:spPr>
            <a:xfrm rot="16200000">
              <a:off x="-675426" y="4319340"/>
              <a:ext cx="2406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Verdana Pro" panose="020B0604030504040204" pitchFamily="34" charset="0"/>
                </a:rPr>
                <a:t>Score</a:t>
              </a:r>
              <a:endParaRPr lang="en-CA" dirty="0">
                <a:latin typeface="Verdana Pro" panose="020B060403050404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91EED7C-D74A-CD8A-5951-A8369EB6ECC3}"/>
              </a:ext>
            </a:extLst>
          </p:cNvPr>
          <p:cNvSpPr txBox="1"/>
          <p:nvPr/>
        </p:nvSpPr>
        <p:spPr>
          <a:xfrm rot="16200000">
            <a:off x="3495374" y="3040720"/>
            <a:ext cx="2406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Score</a:t>
            </a:r>
            <a:endParaRPr lang="en-CA" dirty="0">
              <a:latin typeface="Verdana Pro" panose="020B060403050404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/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dirty="0">
                          <a:latin typeface="Verdana Pro" panose="020B0604030504040204" pitchFamily="34" charset="0"/>
                        </a:rPr>
                        <m:t>PyMOL RMSD (Å)</m:t>
                      </m:r>
                    </m:oMath>
                  </m:oMathPara>
                </a14:m>
                <a:endParaRPr lang="en-US" dirty="0">
                  <a:latin typeface="Verdana Pro" panose="020B0604030504040204" pitchFamily="34" charset="0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D2AD62-7D1A-8501-E1B2-BFFD6ECC1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180" y="6047961"/>
                <a:ext cx="2406770" cy="408382"/>
              </a:xfrm>
              <a:prstGeom prst="rect">
                <a:avLst/>
              </a:prstGeom>
              <a:blipFill>
                <a:blip r:embed="rId4"/>
                <a:stretch>
                  <a:fillRect b="-2238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Graphic 20">
            <a:extLst>
              <a:ext uri="{FF2B5EF4-FFF2-40B4-BE49-F238E27FC236}">
                <a16:creationId xmlns:a16="http://schemas.microsoft.com/office/drawing/2014/main" id="{83B545E8-BFCA-1657-95A6-E53E8B798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5651" t="9825" r="8650" b="5109"/>
          <a:stretch>
            <a:fillRect/>
          </a:stretch>
        </p:blipFill>
        <p:spPr>
          <a:xfrm>
            <a:off x="897291" y="3532163"/>
            <a:ext cx="3288284" cy="245064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/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1.06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0.635(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−4.94)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52C860-2C6C-FCA5-EA33-E45A7CA9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0227" y="2408915"/>
                <a:ext cx="2138342" cy="5296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129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2362</TotalTime>
  <Words>305</Words>
  <Application>Microsoft Office PowerPoint</Application>
  <PresentationFormat>Widescreen</PresentationFormat>
  <Paragraphs>80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157</cp:revision>
  <dcterms:created xsi:type="dcterms:W3CDTF">2026-04-01T17:28:23Z</dcterms:created>
  <dcterms:modified xsi:type="dcterms:W3CDTF">2026-08-25T20:00:05Z</dcterms:modified>
</cp:coreProperties>
</file>