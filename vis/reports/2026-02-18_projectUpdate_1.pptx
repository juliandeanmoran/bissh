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57" r:id="rId5"/>
    <p:sldId id="262" r:id="rId6"/>
    <p:sldId id="261" r:id="rId7"/>
    <p:sldId id="264" r:id="rId8"/>
    <p:sldId id="263" r:id="rId9"/>
    <p:sldId id="2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NOTE: I likely will not go through this slide, as Vinicius should cover this all in greater depth.</a:t>
            </a:r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C7A837-00D9-4D65-B917-5078A695B72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26702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>
                    <a:latin typeface="Georgia Pro" panose="02040502050405020303" pitchFamily="18" charset="0"/>
                  </a:rPr>
                  <a:t>Foldseek</a:t>
                </a:r>
                <a:r>
                  <a:rPr lang="en-US" sz="1600">
                    <a:latin typeface="Georgia Pro" panose="02040502050405020303" pitchFamily="18" charset="0"/>
                  </a:rPr>
                  <a:t>, a structure search algorithm, depends on </a:t>
                </a:r>
                <a:r>
                  <a:rPr lang="en-US" sz="1600" b="1">
                    <a:latin typeface="Georgia Pro" panose="02040502050405020303" pitchFamily="18" charset="0"/>
                  </a:rPr>
                  <a:t>3Di</a:t>
                </a:r>
                <a:r>
                  <a:rPr lang="en-US" sz="160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>
                    <a:latin typeface="Georgia Pro" panose="02040502050405020303" pitchFamily="18" charset="0"/>
                  </a:rPr>
                  <a:t>1</a:t>
                </a:r>
                <a:endParaRPr lang="en-US" sz="160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2FF9267-68B8-3BE3-A98A-747856E0EF47}"/>
              </a:ext>
            </a:extLst>
          </p:cNvPr>
          <p:cNvSpPr/>
          <p:nvPr/>
        </p:nvSpPr>
        <p:spPr>
          <a:xfrm>
            <a:off x="366637" y="275480"/>
            <a:ext cx="7917391" cy="7260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E2D577-1E20-E537-D9AC-C4C42D92B93B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A Jain pipeline summary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26950E-4CDF-CC4F-D749-BD292832C9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4029" y="1338941"/>
            <a:ext cx="2090059" cy="2090059"/>
          </a:xfrm>
          <a:prstGeom prst="ellipse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9DD760-25A1-952C-6013-6AC669564AF2}"/>
              </a:ext>
            </a:extLst>
          </p:cNvPr>
          <p:cNvSpPr txBox="1"/>
          <p:nvPr/>
        </p:nvSpPr>
        <p:spPr>
          <a:xfrm>
            <a:off x="8284028" y="3429000"/>
            <a:ext cx="209005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Georgia Pro" panose="02040502050405020303" pitchFamily="18" charset="0"/>
              </a:rPr>
              <a:t>Anjali Jain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Bioinformatician at the Centre for Computational Medicine (CCM)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53D6E2-018F-F240-F1D8-DA0C26A5859D}"/>
              </a:ext>
            </a:extLst>
          </p:cNvPr>
          <p:cNvSpPr txBox="1"/>
          <p:nvPr/>
        </p:nvSpPr>
        <p:spPr>
          <a:xfrm>
            <a:off x="2996183" y="5564666"/>
            <a:ext cx="3564709" cy="923330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CA">
                <a:latin typeface="Verdana Pro" panose="020B0604030504040204" pitchFamily="34" charset="0"/>
              </a:rPr>
              <a:t>UniprotKB annotations for 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44B9A0-65AB-D3B9-0DF4-A1F03444D005}"/>
              </a:ext>
            </a:extLst>
          </p:cNvPr>
          <p:cNvSpPr txBox="1"/>
          <p:nvPr/>
        </p:nvSpPr>
        <p:spPr>
          <a:xfrm>
            <a:off x="2615184" y="1463533"/>
            <a:ext cx="422452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RefSeq IDs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F9F3B-E774-A0F7-D09E-D950DB7C73A8}"/>
              </a:ext>
            </a:extLst>
          </p:cNvPr>
          <p:cNvSpPr txBox="1"/>
          <p:nvPr/>
        </p:nvSpPr>
        <p:spPr>
          <a:xfrm>
            <a:off x="2889504" y="2204139"/>
            <a:ext cx="3675888" cy="369332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UniProt IDs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BEBDC6-CB78-10C7-35E8-F914B31880F6}"/>
              </a:ext>
            </a:extLst>
          </p:cNvPr>
          <p:cNvSpPr txBox="1"/>
          <p:nvPr/>
        </p:nvSpPr>
        <p:spPr>
          <a:xfrm>
            <a:off x="2889504" y="2950314"/>
            <a:ext cx="3675888" cy="646331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Foldseek clusters containing DefenseFinder proteins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43C7BB-A136-63C0-C4EF-3A912685EFCA}"/>
              </a:ext>
            </a:extLst>
          </p:cNvPr>
          <p:cNvSpPr txBox="1"/>
          <p:nvPr/>
        </p:nvSpPr>
        <p:spPr>
          <a:xfrm>
            <a:off x="2940594" y="4008642"/>
            <a:ext cx="3675888" cy="1200329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>
                <a:latin typeface="Verdana Pro" panose="020B0604030504040204" pitchFamily="34" charset="0"/>
              </a:rPr>
              <a:t>DefenseFinder proteins and their homologous </a:t>
            </a:r>
            <a:r>
              <a:rPr lang="en-US" i="1">
                <a:latin typeface="Verdana Pro" panose="020B0604030504040204" pitchFamily="34" charset="0"/>
              </a:rPr>
              <a:t>H. sapiens</a:t>
            </a:r>
            <a:r>
              <a:rPr lang="en-US">
                <a:latin typeface="Verdana Pro" panose="020B0604030504040204" pitchFamily="34" charset="0"/>
              </a:rPr>
              <a:t> proteins (based on cluster similarity)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E73F904-E2A4-9FD5-295A-44564D46AC45}"/>
              </a:ext>
            </a:extLst>
          </p:cNvPr>
          <p:cNvSpPr/>
          <p:nvPr/>
        </p:nvSpPr>
        <p:spPr>
          <a:xfrm>
            <a:off x="4636008" y="1901952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EE150987-00EA-DC4E-6EF7-B33FBF33FC50}"/>
              </a:ext>
            </a:extLst>
          </p:cNvPr>
          <p:cNvSpPr/>
          <p:nvPr/>
        </p:nvSpPr>
        <p:spPr>
          <a:xfrm>
            <a:off x="4636008" y="265580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8B021541-69C8-8059-93C6-A8E7CAE79327}"/>
              </a:ext>
            </a:extLst>
          </p:cNvPr>
          <p:cNvSpPr/>
          <p:nvPr/>
        </p:nvSpPr>
        <p:spPr>
          <a:xfrm>
            <a:off x="4636008" y="3684928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0F5CEEFD-5B19-B315-65FA-C099CD67D796}"/>
              </a:ext>
            </a:extLst>
          </p:cNvPr>
          <p:cNvSpPr/>
          <p:nvPr/>
        </p:nvSpPr>
        <p:spPr>
          <a:xfrm>
            <a:off x="4636008" y="5270805"/>
            <a:ext cx="182880" cy="247323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8DE71-5FFA-E044-08A1-09A25D2E58D3}"/>
              </a:ext>
            </a:extLst>
          </p:cNvPr>
          <p:cNvSpPr txBox="1"/>
          <p:nvPr/>
        </p:nvSpPr>
        <p:spPr>
          <a:xfrm>
            <a:off x="6716630" y="5570465"/>
            <a:ext cx="27066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321,575 protein pairs for the Zorya, Vipirin, and Gasdermin bacterial immune systems</a:t>
            </a:r>
          </a:p>
        </p:txBody>
      </p:sp>
    </p:spTree>
    <p:extLst>
      <p:ext uri="{BB962C8B-B14F-4D97-AF65-F5344CB8AC3E}">
        <p14:creationId xmlns:p14="http://schemas.microsoft.com/office/powerpoint/2010/main" val="36863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5BC284-1C37-BDC1-0835-D765741632D6}"/>
              </a:ext>
            </a:extLst>
          </p:cNvPr>
          <p:cNvSpPr/>
          <p:nvPr/>
        </p:nvSpPr>
        <p:spPr>
          <a:xfrm>
            <a:off x="366637" y="275480"/>
            <a:ext cx="7917391" cy="712072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85E96A-B47A-F8E9-37E7-32EFB0A00396}"/>
              </a:ext>
            </a:extLst>
          </p:cNvPr>
          <p:cNvSpPr txBox="1"/>
          <p:nvPr/>
        </p:nvSpPr>
        <p:spPr>
          <a:xfrm>
            <a:off x="508580" y="311794"/>
            <a:ext cx="75613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Downstream prioritization</a:t>
            </a:r>
            <a:endParaRPr lang="en-US" sz="2000" b="1">
              <a:solidFill>
                <a:schemeClr val="bg1"/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BAABF-1AAA-E264-AB5D-709BE1E3244E}"/>
              </a:ext>
            </a:extLst>
          </p:cNvPr>
          <p:cNvSpPr txBox="1"/>
          <p:nvPr/>
        </p:nvSpPr>
        <p:spPr>
          <a:xfrm>
            <a:off x="724552" y="123981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>
                <a:latin typeface="Verdana Pro" panose="020B0604030504040204" pitchFamily="34" charset="0"/>
              </a:rPr>
              <a:t>321,575 </a:t>
            </a:r>
          </a:p>
          <a:p>
            <a:pPr algn="ctr"/>
            <a:r>
              <a:rPr lang="en-CA">
                <a:latin typeface="Verdana Pro" panose="020B0604030504040204" pitchFamily="34" charset="0"/>
              </a:rPr>
              <a:t>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9647F595-9119-C810-03D9-B9DF50819D27}"/>
              </a:ext>
            </a:extLst>
          </p:cNvPr>
          <p:cNvSpPr/>
          <p:nvPr/>
        </p:nvSpPr>
        <p:spPr>
          <a:xfrm>
            <a:off x="2306775" y="2472035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2466EFA-21A0-13A8-F7E4-8964D82A62A9}"/>
              </a:ext>
            </a:extLst>
          </p:cNvPr>
          <p:cNvSpPr txBox="1"/>
          <p:nvPr/>
        </p:nvSpPr>
        <p:spPr>
          <a:xfrm>
            <a:off x="724552" y="3301246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>
                <a:latin typeface="Verdana Pro" panose="020B0604030504040204" pitchFamily="34" charset="0"/>
              </a:rPr>
              <a:t>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23F11252-A2BB-4859-9D96-C1FD460DC7B6}"/>
              </a:ext>
            </a:extLst>
          </p:cNvPr>
          <p:cNvSpPr/>
          <p:nvPr/>
        </p:nvSpPr>
        <p:spPr>
          <a:xfrm>
            <a:off x="2306775" y="4671263"/>
            <a:ext cx="400261" cy="541305"/>
          </a:xfrm>
          <a:prstGeom prst="downArrow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9A94BD-85E0-019B-6FD7-D396DE211EB9}"/>
              </a:ext>
            </a:extLst>
          </p:cNvPr>
          <p:cNvSpPr txBox="1"/>
          <p:nvPr/>
        </p:nvSpPr>
        <p:spPr>
          <a:xfrm>
            <a:off x="724550" y="5436204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>
                <a:latin typeface="Verdana Pro" panose="020B0604030504040204" pitchFamily="34" charset="0"/>
              </a:rPr>
              <a:t>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78FFA-CF61-EA63-94CC-4279F5467693}"/>
              </a:ext>
            </a:extLst>
          </p:cNvPr>
          <p:cNvSpPr txBox="1"/>
          <p:nvPr/>
        </p:nvSpPr>
        <p:spPr>
          <a:xfrm>
            <a:off x="2904523" y="4788026"/>
            <a:ext cx="3593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Protein_length_difference ≤ 0.05 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377CA6-9A23-742C-577B-ECBDEA9E98A8}"/>
              </a:ext>
            </a:extLst>
          </p:cNvPr>
          <p:cNvSpPr txBox="1"/>
          <p:nvPr/>
        </p:nvSpPr>
        <p:spPr>
          <a:xfrm>
            <a:off x="2904523" y="2472035"/>
            <a:ext cx="35931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DefenseFinder cluster_id ==</a:t>
            </a:r>
          </a:p>
          <a:p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H. sapiens cluster_id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4ECE2338-E962-3219-2BEC-675AA0198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848" t="11704" r="7567"/>
          <a:stretch>
            <a:fillRect/>
          </a:stretch>
        </p:blipFill>
        <p:spPr>
          <a:xfrm>
            <a:off x="7134078" y="3630656"/>
            <a:ext cx="4901914" cy="299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66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A3EB2-D499-B601-7F65-3B69125D3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7DB4CE-9751-7430-272E-D26D0606E47F}"/>
              </a:ext>
            </a:extLst>
          </p:cNvPr>
          <p:cNvSpPr txBox="1"/>
          <p:nvPr/>
        </p:nvSpPr>
        <p:spPr>
          <a:xfrm>
            <a:off x="258206" y="242412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>
                <a:latin typeface="Verdana Pro" panose="020B0604030504040204" pitchFamily="34" charset="0"/>
              </a:rPr>
              <a:t>34 </a:t>
            </a:r>
          </a:p>
          <a:p>
            <a:pPr algn="ctr"/>
            <a:r>
              <a:rPr lang="en-CA">
                <a:latin typeface="Verdana Pro" panose="020B0604030504040204" pitchFamily="34" charset="0"/>
              </a:rPr>
              <a:t>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53FB09-2B6B-0064-11CB-046960A8A8F2}"/>
              </a:ext>
            </a:extLst>
          </p:cNvPr>
          <p:cNvSpPr txBox="1"/>
          <p:nvPr/>
        </p:nvSpPr>
        <p:spPr>
          <a:xfrm>
            <a:off x="851840" y="1344168"/>
            <a:ext cx="23774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(same cluster)</a:t>
            </a:r>
          </a:p>
          <a:p>
            <a:pPr algn="ctr"/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(similar length)</a:t>
            </a:r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38183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4DC9F86-20C5-B794-C66D-13171E103DFD}"/>
              </a:ext>
            </a:extLst>
          </p:cNvPr>
          <p:cNvSpPr txBox="1"/>
          <p:nvPr/>
        </p:nvSpPr>
        <p:spPr>
          <a:xfrm>
            <a:off x="294784" y="265438"/>
            <a:ext cx="3564709" cy="1000274"/>
          </a:xfrm>
          <a:prstGeom prst="rect">
            <a:avLst/>
          </a:pr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CA">
                <a:latin typeface="Verdana Pro" panose="020B0604030504040204" pitchFamily="34" charset="0"/>
              </a:rPr>
              <a:t>279 </a:t>
            </a:r>
          </a:p>
          <a:p>
            <a:pPr algn="ctr"/>
            <a:r>
              <a:rPr lang="en-CA">
                <a:latin typeface="Verdana Pro" panose="020B0604030504040204" pitchFamily="34" charset="0"/>
              </a:rPr>
              <a:t>DefenseFinder 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 </a:t>
            </a:r>
            <a:r>
              <a:rPr lang="en-CA" i="1">
                <a:latin typeface="Verdana Pro" panose="020B0604030504040204" pitchFamily="34" charset="0"/>
                <a:sym typeface="Wingdings" panose="05000000000000000000" pitchFamily="2" charset="2"/>
              </a:rPr>
              <a:t>H. sapiens</a:t>
            </a:r>
            <a:r>
              <a:rPr lang="en-CA">
                <a:latin typeface="Verdana Pro" panose="020B0604030504040204" pitchFamily="34" charset="0"/>
                <a:sym typeface="Wingdings" panose="05000000000000000000" pitchFamily="2" charset="2"/>
              </a:rPr>
              <a:t> protein pairs</a:t>
            </a:r>
            <a:endParaRPr lang="en-CA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D2DAE-5836-47E0-0D9B-E536D872E07D}"/>
              </a:ext>
            </a:extLst>
          </p:cNvPr>
          <p:cNvSpPr txBox="1"/>
          <p:nvPr/>
        </p:nvSpPr>
        <p:spPr>
          <a:xfrm>
            <a:off x="888418" y="1362456"/>
            <a:ext cx="237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>
                <a:latin typeface="Courier New" panose="02070309020205020404" pitchFamily="49" charset="0"/>
                <a:cs typeface="Courier New" panose="02070309020205020404" pitchFamily="49" charset="0"/>
              </a:rPr>
              <a:t>(same cluster)</a:t>
            </a:r>
          </a:p>
        </p:txBody>
      </p:sp>
    </p:spTree>
    <p:extLst>
      <p:ext uri="{BB962C8B-B14F-4D97-AF65-F5344CB8AC3E}">
        <p14:creationId xmlns:p14="http://schemas.microsoft.com/office/powerpoint/2010/main" val="30004768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9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510</Words>
  <Application>Microsoft Office PowerPoint</Application>
  <PresentationFormat>Widescreen</PresentationFormat>
  <Paragraphs>67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43</cp:revision>
  <dcterms:created xsi:type="dcterms:W3CDTF">2026-02-18T15:29:39Z</dcterms:created>
  <dcterms:modified xsi:type="dcterms:W3CDTF">2026-02-18T20:57:39Z</dcterms:modified>
</cp:coreProperties>
</file>