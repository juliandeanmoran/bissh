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59" r:id="rId4"/>
    <p:sldId id="257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0051D1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213E3E-99C3-4924-8BC9-8C32863166AD}" type="datetimeFigureOut">
              <a:rPr lang="en-CA" smtClean="0"/>
              <a:t>2026-02-18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C7A837-00D9-4D65-B917-5078A695B72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7430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B3C6-A2BC-C3B1-506A-8131B297FC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F3E801-4BC0-6B2B-7FC7-B29FB18413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E0A70C-0C28-ECE0-BD40-F0480F60B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BED0B-9A42-47E0-99B1-1140364C30B4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82A2A-A3A8-9297-D445-44A045097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6FAF0E-50E9-CFAB-5AC1-B1DDD125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/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1315854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0AE21-B3EF-4E09-33C7-2E33D3F1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48B6E-2489-17F7-AC38-504F18539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B2EA68-6958-10EC-6390-27D2256B0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08598-67DE-4BE6-BEB8-5B4AD7D639ED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F1898A-688D-BC8E-326B-46A857AE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F1DA61-5BEA-6307-B64A-9D099F34A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fld id="{3899FC77-40C7-4C49-9A19-86BDE9B75E8A}" type="slidenum">
              <a:rPr lang="en-CA" smtClean="0"/>
              <a:pPr/>
              <a:t>‹#›</a:t>
            </a:fld>
            <a:endParaRPr lang="en-CA" sz="1400"/>
          </a:p>
        </p:txBody>
      </p:sp>
    </p:spTree>
    <p:extLst>
      <p:ext uri="{BB962C8B-B14F-4D97-AF65-F5344CB8AC3E}">
        <p14:creationId xmlns:p14="http://schemas.microsoft.com/office/powerpoint/2010/main" val="233653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21EF2-2ED3-E6EC-04E0-72F62047A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B46345-DD50-7FC9-7EB6-915D804C93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233C9-0953-6711-B9E7-0F90648C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6566D1-74AA-4722-8BFB-AF501A2625E3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CBFC4-F161-5AA3-FE52-F7031771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F138-D73F-69A5-A8B1-F2438BF03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4272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4ED86-CC4D-A1D6-FC40-BE440D5C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0164-F141-4AE0-550B-720E82AD66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D6031E-AF51-4DF8-4BC5-76C2F2A20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F6053-2514-A757-4FC0-43BAF77C2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E9686-7AEC-4770-8FC1-AB4CC0356AAE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F9FCCD-E971-322F-D2DD-FFA496041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0AE17-1DD6-8965-2C0A-FDBBF8CB7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77834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429DD-5D4C-EBD0-C792-6294BD368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3E603-38F4-DD3C-45D5-62B94CDAD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6F6D11-C286-C1BC-2D08-925706D05A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574F07-278E-C2BA-EA5E-D20A9FCD9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DCC251-5459-0DE0-FCF6-E8B6DAF105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7E7015-AB8B-B2DC-DE0F-E185B2531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5280D-47D4-4DF5-B319-35410514E3CC}" type="datetime1">
              <a:rPr lang="en-CA" smtClean="0"/>
              <a:t>2026-02-18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F1E073-8F8B-E553-E098-861C001AA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14AFE91-D4AD-AA58-7BBA-0EAD4309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87415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38217-C413-8EA0-CC0B-125DB2168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8E4532-9A5E-3AB1-2175-357064397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67DC5A-B795-4EBB-9B22-113083EFA19B}" type="datetime1">
              <a:rPr lang="en-CA" smtClean="0"/>
              <a:t>2026-02-18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5CBF7F-3521-A8B4-6F0E-A2DD1D79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A09FA-B374-D5B0-7774-7C3029A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4248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50CB9A-B3A8-DC6D-5988-CDD4C42D7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70E04-2DE6-4889-BBA3-32DCF18A2ACD}" type="datetime1">
              <a:rPr lang="en-CA" smtClean="0"/>
              <a:t>2026-02-18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ADD8C2-0604-C847-6AC0-801D6EAB4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C7735-BE18-5BD0-6E2C-860CD6685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4768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9523-A5DD-5A22-B42E-0E5390C8B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BBC32-0615-7458-9D23-3B93CFE44C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4FE7F-EA6B-E10B-A1FC-09FF88DF7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6270E9-B813-394F-EE92-020FC6335E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44DBB-4E79-48BF-AC5B-24508B3912E5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0EB40F-6A1C-3990-C193-FB9AE802E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AD608-FB89-606A-99D7-52D56F713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930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4DA6-7B3F-D216-0DD2-E88105C4B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DFAC7E-621A-4BD2-383D-1A4F7D262E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FEAD27-8493-FFCF-8BE5-5034C3171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B33605-69BA-70E0-7BA9-3C8F1D199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F3298-8659-4232-B7C2-DF6F20A13C97}" type="datetime1">
              <a:rPr lang="en-CA" smtClean="0"/>
              <a:t>2026-02-18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03F0D-9726-1314-908F-503F9841C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2E8EF-DEF5-691E-ACAD-0CCDF39B9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6791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B7ABA-2D44-A586-53F0-0462E9159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46E0F-4399-B0E0-548D-1470C2936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D6ABD-4368-383F-153C-01228E95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021F5-2C66-4B71-977D-F5801045D8C2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23F8B-413D-8599-1C4C-5D62E8DC1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0AACE-A292-7196-38B3-597E642B1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0375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B57576-59A4-845B-0DB1-E74928C008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D76668-6004-D162-89A2-7AF2875808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4CA3C-27AE-4DDB-3750-86FFD176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893F5-30BD-4E02-A794-2D37AE7D84CF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1D2D07-D98A-61C2-DC0D-387824DE1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3364A-E572-644C-25DD-D67FA52C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921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F8617C-9CE4-528D-642B-ABC4F259F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27F8A-DB14-21AE-B65A-CBBCD11ED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8FAE-6D57-D485-45FB-15A0A57B1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5BB033-F7A7-49F1-99DC-A2B1E1BC777C}" type="datetime1">
              <a:rPr lang="en-CA" smtClean="0"/>
              <a:t>2026-02-18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1E194-A560-5760-A266-4D735D0EE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6E10B7-84EB-A0C2-63BE-12088A2C01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99FC77-40C7-4C49-9A19-86BDE9B75E8A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456555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583DB1C-4BC3-D5C5-0B98-062C8270AB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r="28491"/>
          <a:stretch>
            <a:fillRect/>
          </a:stretch>
        </p:blipFill>
        <p:spPr>
          <a:xfrm>
            <a:off x="0" y="32730"/>
            <a:ext cx="12192000" cy="682527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69E61EE-C9B7-D3CE-CD30-91B685DA01C8}"/>
              </a:ext>
            </a:extLst>
          </p:cNvPr>
          <p:cNvSpPr/>
          <p:nvPr/>
        </p:nvSpPr>
        <p:spPr>
          <a:xfrm>
            <a:off x="3140752" y="3239170"/>
            <a:ext cx="8944825" cy="3332606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13">
            <a:extLst>
              <a:ext uri="{FF2B5EF4-FFF2-40B4-BE49-F238E27FC236}">
                <a16:creationId xmlns:a16="http://schemas.microsoft.com/office/drawing/2014/main" id="{A542C8AE-2AB7-8319-E412-F9A288B13E93}"/>
              </a:ext>
            </a:extLst>
          </p:cNvPr>
          <p:cNvSpPr txBox="1"/>
          <p:nvPr/>
        </p:nvSpPr>
        <p:spPr>
          <a:xfrm>
            <a:off x="5198295" y="3239170"/>
            <a:ext cx="6616011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endParaRPr lang="en-US" sz="2400" b="1">
              <a:solidFill>
                <a:schemeClr val="bg1"/>
              </a:solidFill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2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Bacterial anti-phage structural homology: update 1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F4F5946-DD57-07A1-3245-051374CE6869}"/>
              </a:ext>
            </a:extLst>
          </p:cNvPr>
          <p:cNvSpPr>
            <a:spLocks noGrp="1"/>
          </p:cNvSpPr>
          <p:nvPr/>
        </p:nvSpPr>
        <p:spPr>
          <a:xfrm>
            <a:off x="5202143" y="4850131"/>
            <a:ext cx="5580778" cy="15947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Julian Moran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2026-02-19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40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 Centre for Applied Genomics, SickKids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3917246-DB80-E8F0-B6D3-7404470C69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84668" y="156850"/>
            <a:ext cx="2322549" cy="74496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85963E7-143E-076F-B646-7B0A8A6FEC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6946" y="3423854"/>
            <a:ext cx="1400078" cy="2907728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F5741F7-B930-FEB1-2686-BEC1482F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11321" y="6492875"/>
            <a:ext cx="2743200" cy="365125"/>
          </a:xfrm>
        </p:spPr>
        <p:txBody>
          <a:bodyPr/>
          <a:lstStyle/>
          <a:p>
            <a:fld id="{3899FC77-40C7-4C49-9A19-86BDE9B75E8A}" type="slidenum">
              <a:rPr lang="en-CA" smtClean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fld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151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62BA-96E7-CB3A-2EEF-8C1F3FD38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8ABA83-B6F1-E50E-A43F-EF53FC6B6C08}"/>
              </a:ext>
            </a:extLst>
          </p:cNvPr>
          <p:cNvSpPr/>
          <p:nvPr/>
        </p:nvSpPr>
        <p:spPr>
          <a:xfrm>
            <a:off x="845609" y="372998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/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spcAft>
                    <a:spcPts val="1200"/>
                  </a:spcAft>
                </a:pPr>
                <a:r>
                  <a:rPr lang="en-US" sz="1600" b="1">
                    <a:latin typeface="Georgia Pro" panose="02040502050405020303" pitchFamily="18" charset="0"/>
                  </a:rPr>
                  <a:t>Foldseek</a:t>
                </a:r>
                <a:r>
                  <a:rPr lang="en-US" sz="1600">
                    <a:latin typeface="Georgia Pro" panose="02040502050405020303" pitchFamily="18" charset="0"/>
                  </a:rPr>
                  <a:t>, a structure search algorithm, depends on </a:t>
                </a:r>
                <a:r>
                  <a:rPr lang="en-US" sz="1600" b="1">
                    <a:latin typeface="Georgia Pro" panose="02040502050405020303" pitchFamily="18" charset="0"/>
                  </a:rPr>
                  <a:t>3Di</a:t>
                </a:r>
                <a:r>
                  <a:rPr lang="en-US" sz="1600">
                    <a:latin typeface="Georgia Pro" panose="02040502050405020303" pitchFamily="18" charset="0"/>
                  </a:rPr>
                  <a:t>, a method for representing 3D folded protein structures as one-dimensional sequences of a 20-letter code.</a:t>
                </a:r>
                <a:r>
                  <a:rPr lang="en-US" sz="1600" baseline="30000">
                    <a:latin typeface="Georgia Pro" panose="02040502050405020303" pitchFamily="18" charset="0"/>
                  </a:rPr>
                  <a:t>1</a:t>
                </a:r>
                <a:endParaRPr lang="en-US" sz="1600">
                  <a:latin typeface="Georgia Pro" panose="02040502050405020303" pitchFamily="18" charset="0"/>
                  <a:cs typeface="Courier New" panose="02070309020205020404" pitchFamily="49" charset="0"/>
                </a:endParaRPr>
              </a:p>
              <a:p>
                <a:pPr algn="just">
                  <a:spcAft>
                    <a:spcPts val="1200"/>
                  </a:spcAft>
                </a:pPr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Each character in the 20-letter code is represented in the latent space between an autoencoder and decoder neural network.</a:t>
                </a:r>
              </a:p>
              <a:p>
                <a:pPr algn="just">
                  <a:spcAft>
                    <a:spcPts val="1200"/>
                  </a:spcAft>
                </a:pPr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The autoencoder receives as input a 10-dimensional feature vector, where the features encapsulate the spatial relationship between two nearest spatial neighbor residues,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𝑖</m:t>
                    </m:r>
                  </m:oMath>
                </a14:m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𝑗</m:t>
                    </m:r>
                  </m:oMath>
                </a14:m>
                <a:r>
                  <a:rPr lang="en-US" sz="1600">
                    <a:latin typeface="Georgia Pro" panose="02040502050405020303" pitchFamily="18" charset="0"/>
                    <a:cs typeface="Courier New" panose="02070309020205020404" pitchFamily="49" charset="0"/>
                  </a:rPr>
                  <a:t>, in the 3D structure.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4816639-416F-378A-9CD6-0190AB9F60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609" y="1614931"/>
                <a:ext cx="6421966" cy="2369880"/>
              </a:xfrm>
              <a:prstGeom prst="rect">
                <a:avLst/>
              </a:prstGeom>
              <a:blipFill>
                <a:blip r:embed="rId2"/>
                <a:stretch>
                  <a:fillRect l="-570" t="-771" r="-475" b="-231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D8F04AFD-2ACE-842C-9BD9-ECC48CC83FE5}"/>
              </a:ext>
            </a:extLst>
          </p:cNvPr>
          <p:cNvSpPr txBox="1"/>
          <p:nvPr/>
        </p:nvSpPr>
        <p:spPr>
          <a:xfrm>
            <a:off x="987552" y="485512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3D8A36-3BEF-0B0F-88D9-198D0705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843" y="1104900"/>
            <a:ext cx="3740193" cy="4305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20CF7E-876A-A8A2-F053-557327004AF5}"/>
              </a:ext>
            </a:extLst>
          </p:cNvPr>
          <p:cNvSpPr txBox="1"/>
          <p:nvPr/>
        </p:nvSpPr>
        <p:spPr>
          <a:xfrm>
            <a:off x="8047736" y="5524500"/>
            <a:ext cx="35433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Adapted from Barrio-Hernendez et al. 2023.</a:t>
            </a:r>
            <a:r>
              <a:rPr lang="en-US" sz="1400" baseline="30000">
                <a:solidFill>
                  <a:schemeClr val="bg1">
                    <a:lumMod val="75000"/>
                  </a:schemeClr>
                </a:solidFill>
                <a:latin typeface="Georgia Pro" panose="02040502050405020303" pitchFamily="18" charset="0"/>
              </a:rPr>
              <a:t>1</a:t>
            </a:r>
            <a:endParaRPr lang="en-CA" sz="1400">
              <a:solidFill>
                <a:schemeClr val="bg1">
                  <a:lumMod val="75000"/>
                </a:schemeClr>
              </a:solidFill>
              <a:latin typeface="Georgia Pro" panose="02040502050405020303" pitchFamily="18" charset="0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B07C51B-63F3-FEA2-5137-35C3AF828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z="1400" smtClean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fld>
            <a:endParaRPr lang="en-CA" sz="14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/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os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CA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097EA0-0839-740D-BBC5-BA05C22456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1626" y="5191111"/>
                <a:ext cx="1646131" cy="381515"/>
              </a:xfrm>
              <a:prstGeom prst="rect">
                <a:avLst/>
              </a:prstGeom>
              <a:blipFill>
                <a:blip r:embed="rId4"/>
                <a:stretch>
                  <a:fillRect b="-1129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F89102A7-DEB7-10AC-BC47-305C94A38F0D}"/>
              </a:ext>
            </a:extLst>
          </p:cNvPr>
          <p:cNvGrpSpPr/>
          <p:nvPr/>
        </p:nvGrpSpPr>
        <p:grpSpPr>
          <a:xfrm>
            <a:off x="845609" y="4497110"/>
            <a:ext cx="2247900" cy="1859240"/>
            <a:chOff x="3429000" y="4701580"/>
            <a:chExt cx="2247900" cy="185924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30FEDEF-A6D4-B643-28F3-BD73A8B86D28}"/>
                </a:ext>
              </a:extLst>
            </p:cNvPr>
            <p:cNvGrpSpPr/>
            <p:nvPr/>
          </p:nvGrpSpPr>
          <p:grpSpPr>
            <a:xfrm>
              <a:off x="3513709" y="4728253"/>
              <a:ext cx="2096337" cy="1765086"/>
              <a:chOff x="3772468" y="4478224"/>
              <a:chExt cx="2096337" cy="1765086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B8B62C-C308-1240-FE4A-5E9301A9EB87}"/>
                  </a:ext>
                </a:extLst>
              </p:cNvPr>
              <p:cNvCxnSpPr/>
              <p:nvPr/>
            </p:nvCxnSpPr>
            <p:spPr>
              <a:xfrm flipV="1">
                <a:off x="4277254" y="4838756"/>
                <a:ext cx="790575" cy="78105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0BEEFF29-395D-EA53-5368-C2D138D71E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7254" y="5619806"/>
                <a:ext cx="1024256" cy="247594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23771E7-024D-B87A-5196-AD3B6935B3E8}"/>
                  </a:ext>
                </a:extLst>
              </p:cNvPr>
              <p:cNvSpPr txBox="1"/>
              <p:nvPr/>
            </p:nvSpPr>
            <p:spPr>
              <a:xfrm>
                <a:off x="4455371" y="5351411"/>
                <a:ext cx="4343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l-GR">
                    <a:latin typeface="Cambria Math" panose="02040503050406030204" pitchFamily="18" charset="0"/>
                    <a:ea typeface="Cambria Math" panose="02040503050406030204" pitchFamily="18" charset="0"/>
                  </a:rPr>
                  <a:t>θ</a:t>
                </a:r>
                <a:endParaRPr lang="en-CA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/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625727-0CDF-3232-4C8C-95B4A4D842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94081" y="4776220"/>
                    <a:ext cx="49530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/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9F7317A6-2337-8614-16AB-86123AA2E5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95891" y="5873978"/>
                    <a:ext cx="49530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/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5933132-7A80-DBF7-9E50-D8A8701C54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72468" y="5536077"/>
                    <a:ext cx="495301" cy="38151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95876399-88BE-485D-B7CD-64F3FAADD2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45625" y="4478224"/>
                    <a:ext cx="495301" cy="38151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39024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/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CA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12199813-2201-34AF-6C91-87BAF70F92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73504" y="5764384"/>
                    <a:ext cx="495301" cy="39164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4938" b="-7813"/>
                    </a:stretch>
                  </a:blipFill>
                </p:spPr>
                <p:txBody>
                  <a:bodyPr/>
                  <a:lstStyle/>
                  <a:p>
                    <a:r>
                      <a:rPr lang="en-CA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91993D5-1B5D-0713-39F3-1AAFED2EED4B}"/>
                </a:ext>
              </a:extLst>
            </p:cNvPr>
            <p:cNvSpPr/>
            <p:nvPr/>
          </p:nvSpPr>
          <p:spPr>
            <a:xfrm>
              <a:off x="3429000" y="4701580"/>
              <a:ext cx="2247900" cy="1859240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390092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506A4A-AC64-A85A-503D-AF2771A2918A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4D71F2-ED93-AC2A-E919-57A0E4E48C2A}"/>
              </a:ext>
            </a:extLst>
          </p:cNvPr>
          <p:cNvSpPr txBox="1"/>
          <p:nvPr/>
        </p:nvSpPr>
        <p:spPr>
          <a:xfrm>
            <a:off x="845608" y="1922780"/>
            <a:ext cx="6487879" cy="33547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1200"/>
              </a:spcAft>
            </a:pPr>
            <a:r>
              <a:rPr lang="en-US" sz="1600" b="1">
                <a:latin typeface="Georgia Pro" panose="02040502050405020303" pitchFamily="18" charset="0"/>
                <a:cs typeface="Courier New" panose="02070309020205020404" pitchFamily="49" charset="0"/>
              </a:rPr>
              <a:t>Foldseek cluster</a:t>
            </a: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, a clustering algorithm, leverages both primary amino acid sequence homology and structural homology to group proteins together.</a:t>
            </a:r>
            <a:r>
              <a:rPr lang="en-US" sz="1600" baseline="30000">
                <a:latin typeface="Georgia Pro" panose="02040502050405020303" pitchFamily="18" charset="0"/>
                <a:cs typeface="Courier New" panose="02070309020205020404" pitchFamily="49" charset="0"/>
              </a:rPr>
              <a:t>2</a:t>
            </a:r>
            <a:endParaRPr lang="en-US" sz="1600">
              <a:latin typeface="Georgia Pro" panose="02040502050405020303" pitchFamily="18" charset="0"/>
              <a:cs typeface="Courier New" panose="02070309020205020404" pitchFamily="49" charset="0"/>
            </a:endParaRPr>
          </a:p>
          <a:p>
            <a:pPr algn="just">
              <a:spcAft>
                <a:spcPts val="1200"/>
              </a:spcAft>
            </a:pP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It takes as input the entire AlphaFold database (214 million predicted structures) clustered with MMSeqs2, which uses primary amino acid sequence. Here, sequence cluster membership is thresheld at 50% sequence identity and 90% sequence alignment overlap, yielding 52 million clusters.</a:t>
            </a:r>
          </a:p>
          <a:p>
            <a:pPr algn="just">
              <a:spcAft>
                <a:spcPts val="1200"/>
              </a:spcAft>
            </a:pPr>
            <a:r>
              <a:rPr lang="en-US" sz="1600">
                <a:latin typeface="Georgia Pro" panose="02040502050405020303" pitchFamily="18" charset="0"/>
                <a:cs typeface="Courier New" panose="02070309020205020404" pitchFamily="49" charset="0"/>
              </a:rPr>
              <a:t>Foldseek cluster then further clusters the 3Di sequences of "representative structures" (   ) from each cluster (i.e. structure with highest pLDDT), with membership thresheld at e-value 0.01 and 90% structural alignment overlap, yielding 19 million clusters.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9862E-67BD-690C-AE3D-A8F06A304190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Background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A362C-0F5D-C533-4AB1-071B7F7AA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3</a:t>
            </a:fld>
            <a:endParaRPr lang="en-CA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01E4B01-489E-5C2D-0B3D-F65A3C9BDD64}"/>
              </a:ext>
            </a:extLst>
          </p:cNvPr>
          <p:cNvGrpSpPr/>
          <p:nvPr/>
        </p:nvGrpSpPr>
        <p:grpSpPr>
          <a:xfrm>
            <a:off x="8220723" y="769622"/>
            <a:ext cx="1265130" cy="5414857"/>
            <a:chOff x="7973834" y="428159"/>
            <a:chExt cx="1427719" cy="611075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184B2CA-3FC0-55C8-EA04-9E0E3494DC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1035"/>
            <a:stretch>
              <a:fillRect/>
            </a:stretch>
          </p:blipFill>
          <p:spPr>
            <a:xfrm>
              <a:off x="8178817" y="428159"/>
              <a:ext cx="863566" cy="1494621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0EC3EEF4-FE72-93EE-08CD-A578F0C593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73834" y="2633471"/>
              <a:ext cx="1427719" cy="1342799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C5498E5-29DD-B855-656B-1268D6DD0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25836" y="4420538"/>
              <a:ext cx="1016440" cy="2118374"/>
            </a:xfrm>
            <a:prstGeom prst="rect">
              <a:avLst/>
            </a:prstGeom>
          </p:spPr>
        </p:pic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2AD42A94-FAF9-4117-7840-F6D16DDEE7A7}"/>
                </a:ext>
              </a:extLst>
            </p:cNvPr>
            <p:cNvSpPr/>
            <p:nvPr/>
          </p:nvSpPr>
          <p:spPr>
            <a:xfrm rot="5400000">
              <a:off x="8356827" y="212004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4" name="Arrow: Right 23">
              <a:extLst>
                <a:ext uri="{FF2B5EF4-FFF2-40B4-BE49-F238E27FC236}">
                  <a16:creationId xmlns:a16="http://schemas.microsoft.com/office/drawing/2014/main" id="{5F98F415-00AB-67EB-9F64-B7388E0D4806}"/>
                </a:ext>
              </a:extLst>
            </p:cNvPr>
            <p:cNvSpPr/>
            <p:nvPr/>
          </p:nvSpPr>
          <p:spPr>
            <a:xfrm rot="5400000">
              <a:off x="8367507" y="4089672"/>
              <a:ext cx="377952" cy="283780"/>
            </a:xfrm>
            <a:prstGeom prst="rightArrow">
              <a:avLst>
                <a:gd name="adj1" fmla="val 50000"/>
                <a:gd name="adj2" fmla="val 40333"/>
              </a:avLst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35B1E634-4FD6-483E-10E3-754606BB4796}"/>
              </a:ext>
            </a:extLst>
          </p:cNvPr>
          <p:cNvSpPr txBox="1"/>
          <p:nvPr/>
        </p:nvSpPr>
        <p:spPr>
          <a:xfrm>
            <a:off x="9167585" y="218700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MMSeqs2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7A3273A-12AC-1936-9ACB-EA2A77ECDC9A}"/>
              </a:ext>
            </a:extLst>
          </p:cNvPr>
          <p:cNvSpPr txBox="1"/>
          <p:nvPr/>
        </p:nvSpPr>
        <p:spPr>
          <a:xfrm>
            <a:off x="9122664" y="3935707"/>
            <a:ext cx="261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>
                <a:latin typeface="Courier New" panose="02070309020205020404" pitchFamily="49" charset="0"/>
                <a:cs typeface="Courier New" panose="02070309020205020404" pitchFamily="49" charset="0"/>
              </a:rPr>
              <a:t>Foldseek cluster</a:t>
            </a:r>
            <a:endParaRPr lang="en-CA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C28D6C1-ADB4-7F1D-D281-37A5411AE665}"/>
              </a:ext>
            </a:extLst>
          </p:cNvPr>
          <p:cNvSpPr txBox="1"/>
          <p:nvPr/>
        </p:nvSpPr>
        <p:spPr>
          <a:xfrm>
            <a:off x="9627319" y="97383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214 million protein sequences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0135AE-CF85-4488-741D-00F113793E9F}"/>
              </a:ext>
            </a:extLst>
          </p:cNvPr>
          <p:cNvSpPr txBox="1"/>
          <p:nvPr/>
        </p:nvSpPr>
        <p:spPr>
          <a:xfrm>
            <a:off x="9627319" y="2816694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52 million sequence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BF6988-3640-79F1-78A6-DD33977711A3}"/>
              </a:ext>
            </a:extLst>
          </p:cNvPr>
          <p:cNvSpPr txBox="1"/>
          <p:nvPr/>
        </p:nvSpPr>
        <p:spPr>
          <a:xfrm>
            <a:off x="9627319" y="4779545"/>
            <a:ext cx="1336337" cy="738664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>
                <a:latin typeface="Verdana Pro" panose="020B0604030504040204" pitchFamily="34" charset="0"/>
                <a:cs typeface="Arial" panose="020B0604020202020204" pitchFamily="34" charset="0"/>
              </a:rPr>
              <a:t>19 million Foldseek clusters</a:t>
            </a:r>
            <a:endParaRPr lang="en-CA" sz="1400">
              <a:latin typeface="Verdana Pro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9FA050-54EA-FD81-6D49-E2C07497EBD5}"/>
              </a:ext>
            </a:extLst>
          </p:cNvPr>
          <p:cNvSpPr/>
          <p:nvPr/>
        </p:nvSpPr>
        <p:spPr>
          <a:xfrm>
            <a:off x="3550920" y="4509516"/>
            <a:ext cx="154858" cy="16002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35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A4DD25F-C079-98B5-D407-70A510C609B0}"/>
              </a:ext>
            </a:extLst>
          </p:cNvPr>
          <p:cNvSpPr/>
          <p:nvPr/>
        </p:nvSpPr>
        <p:spPr>
          <a:xfrm>
            <a:off x="845609" y="725423"/>
            <a:ext cx="7917391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34E578-3FDE-5C1D-35AE-47A79F4E684B}"/>
              </a:ext>
            </a:extLst>
          </p:cNvPr>
          <p:cNvSpPr txBox="1"/>
          <p:nvPr/>
        </p:nvSpPr>
        <p:spPr>
          <a:xfrm>
            <a:off x="768096" y="2011680"/>
            <a:ext cx="927201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</a:rPr>
              <a:t>Which human proteins in the Foldseek cluster dataset exhibit strong homology with bacterial immune system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sz="2400">
              <a:latin typeface="Verdana Pro" panose="020B0604030504040204" pitchFamily="34" charset="0"/>
            </a:endParaRPr>
          </a:p>
          <a:p>
            <a:pPr marL="914400" lvl="1" indent="-457200">
              <a:buFont typeface="+mj-lt"/>
              <a:buAutoNum type="arabicPeriod"/>
            </a:pPr>
            <a:endParaRPr lang="en-US" sz="2400">
              <a:latin typeface="Verdana Pro" panose="020B0604030504040204" pitchFamily="34" charset="0"/>
            </a:endParaRP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sz="2400">
                <a:latin typeface="Georgia Pro" panose="02040502050405020303" pitchFamily="18" charset="0"/>
                <a:cs typeface="Courier New" panose="02070309020205020404" pitchFamily="49" charset="0"/>
              </a:rPr>
              <a:t>Based on the structural homology, can we hypothesise about previously uncharacterised functions of the human proteins?</a:t>
            </a:r>
            <a:endParaRPr lang="en-US" sz="24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>
              <a:latin typeface="Verdana Pro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32CAE3-AB36-FC47-6B44-8DC681B5189D}"/>
              </a:ext>
            </a:extLst>
          </p:cNvPr>
          <p:cNvSpPr txBox="1"/>
          <p:nvPr/>
        </p:nvSpPr>
        <p:spPr>
          <a:xfrm>
            <a:off x="987552" y="761737"/>
            <a:ext cx="557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>
                <a:solidFill>
                  <a:schemeClr val="bg1"/>
                </a:solidFill>
                <a:latin typeface="Georgia Pro" panose="02040502050405020303" pitchFamily="18" charset="0"/>
              </a:rPr>
              <a:t>Research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2CB2A2-9134-88C1-0B43-B74BA4835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0809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67C029-F809-4563-FEDC-0FE2666AD68F}"/>
              </a:ext>
            </a:extLst>
          </p:cNvPr>
          <p:cNvSpPr/>
          <p:nvPr/>
        </p:nvSpPr>
        <p:spPr>
          <a:xfrm>
            <a:off x="845609" y="649223"/>
            <a:ext cx="4704799" cy="649225"/>
          </a:xfrm>
          <a:prstGeom prst="roundRect">
            <a:avLst/>
          </a:prstGeom>
          <a:solidFill>
            <a:srgbClr val="0162B3"/>
          </a:solidFill>
          <a:ln>
            <a:solidFill>
              <a:srgbClr val="0162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295EC-59E3-A151-A598-185D8DFFA3C9}"/>
              </a:ext>
            </a:extLst>
          </p:cNvPr>
          <p:cNvSpPr txBox="1"/>
          <p:nvPr/>
        </p:nvSpPr>
        <p:spPr>
          <a:xfrm>
            <a:off x="987552" y="761737"/>
            <a:ext cx="35387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chemeClr val="bg1"/>
                </a:solidFill>
                <a:latin typeface="Georgia Pro" panose="02040502050405020303" pitchFamily="18" charset="0"/>
              </a:rPr>
              <a:t>References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63B0A-77DC-F94E-1603-6415DC56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99FC77-40C7-4C49-9A19-86BDE9B75E8A}" type="slidenum">
              <a:rPr lang="en-CA" smtClean="0"/>
              <a:pPr/>
              <a:t>5</a:t>
            </a:fld>
            <a:endParaRPr lang="en-CA" sz="1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546AC0-D7B2-E9C1-C7EF-931782FA7585}"/>
              </a:ext>
            </a:extLst>
          </p:cNvPr>
          <p:cNvSpPr txBox="1"/>
          <p:nvPr/>
        </p:nvSpPr>
        <p:spPr>
          <a:xfrm>
            <a:off x="710184" y="1874728"/>
            <a:ext cx="9272016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Van Kempen M, et al. Fast and accurate protein structure search with Foldseek. Nat Biotechnol. 2024;42:243-246. DOI: 10.1038/s41587-023-01773-0</a:t>
            </a:r>
          </a:p>
          <a:p>
            <a:pPr marL="342900" lvl="0" indent="-342900">
              <a:spcAft>
                <a:spcPts val="600"/>
              </a:spcAft>
              <a:buFont typeface="+mj-lt"/>
              <a:buAutoNum type="arabicPeriod"/>
            </a:pPr>
            <a:r>
              <a:rPr lang="en-CA">
                <a:latin typeface="Georgia Pro" panose="02040502050405020303" pitchFamily="18" charset="0"/>
              </a:rPr>
              <a:t>Barrio-Hernandez I, et al. Clustering predicted protein structures at the scale of the known protein universe. Nature. 2023;622:637-645. DOI: 10.1038/s41586-023-06510-w</a:t>
            </a:r>
          </a:p>
        </p:txBody>
      </p:sp>
    </p:spTree>
    <p:extLst>
      <p:ext uri="{BB962C8B-B14F-4D97-AF65-F5344CB8AC3E}">
        <p14:creationId xmlns:p14="http://schemas.microsoft.com/office/powerpoint/2010/main" val="3665506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350</Words>
  <Application>Microsoft Office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Courier New</vt:lpstr>
      <vt:lpstr>Georgia Pro</vt:lpstr>
      <vt:lpstr>Verdana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Moran</dc:creator>
  <cp:lastModifiedBy>Julian Moran</cp:lastModifiedBy>
  <cp:revision>25</cp:revision>
  <dcterms:created xsi:type="dcterms:W3CDTF">2026-02-18T15:29:39Z</dcterms:created>
  <dcterms:modified xsi:type="dcterms:W3CDTF">2026-02-18T19:41:24Z</dcterms:modified>
</cp:coreProperties>
</file>