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57" r:id="rId5"/>
    <p:sldId id="262" r:id="rId6"/>
    <p:sldId id="261" r:id="rId7"/>
    <p:sldId id="263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0051D1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13E3E-99C3-4924-8BC9-8C32863166AD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7A837-00D9-4D65-B917-5078A695B72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7430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NOTE: I likely will not go through this slide, as Vinicius should cover this all in greater depth.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702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B3C6-A2BC-C3B1-506A-8131B297F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3E801-4BC0-6B2B-7FC7-B29FB1841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0A70C-0C28-ECE0-BD40-F0480F60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BED0B-9A42-47E0-99B1-1140364C30B4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2A2A-A3A8-9297-D445-44A045097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FAF0E-50E9-CFAB-5AC1-B1DDD125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/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131585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0AE21-B3EF-4E09-33C7-2E33D3F1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8B6E-2489-17F7-AC38-504F18539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2EA68-6958-10EC-6390-27D2256B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08598-67DE-4BE6-BEB8-5B4AD7D639ED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1898A-688D-BC8E-326B-46A857AE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DA61-5BEA-6307-B64A-9D099F34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233653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1EF2-2ED3-E6EC-04E0-72F62047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46345-DD50-7FC9-7EB6-915D804C9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233C9-0953-6711-B9E7-0F90648C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66D1-74AA-4722-8BFB-AF501A2625E3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BFC4-F161-5AA3-FE52-F7031771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F138-D73F-69A5-A8B1-F2438BF0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42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4ED86-CC4D-A1D6-FC40-BE440D5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0164-F141-4AE0-550B-720E82AD6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6031E-AF51-4DF8-4BC5-76C2F2A20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F6053-2514-A757-4FC0-43BAF77C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9686-7AEC-4770-8FC1-AB4CC0356AAE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9FCCD-E971-322F-D2DD-FFA496041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0AE17-1DD6-8965-2C0A-FDBBF8CB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7834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29DD-5D4C-EBD0-C792-6294BD36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3E603-38F4-DD3C-45D5-62B94CDAD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F6D11-C286-C1BC-2D08-925706D05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74F07-278E-C2BA-EA5E-D20A9FCD9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CC251-5459-0DE0-FCF6-E8B6DAF105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7E7015-AB8B-B2DC-DE0F-E185B253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5280D-47D4-4DF5-B319-35410514E3CC}" type="datetime1">
              <a:rPr lang="en-CA" smtClean="0"/>
              <a:t>2026-02-18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1E073-8F8B-E553-E098-861C001A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AFE91-D4AD-AA58-7BBA-0EAD4309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7415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8217-C413-8EA0-CC0B-125DB2168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E4532-9A5E-3AB1-2175-35706439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7DC5A-B795-4EBB-9B22-113083EFA19B}" type="datetime1">
              <a:rPr lang="en-CA" smtClean="0"/>
              <a:t>2026-02-18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CBF7F-3521-A8B4-6F0E-A2DD1D79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09FA-B374-D5B0-7774-7C3029A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4248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0CB9A-B3A8-DC6D-5988-CDD4C42D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70E04-2DE6-4889-BBA3-32DCF18A2ACD}" type="datetime1">
              <a:rPr lang="en-CA" smtClean="0"/>
              <a:t>2026-02-18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ADD8C2-0604-C847-6AC0-801D6EAB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C7735-BE18-5BD0-6E2C-860CD668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476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9523-A5DD-5A22-B42E-0E5390C8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BBC32-0615-7458-9D23-3B93CFE44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4FE7F-EA6B-E10B-A1FC-09FF88DF7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270E9-B813-394F-EE92-020FC6335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44DBB-4E79-48BF-AC5B-24508B3912E5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EB40F-6A1C-3990-C193-FB9AE802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AD608-FB89-606A-99D7-52D56F71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93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4DA6-7B3F-D216-0DD2-E88105C4B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DFAC7E-621A-4BD2-383D-1A4F7D262E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EAD27-8493-FFCF-8BE5-5034C3171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33605-69BA-70E0-7BA9-3C8F1D19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3298-8659-4232-B7C2-DF6F20A13C97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03F0D-9726-1314-908F-503F9841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2E8EF-DEF5-691E-ACAD-0CCDF39B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79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7ABA-2D44-A586-53F0-0462E915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46E0F-4399-B0E0-548D-1470C2936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6ABD-4368-383F-153C-01228E9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021F5-2C66-4B71-977D-F5801045D8C2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23F8B-413D-8599-1C4C-5D62E8DC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AACE-A292-7196-38B3-597E642B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75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B57576-59A4-845B-0DB1-E74928C00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6668-6004-D162-89A2-7AF287580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A3C-27AE-4DDB-3750-86FFD176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893F5-30BD-4E02-A794-2D37AE7D84CF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2D07-D98A-61C2-DC0D-387824DE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3364A-E572-644C-25DD-D67FA52C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921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8617C-9CE4-528D-642B-ABC4F259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27F8A-DB14-21AE-B65A-CBBCD11ED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8FAE-6D57-D485-45FB-15A0A57B1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5BB033-F7A7-49F1-99DC-A2B1E1BC777C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1E194-A560-5760-A266-4D735D0EE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E10B7-84EB-A0C2-63BE-12088A2C0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565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583DB1C-4BC3-D5C5-0B98-062C8270AB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32730"/>
            <a:ext cx="12192000" cy="682527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9E61EE-C9B7-D3CE-CD30-91B685DA01C8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542C8AE-2AB7-8319-E412-F9A288B13E93}"/>
              </a:ext>
            </a:extLst>
          </p:cNvPr>
          <p:cNvSpPr txBox="1"/>
          <p:nvPr/>
        </p:nvSpPr>
        <p:spPr>
          <a:xfrm>
            <a:off x="5198295" y="3239170"/>
            <a:ext cx="6616011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Bacterial anti-phage structural homology: update 1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4F5946-DD57-07A1-3245-051374CE686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2026-02-19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917246-DB80-E8F0-B6D3-7404470C69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5963E7-143E-076F-B646-7B0A8A6FE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F5741F7-B930-FEB1-2686-BEC1482F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151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62BA-96E7-CB3A-2EEF-8C1F3FD3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8ABA83-B6F1-E50E-A43F-EF53FC6B6C08}"/>
              </a:ext>
            </a:extLst>
          </p:cNvPr>
          <p:cNvSpPr/>
          <p:nvPr/>
        </p:nvSpPr>
        <p:spPr>
          <a:xfrm>
            <a:off x="845609" y="372998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/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1600" b="1" dirty="0">
                    <a:latin typeface="Georgia Pro" panose="02040502050405020303" pitchFamily="18" charset="0"/>
                  </a:rPr>
                  <a:t>Foldseek</a:t>
                </a:r>
                <a:r>
                  <a:rPr lang="en-US" sz="1600" dirty="0">
                    <a:latin typeface="Georgia Pro" panose="02040502050405020303" pitchFamily="18" charset="0"/>
                  </a:rPr>
                  <a:t>, a protein structure search algorithm, depends on </a:t>
                </a:r>
                <a:r>
                  <a:rPr lang="en-US" sz="1600" b="1" dirty="0">
                    <a:latin typeface="Georgia Pro" panose="02040502050405020303" pitchFamily="18" charset="0"/>
                  </a:rPr>
                  <a:t>3Di</a:t>
                </a:r>
                <a:r>
                  <a:rPr lang="en-US" sz="1600" dirty="0">
                    <a:latin typeface="Georgia Pro" panose="02040502050405020303" pitchFamily="18" charset="0"/>
                  </a:rPr>
                  <a:t>, a method for representing 3D folded protein structures as one-dimensional sequences of a 20-letter code.</a:t>
                </a:r>
                <a:r>
                  <a:rPr lang="en-US" sz="1600" baseline="30000" dirty="0">
                    <a:latin typeface="Georgia Pro" panose="02040502050405020303" pitchFamily="18" charset="0"/>
                  </a:rPr>
                  <a:t>1</a:t>
                </a:r>
                <a:endParaRPr lang="en-US" sz="1600" dirty="0">
                  <a:latin typeface="Georgia Pro" panose="02040502050405020303" pitchFamily="18" charset="0"/>
                  <a:cs typeface="Courier New" panose="02070309020205020404" pitchFamily="49" charset="0"/>
                </a:endParaRP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Each character in the 20-letter code is represented in the latent space between an autoencoder and decoder neural network.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autoencoder receives as input a 10-dimensional feature vector, where the features encapsulate the spatial relationship between two nearest spatial neighbor residues,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𝑗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, in the 3D structure.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blipFill>
                <a:blip r:embed="rId2"/>
                <a:stretch>
                  <a:fillRect l="-570" t="-771" r="-475" b="-231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8F04AFD-2ACE-842C-9BD9-ECC48CC83FE5}"/>
              </a:ext>
            </a:extLst>
          </p:cNvPr>
          <p:cNvSpPr txBox="1"/>
          <p:nvPr/>
        </p:nvSpPr>
        <p:spPr>
          <a:xfrm>
            <a:off x="987552" y="485512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3D8A36-3BEF-0B0F-88D9-198D0705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843" y="1104900"/>
            <a:ext cx="3740193" cy="4305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0CF7E-876A-A8A2-F053-557327004AF5}"/>
              </a:ext>
            </a:extLst>
          </p:cNvPr>
          <p:cNvSpPr txBox="1"/>
          <p:nvPr/>
        </p:nvSpPr>
        <p:spPr>
          <a:xfrm>
            <a:off x="8047736" y="5524500"/>
            <a:ext cx="354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Adapted from Barrio-Hernendez et al. 2023.</a:t>
            </a:r>
            <a:r>
              <a:rPr lang="en-US" sz="1400" baseline="300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1</a:t>
            </a:r>
            <a:endParaRPr lang="en-CA" sz="1400">
              <a:solidFill>
                <a:schemeClr val="bg1">
                  <a:lumMod val="75000"/>
                </a:schemeClr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7C51B-63F3-FEA2-5137-35C3AF828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z="1400" smtClean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fld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/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blipFill>
                <a:blip r:embed="rId4"/>
                <a:stretch>
                  <a:fillRect b="-1129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F89102A7-DEB7-10AC-BC47-305C94A38F0D}"/>
              </a:ext>
            </a:extLst>
          </p:cNvPr>
          <p:cNvGrpSpPr/>
          <p:nvPr/>
        </p:nvGrpSpPr>
        <p:grpSpPr>
          <a:xfrm>
            <a:off x="845609" y="4497110"/>
            <a:ext cx="2247900" cy="1859240"/>
            <a:chOff x="3429000" y="4701580"/>
            <a:chExt cx="2247900" cy="185924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30FEDEF-A6D4-B643-28F3-BD73A8B86D28}"/>
                </a:ext>
              </a:extLst>
            </p:cNvPr>
            <p:cNvGrpSpPr/>
            <p:nvPr/>
          </p:nvGrpSpPr>
          <p:grpSpPr>
            <a:xfrm>
              <a:off x="3513709" y="4728253"/>
              <a:ext cx="2096337" cy="1765086"/>
              <a:chOff x="3772468" y="4478224"/>
              <a:chExt cx="2096337" cy="176508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B8B62C-C308-1240-FE4A-5E9301A9EB87}"/>
                  </a:ext>
                </a:extLst>
              </p:cNvPr>
              <p:cNvCxnSpPr/>
              <p:nvPr/>
            </p:nvCxnSpPr>
            <p:spPr>
              <a:xfrm flipV="1">
                <a:off x="4277254" y="4838756"/>
                <a:ext cx="790575" cy="78105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BEEFF29-395D-EA53-5368-C2D138D71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7254" y="5619806"/>
                <a:ext cx="1024256" cy="24759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771E7-024D-B87A-5196-AD3B6935B3E8}"/>
                  </a:ext>
                </a:extLst>
              </p:cNvPr>
              <p:cNvSpPr txBox="1"/>
              <p:nvPr/>
            </p:nvSpPr>
            <p:spPr>
              <a:xfrm>
                <a:off x="4455371" y="5351411"/>
                <a:ext cx="4343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>
                    <a:latin typeface="Cambria Math" panose="02040503050406030204" pitchFamily="18" charset="0"/>
                    <a:ea typeface="Cambria Math" panose="02040503050406030204" pitchFamily="18" charset="0"/>
                  </a:rPr>
                  <a:t>θ</a:t>
                </a:r>
                <a:endParaRPr lang="en-CA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/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/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9024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/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4938" b="-7813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91993D5-1B5D-0713-39F3-1AAFED2EED4B}"/>
                </a:ext>
              </a:extLst>
            </p:cNvPr>
            <p:cNvSpPr/>
            <p:nvPr/>
          </p:nvSpPr>
          <p:spPr>
            <a:xfrm>
              <a:off x="3429000" y="4701580"/>
              <a:ext cx="2247900" cy="1859240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90092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506A4A-AC64-A85A-503D-AF2771A2918A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D71F2-ED93-AC2A-E919-57A0E4E48C2A}"/>
              </a:ext>
            </a:extLst>
          </p:cNvPr>
          <p:cNvSpPr txBox="1"/>
          <p:nvPr/>
        </p:nvSpPr>
        <p:spPr>
          <a:xfrm>
            <a:off x="845608" y="1922780"/>
            <a:ext cx="648787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en-US" sz="1600" b="1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</a:t>
            </a: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, a clustering algorithm, leverages both primary amino acid sequence homology and structural homology to group proteins together.</a:t>
            </a:r>
            <a:r>
              <a:rPr lang="en-US" sz="1600" baseline="30000" dirty="0">
                <a:latin typeface="Georgia Pro" panose="02040502050405020303" pitchFamily="18" charset="0"/>
                <a:cs typeface="Courier New" panose="02070309020205020404" pitchFamily="49" charset="0"/>
              </a:rPr>
              <a:t>2</a:t>
            </a:r>
            <a:endParaRPr lang="en-US" sz="1600" dirty="0"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It takes as input the entire AlphaFold database (214 million sequences and predicted structures) clustered with MMSeqs2, which uses primary amino acid sequence. Here, sequence cluster membership is thresheld at 50% sequence identity and 90% sequence alignment overlap, yielding 52 million clusters.</a:t>
            </a: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 then further clusters the 3Di sequences of "representative structures" (   ) from each cluster (i.e. structure with highest pLDDT), with membership thresheld at e-value 0.01 and 90% structural alignment overlap, yielding 19 million clusters.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9862E-67BD-690C-AE3D-A8F06A304190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362C-0F5D-C533-4AB1-071B7F7A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3</a:t>
            </a:fld>
            <a:endParaRPr lang="en-CA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E4B01-489E-5C2D-0B3D-F65A3C9BDD64}"/>
              </a:ext>
            </a:extLst>
          </p:cNvPr>
          <p:cNvGrpSpPr/>
          <p:nvPr/>
        </p:nvGrpSpPr>
        <p:grpSpPr>
          <a:xfrm>
            <a:off x="8220723" y="769622"/>
            <a:ext cx="1265130" cy="5414857"/>
            <a:chOff x="7973834" y="428159"/>
            <a:chExt cx="1427719" cy="61107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184B2CA-3FC0-55C8-EA04-9E0E3494D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1035"/>
            <a:stretch>
              <a:fillRect/>
            </a:stretch>
          </p:blipFill>
          <p:spPr>
            <a:xfrm>
              <a:off x="8178817" y="428159"/>
              <a:ext cx="863566" cy="149462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EC3EEF4-FE72-93EE-08CD-A578F0C59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834" y="2633471"/>
              <a:ext cx="1427719" cy="1342799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5498E5-29DD-B855-656B-1268D6DD0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5836" y="4420538"/>
              <a:ext cx="1016440" cy="2118374"/>
            </a:xfrm>
            <a:prstGeom prst="rect">
              <a:avLst/>
            </a:prstGeom>
          </p:spPr>
        </p:pic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2AD42A94-FAF9-4117-7840-F6D16DDEE7A7}"/>
                </a:ext>
              </a:extLst>
            </p:cNvPr>
            <p:cNvSpPr/>
            <p:nvPr/>
          </p:nvSpPr>
          <p:spPr>
            <a:xfrm rot="5400000">
              <a:off x="8356827" y="212004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5F98F415-00AB-67EB-9F64-B7388E0D4806}"/>
                </a:ext>
              </a:extLst>
            </p:cNvPr>
            <p:cNvSpPr/>
            <p:nvPr/>
          </p:nvSpPr>
          <p:spPr>
            <a:xfrm rot="5400000">
              <a:off x="8367507" y="408967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5B1E634-4FD6-483E-10E3-754606BB4796}"/>
              </a:ext>
            </a:extLst>
          </p:cNvPr>
          <p:cNvSpPr txBox="1"/>
          <p:nvPr/>
        </p:nvSpPr>
        <p:spPr>
          <a:xfrm>
            <a:off x="9167585" y="218700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MMSeqs2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A3273A-12AC-1936-9ACB-EA2A77ECDC9A}"/>
              </a:ext>
            </a:extLst>
          </p:cNvPr>
          <p:cNvSpPr txBox="1"/>
          <p:nvPr/>
        </p:nvSpPr>
        <p:spPr>
          <a:xfrm>
            <a:off x="9122664" y="3935707"/>
            <a:ext cx="261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Foldseek cluster</a:t>
            </a:r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28D6C1-ADB4-7F1D-D281-37A5411AE665}"/>
              </a:ext>
            </a:extLst>
          </p:cNvPr>
          <p:cNvSpPr txBox="1"/>
          <p:nvPr/>
        </p:nvSpPr>
        <p:spPr>
          <a:xfrm>
            <a:off x="9627319" y="97383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214 million protein sequences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0135AE-CF85-4488-741D-00F113793E9F}"/>
              </a:ext>
            </a:extLst>
          </p:cNvPr>
          <p:cNvSpPr txBox="1"/>
          <p:nvPr/>
        </p:nvSpPr>
        <p:spPr>
          <a:xfrm>
            <a:off x="9627319" y="2816694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52 million sequence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BF6988-3640-79F1-78A6-DD33977711A3}"/>
              </a:ext>
            </a:extLst>
          </p:cNvPr>
          <p:cNvSpPr txBox="1"/>
          <p:nvPr/>
        </p:nvSpPr>
        <p:spPr>
          <a:xfrm>
            <a:off x="9627319" y="477954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Arial" panose="020B0604020202020204" pitchFamily="34" charset="0"/>
              </a:rPr>
              <a:t>19 million Foldseek clusters</a:t>
            </a:r>
            <a:endParaRPr lang="en-CA" sz="1400" dirty="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9FA050-54EA-FD81-6D49-E2C07497EBD5}"/>
              </a:ext>
            </a:extLst>
          </p:cNvPr>
          <p:cNvSpPr/>
          <p:nvPr/>
        </p:nvSpPr>
        <p:spPr>
          <a:xfrm>
            <a:off x="3550920" y="4509516"/>
            <a:ext cx="154858" cy="16002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35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4DD25F-C079-98B5-D407-70A510C609B0}"/>
              </a:ext>
            </a:extLst>
          </p:cNvPr>
          <p:cNvSpPr/>
          <p:nvPr/>
        </p:nvSpPr>
        <p:spPr>
          <a:xfrm>
            <a:off x="845609" y="725423"/>
            <a:ext cx="7917391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4E578-3FDE-5C1D-35AE-47A79F4E684B}"/>
              </a:ext>
            </a:extLst>
          </p:cNvPr>
          <p:cNvSpPr txBox="1"/>
          <p:nvPr/>
        </p:nvSpPr>
        <p:spPr>
          <a:xfrm>
            <a:off x="768096" y="2011680"/>
            <a:ext cx="927201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</a:rPr>
              <a:t>Which human proteins in the Foldseek cluster dataset exhibit strong homology with bacterial immune system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2400" dirty="0">
              <a:latin typeface="Verdana Pro" panose="020B060403050404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endParaRPr lang="en-US" sz="2400" dirty="0">
              <a:latin typeface="Verdana Pro" panose="020B0604030504040204" pitchFamily="34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Based on the structural homology, can we </a:t>
            </a:r>
            <a:r>
              <a:rPr lang="en-US" sz="2400" dirty="0" err="1">
                <a:latin typeface="Georgia Pro" panose="02040502050405020303" pitchFamily="18" charset="0"/>
                <a:cs typeface="Courier New" panose="02070309020205020404" pitchFamily="49" charset="0"/>
              </a:rPr>
              <a:t>hypothesise</a:t>
            </a: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 about previously </a:t>
            </a:r>
            <a:r>
              <a:rPr lang="en-US" sz="2400" dirty="0" err="1">
                <a:latin typeface="Georgia Pro" panose="02040502050405020303" pitchFamily="18" charset="0"/>
                <a:cs typeface="Courier New" panose="02070309020205020404" pitchFamily="49" charset="0"/>
              </a:rPr>
              <a:t>uncharacterised</a:t>
            </a: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 functions of the human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dirty="0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CAE3-AB36-FC47-6B44-8DC681B5189D}"/>
              </a:ext>
            </a:extLst>
          </p:cNvPr>
          <p:cNvSpPr txBox="1"/>
          <p:nvPr/>
        </p:nvSpPr>
        <p:spPr>
          <a:xfrm>
            <a:off x="987552" y="761737"/>
            <a:ext cx="557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Research questions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CB2A2-9134-88C1-0B43-B74BA483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0809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FF9267-68B8-3BE3-A98A-747856E0EF47}"/>
              </a:ext>
            </a:extLst>
          </p:cNvPr>
          <p:cNvSpPr/>
          <p:nvPr/>
        </p:nvSpPr>
        <p:spPr>
          <a:xfrm>
            <a:off x="366637" y="275480"/>
            <a:ext cx="7917391" cy="7260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E2D577-1E20-E537-D9AC-C4C42D92B93B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A Jain pipeline summary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26950E-4CDF-CC4F-D749-BD292832C9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029" y="1338941"/>
            <a:ext cx="2090059" cy="2090059"/>
          </a:xfrm>
          <a:prstGeom prst="ellipse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9DD760-25A1-952C-6013-6AC669564AF2}"/>
              </a:ext>
            </a:extLst>
          </p:cNvPr>
          <p:cNvSpPr txBox="1"/>
          <p:nvPr/>
        </p:nvSpPr>
        <p:spPr>
          <a:xfrm>
            <a:off x="8284028" y="3429000"/>
            <a:ext cx="209005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Georgia Pro" panose="02040502050405020303" pitchFamily="18" charset="0"/>
              </a:rPr>
              <a:t>Anjali Jain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Bioinformatician at the Centre for Computational Medicine (CCM)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3D6E2-018F-F240-F1D8-DA0C26A5859D}"/>
              </a:ext>
            </a:extLst>
          </p:cNvPr>
          <p:cNvSpPr txBox="1"/>
          <p:nvPr/>
        </p:nvSpPr>
        <p:spPr>
          <a:xfrm>
            <a:off x="2996183" y="5564666"/>
            <a:ext cx="3564709" cy="92333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CA" dirty="0" err="1">
                <a:latin typeface="Verdana Pro" panose="020B0604030504040204" pitchFamily="34" charset="0"/>
              </a:rPr>
              <a:t>UniprotKB</a:t>
            </a:r>
            <a:r>
              <a:rPr lang="en-CA" dirty="0">
                <a:latin typeface="Verdana Pro" panose="020B0604030504040204" pitchFamily="34" charset="0"/>
              </a:rPr>
              <a:t> annotations for 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4B9A0-65AB-D3B9-0DF4-A1F03444D005}"/>
              </a:ext>
            </a:extLst>
          </p:cNvPr>
          <p:cNvSpPr txBox="1"/>
          <p:nvPr/>
        </p:nvSpPr>
        <p:spPr>
          <a:xfrm>
            <a:off x="2615184" y="1463533"/>
            <a:ext cx="422452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RefSeq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F9F3B-E774-A0F7-D09E-D950DB7C73A8}"/>
              </a:ext>
            </a:extLst>
          </p:cNvPr>
          <p:cNvSpPr txBox="1"/>
          <p:nvPr/>
        </p:nvSpPr>
        <p:spPr>
          <a:xfrm>
            <a:off x="2889504" y="2204139"/>
            <a:ext cx="367588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UniProt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BEBDC6-CB78-10C7-35E8-F914B31880F6}"/>
              </a:ext>
            </a:extLst>
          </p:cNvPr>
          <p:cNvSpPr txBox="1"/>
          <p:nvPr/>
        </p:nvSpPr>
        <p:spPr>
          <a:xfrm>
            <a:off x="2889504" y="2950314"/>
            <a:ext cx="3675888" cy="64633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Foldseek clusters containing DefenseFinder proteins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3C7BB-A136-63C0-C4EF-3A912685EFCA}"/>
              </a:ext>
            </a:extLst>
          </p:cNvPr>
          <p:cNvSpPr txBox="1"/>
          <p:nvPr/>
        </p:nvSpPr>
        <p:spPr>
          <a:xfrm>
            <a:off x="2940594" y="4008642"/>
            <a:ext cx="3675888" cy="120032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proteins and their homologous </a:t>
            </a:r>
            <a:r>
              <a:rPr lang="en-US" i="1" dirty="0">
                <a:latin typeface="Verdana Pro" panose="020B0604030504040204" pitchFamily="34" charset="0"/>
              </a:rPr>
              <a:t>H. sapiens</a:t>
            </a:r>
            <a:r>
              <a:rPr lang="en-US" dirty="0">
                <a:latin typeface="Verdana Pro" panose="020B0604030504040204" pitchFamily="34" charset="0"/>
              </a:rPr>
              <a:t> proteins (based on cluster similarity)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E73F904-E2A4-9FD5-295A-44564D46AC45}"/>
              </a:ext>
            </a:extLst>
          </p:cNvPr>
          <p:cNvSpPr/>
          <p:nvPr/>
        </p:nvSpPr>
        <p:spPr>
          <a:xfrm>
            <a:off x="4636008" y="1901952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EE150987-00EA-DC4E-6EF7-B33FBF33FC50}"/>
              </a:ext>
            </a:extLst>
          </p:cNvPr>
          <p:cNvSpPr/>
          <p:nvPr/>
        </p:nvSpPr>
        <p:spPr>
          <a:xfrm>
            <a:off x="4636008" y="265580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B021541-69C8-8059-93C6-A8E7CAE79327}"/>
              </a:ext>
            </a:extLst>
          </p:cNvPr>
          <p:cNvSpPr/>
          <p:nvPr/>
        </p:nvSpPr>
        <p:spPr>
          <a:xfrm>
            <a:off x="4636008" y="368492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0F5CEEFD-5B19-B315-65FA-C099CD67D796}"/>
              </a:ext>
            </a:extLst>
          </p:cNvPr>
          <p:cNvSpPr/>
          <p:nvPr/>
        </p:nvSpPr>
        <p:spPr>
          <a:xfrm>
            <a:off x="4636008" y="5270805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8DE71-5FFA-E044-08A1-09A25D2E58D3}"/>
              </a:ext>
            </a:extLst>
          </p:cNvPr>
          <p:cNvSpPr txBox="1"/>
          <p:nvPr/>
        </p:nvSpPr>
        <p:spPr>
          <a:xfrm>
            <a:off x="6716630" y="5570465"/>
            <a:ext cx="27066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321,575 protein pairs for the Zorya, Vipirin, and Gasdermin bacterial immune systems</a:t>
            </a:r>
          </a:p>
        </p:txBody>
      </p:sp>
    </p:spTree>
    <p:extLst>
      <p:ext uri="{BB962C8B-B14F-4D97-AF65-F5344CB8AC3E}">
        <p14:creationId xmlns:p14="http://schemas.microsoft.com/office/powerpoint/2010/main" val="3686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5BC284-1C37-BDC1-0835-D765741632D6}"/>
              </a:ext>
            </a:extLst>
          </p:cNvPr>
          <p:cNvSpPr/>
          <p:nvPr/>
        </p:nvSpPr>
        <p:spPr>
          <a:xfrm>
            <a:off x="366637" y="275480"/>
            <a:ext cx="7917391" cy="71207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85E96A-B47A-F8E9-37E7-32EFB0A00396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Downstream prioritization</a:t>
            </a:r>
            <a:endParaRPr lang="en-US" sz="2000" b="1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BAABF-1AAA-E264-AB5D-709BE1E3244E}"/>
              </a:ext>
            </a:extLst>
          </p:cNvPr>
          <p:cNvSpPr txBox="1"/>
          <p:nvPr/>
        </p:nvSpPr>
        <p:spPr>
          <a:xfrm>
            <a:off x="724552" y="123981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321,575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9647F595-9119-C810-03D9-B9DF50819D27}"/>
              </a:ext>
            </a:extLst>
          </p:cNvPr>
          <p:cNvSpPr/>
          <p:nvPr/>
        </p:nvSpPr>
        <p:spPr>
          <a:xfrm>
            <a:off x="2306775" y="2472035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66EFA-21A0-13A8-F7E4-8964D82A62A9}"/>
              </a:ext>
            </a:extLst>
          </p:cNvPr>
          <p:cNvSpPr txBox="1"/>
          <p:nvPr/>
        </p:nvSpPr>
        <p:spPr>
          <a:xfrm>
            <a:off x="724552" y="330124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3F11252-A2BB-4859-9D96-C1FD460DC7B6}"/>
              </a:ext>
            </a:extLst>
          </p:cNvPr>
          <p:cNvSpPr/>
          <p:nvPr/>
        </p:nvSpPr>
        <p:spPr>
          <a:xfrm>
            <a:off x="2306775" y="4671263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9A94BD-85E0-019B-6FD7-D396DE211EB9}"/>
              </a:ext>
            </a:extLst>
          </p:cNvPr>
          <p:cNvSpPr txBox="1"/>
          <p:nvPr/>
        </p:nvSpPr>
        <p:spPr>
          <a:xfrm>
            <a:off x="724550" y="5436204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34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C78FFA-CF61-EA63-94CC-4279F5467693}"/>
              </a:ext>
            </a:extLst>
          </p:cNvPr>
          <p:cNvSpPr txBox="1"/>
          <p:nvPr/>
        </p:nvSpPr>
        <p:spPr>
          <a:xfrm>
            <a:off x="2904523" y="4788026"/>
            <a:ext cx="3593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Protein_length_difference ≤ 0.05 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377CA6-9A23-742C-577B-ECBDEA9E98A8}"/>
              </a:ext>
            </a:extLst>
          </p:cNvPr>
          <p:cNvSpPr txBox="1"/>
          <p:nvPr/>
        </p:nvSpPr>
        <p:spPr>
          <a:xfrm>
            <a:off x="2904523" y="2472035"/>
            <a:ext cx="35931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DefenseFinder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cluster_id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==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H. sapiens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cluster_id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4ECE2338-E962-3219-2BEC-675AA0198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48" t="11704" r="7567"/>
          <a:stretch>
            <a:fillRect/>
          </a:stretch>
        </p:blipFill>
        <p:spPr>
          <a:xfrm>
            <a:off x="7134078" y="3630656"/>
            <a:ext cx="4901914" cy="299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66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DC9F86-20C5-B794-C66D-13171E103DFD}"/>
              </a:ext>
            </a:extLst>
          </p:cNvPr>
          <p:cNvSpPr txBox="1"/>
          <p:nvPr/>
        </p:nvSpPr>
        <p:spPr>
          <a:xfrm>
            <a:off x="294784" y="265438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same-cluster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F7EF653-1BC7-4E64-765E-E1F0D14C2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0" t="10879" r="8279"/>
          <a:stretch>
            <a:fillRect/>
          </a:stretch>
        </p:blipFill>
        <p:spPr>
          <a:xfrm>
            <a:off x="6611112" y="1510389"/>
            <a:ext cx="4258034" cy="4154880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E2AA96C-16EB-A891-3710-9215F0D67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733694"/>
              </p:ext>
            </p:extLst>
          </p:nvPr>
        </p:nvGraphicFramePr>
        <p:xfrm>
          <a:off x="294784" y="1843913"/>
          <a:ext cx="5575836" cy="37573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87918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278791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242487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G profiler GO terms 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24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 err="1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hydrolysis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5.32E-14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ATP-dependent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8.18E-12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7434380"/>
                  </a:ext>
                </a:extLst>
              </a:tr>
              <a:tr h="412919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ribonucleoside triphosphate phosphatase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5.90E-10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0033294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pyrophosphatase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1.10E-09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406690"/>
                  </a:ext>
                </a:extLst>
              </a:tr>
              <a:tr h="412919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1.11E-09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5402240"/>
                  </a:ext>
                </a:extLst>
              </a:tr>
              <a:tr h="821956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anhydrides, in phosphorus-containing anhydrides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1.11E-09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78652"/>
                  </a:ext>
                </a:extLst>
              </a:tr>
              <a:tr h="26365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condensed chromosome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7.14E-09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7212222"/>
                  </a:ext>
                </a:extLst>
              </a:tr>
              <a:tr h="26365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condensed nuclear chromosome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8.75E-09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70983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binding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1.13E-08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4408269"/>
                  </a:ext>
                </a:extLst>
              </a:tr>
              <a:tr h="26365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chromosome organization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1.19E-08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926589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0476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7C029-F809-4563-FEDC-0FE2666AD68F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295EC-59E3-A151-A598-185D8DFFA3C9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63B0A-77DC-F94E-1603-6415DC56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46AC0-D7B2-E9C1-C7EF-931782FA7585}"/>
              </a:ext>
            </a:extLst>
          </p:cNvPr>
          <p:cNvSpPr txBox="1"/>
          <p:nvPr/>
        </p:nvSpPr>
        <p:spPr>
          <a:xfrm>
            <a:off x="710184" y="1874728"/>
            <a:ext cx="927201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Van Kempen M, et al. Fast and accurate protein structure search with Foldseek. Nat Biotechnol. 2024;42:243-246. DOI: 10.1038/s41587-023-01773-0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Barrio-Hernandez I, et al. Clustering predicted protein structures at the scale of the known protein universe. Nature. 2023;622:637-645. DOI: 10.1038/s41586-023-06510-w</a:t>
            </a:r>
          </a:p>
        </p:txBody>
      </p:sp>
    </p:spTree>
    <p:extLst>
      <p:ext uri="{BB962C8B-B14F-4D97-AF65-F5344CB8AC3E}">
        <p14:creationId xmlns:p14="http://schemas.microsoft.com/office/powerpoint/2010/main" val="3665506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550</Words>
  <Application>Microsoft Office PowerPoint</Application>
  <PresentationFormat>Widescreen</PresentationFormat>
  <Paragraphs>85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Courier New</vt:lpstr>
      <vt:lpstr>Georgia Pro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50</cp:revision>
  <dcterms:created xsi:type="dcterms:W3CDTF">2026-02-18T15:29:39Z</dcterms:created>
  <dcterms:modified xsi:type="dcterms:W3CDTF">2026-02-18T22:06:52Z</dcterms:modified>
</cp:coreProperties>
</file>