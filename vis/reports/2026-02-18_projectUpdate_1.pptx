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7"/>
  </p:notesMasterIdLst>
  <p:sldIdLst>
    <p:sldId id="256" r:id="rId2"/>
    <p:sldId id="258" r:id="rId3"/>
    <p:sldId id="259" r:id="rId4"/>
    <p:sldId id="257" r:id="rId5"/>
    <p:sldId id="260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F1F1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>
        <p:scale>
          <a:sx n="100" d="100"/>
          <a:sy n="100" d="100"/>
        </p:scale>
        <p:origin x="954" y="1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CA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0213E3E-99C3-4924-8BC9-8C32863166AD}" type="datetimeFigureOut">
              <a:rPr lang="en-CA" smtClean="0"/>
              <a:t>2026-02-18</a:t>
            </a:fld>
            <a:endParaRPr lang="en-CA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CA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0C7A837-00D9-4D65-B917-5078A695B722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8743063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4AB3C6-A2BC-C3B1-506A-8131B297FC9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FF3E801-4BC0-6B2B-7FC7-B29FB184131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AE0A70C-0C28-ECE0-BD40-F0480F60BA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ABED0B-9A42-47E0-99B1-1140364C30B4}" type="datetime1">
              <a:rPr lang="en-CA" smtClean="0"/>
              <a:t>2026-02-18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7F82A2A-A3A8-9297-D445-44A045097A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F6FAF0E-50E9-CFAB-5AC1-B1DDD1254E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1400"/>
            </a:lvl1pPr>
          </a:lstStyle>
          <a:p>
            <a:fld id="{3899FC77-40C7-4C49-9A19-86BDE9B75E8A}" type="slidenum">
              <a:rPr lang="en-CA" smtClean="0"/>
              <a:pPr/>
              <a:t>‹#›</a:t>
            </a:fld>
            <a:endParaRPr lang="en-CA" sz="1400"/>
          </a:p>
        </p:txBody>
      </p:sp>
    </p:spTree>
    <p:extLst>
      <p:ext uri="{BB962C8B-B14F-4D97-AF65-F5344CB8AC3E}">
        <p14:creationId xmlns:p14="http://schemas.microsoft.com/office/powerpoint/2010/main" val="131585420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60AE21-B3EF-4E09-33C7-2E33D3F1CA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A48B6E-2489-17F7-AC38-504F1853953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0B2EA68-6958-10EC-6390-27D2256B0B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508598-67DE-4BE6-BEB8-5B4AD7D639ED}" type="datetime1">
              <a:rPr lang="en-CA" smtClean="0"/>
              <a:t>2026-02-18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8F1898A-688D-BC8E-326B-46A857AE9C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F1DA61-5BEA-6307-B64A-9D099F34A6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1400">
                <a:latin typeface="Courier New" panose="02070309020205020404" pitchFamily="49" charset="0"/>
                <a:cs typeface="Courier New" panose="02070309020205020404" pitchFamily="49" charset="0"/>
              </a:defRPr>
            </a:lvl1pPr>
          </a:lstStyle>
          <a:p>
            <a:fld id="{3899FC77-40C7-4C49-9A19-86BDE9B75E8A}" type="slidenum">
              <a:rPr lang="en-CA" smtClean="0"/>
              <a:pPr/>
              <a:t>‹#›</a:t>
            </a:fld>
            <a:endParaRPr lang="en-CA" sz="1400"/>
          </a:p>
        </p:txBody>
      </p:sp>
    </p:spTree>
    <p:extLst>
      <p:ext uri="{BB962C8B-B14F-4D97-AF65-F5344CB8AC3E}">
        <p14:creationId xmlns:p14="http://schemas.microsoft.com/office/powerpoint/2010/main" val="23365300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B21EF2-2ED3-E6EC-04E0-72F62047AD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FB46345-DD50-7FC9-7EB6-915D804C93A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2A233C9-0953-6711-B9E7-0F90648C85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6566D1-74AA-4722-8BFB-AF501A2625E3}" type="datetime1">
              <a:rPr lang="en-CA" smtClean="0"/>
              <a:t>2026-02-18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EBCBFC4-F161-5AA3-FE52-F703177181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68F138-D73F-69A5-A8B1-F2438BF03C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99FC77-40C7-4C49-9A19-86BDE9B75E8A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28427235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04ED86-CC4D-A1D6-FC40-BE440D5C7F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6E0164-F141-4AE0-550B-720E82AD66B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5D6031E-AF51-4DF8-4BC5-76C2F2A20C2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D8F6053-2514-A757-4FC0-43BAF77C25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8E9686-7AEC-4770-8FC1-AB4CC0356AAE}" type="datetime1">
              <a:rPr lang="en-CA" smtClean="0"/>
              <a:t>2026-02-18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FF9FCCD-E971-322F-D2DD-FFA496041C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F70AE17-1DD6-8965-2C0A-FDBBF8CB7D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99FC77-40C7-4C49-9A19-86BDE9B75E8A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47783414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9429DD-5D4C-EBD0-C792-6294BD368D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E03E603-38F4-DD3C-45D5-62B94CDAD39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76F6D11-C286-C1BC-2D08-925706D05AC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E574F07-278E-C2BA-EA5E-D20A9FCD92A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7DCC251-5459-0DE0-FCF6-E8B6DAF1057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87E7015-AB8B-B2DC-DE0F-E185B25318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A5280D-47D4-4DF5-B319-35410514E3CC}" type="datetime1">
              <a:rPr lang="en-CA" smtClean="0"/>
              <a:t>2026-02-18</a:t>
            </a:fld>
            <a:endParaRPr lang="en-CA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AF1E073-8F8B-E553-E098-861C001AA9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14AFE91-D4AD-AA58-7BBA-0EAD43097F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99FC77-40C7-4C49-9A19-86BDE9B75E8A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58741557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938217-C413-8EA0-CC0B-125DB21689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F8E4532-9A5E-3AB1-2175-3570643972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67DC5A-B795-4EBB-9B22-113083EFA19B}" type="datetime1">
              <a:rPr lang="en-CA" smtClean="0"/>
              <a:t>2026-02-18</a:t>
            </a:fld>
            <a:endParaRPr lang="en-CA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F5CBF7F-3521-A8B4-6F0E-A2DD1D79C5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02A09FA-B374-D5B0-7774-7C3029AAB9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99FC77-40C7-4C49-9A19-86BDE9B75E8A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7642481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A50CB9A-B3A8-DC6D-5988-CDD4C42D71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D70E04-2DE6-4889-BBA3-32DCF18A2ACD}" type="datetime1">
              <a:rPr lang="en-CA" smtClean="0"/>
              <a:t>2026-02-18</a:t>
            </a:fld>
            <a:endParaRPr lang="en-CA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9ADD8C2-0604-C847-6AC0-801D6EAB44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CDC7735-BE18-5BD0-6E2C-860CD6685C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99FC77-40C7-4C49-9A19-86BDE9B75E8A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8247686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D79523-A5DD-5A22-B42E-0E5390C8B7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7BBC32-0615-7458-9D23-3B93CFE44CF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EC4FE7F-EA6B-E10B-A1FC-09FF88DF7DD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E6270E9-B813-394F-EE92-020FC6335E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944DBB-4E79-48BF-AC5B-24508B3912E5}" type="datetime1">
              <a:rPr lang="en-CA" smtClean="0"/>
              <a:t>2026-02-18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10EB40F-6A1C-3990-C193-FB9AE802E5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58AD608-FB89-606A-99D7-52D56F713E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99FC77-40C7-4C49-9A19-86BDE9B75E8A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9693021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1C4DA6-7B3F-D216-0DD2-E88105C4B7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FDFAC7E-621A-4BD2-383D-1A4F7D262E8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C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8FEAD27-8493-FFCF-8BE5-5034C317193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EB33605-69BA-70E0-7BA9-3C8F1D199A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DF3298-8659-4232-B7C2-DF6F20A13C97}" type="datetime1">
              <a:rPr lang="en-CA" smtClean="0"/>
              <a:t>2026-02-18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3C03F0D-9726-1314-908F-503F9841C1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522E8EF-DEF5-691E-ACAD-0CCDF39B95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99FC77-40C7-4C49-9A19-86BDE9B75E8A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7767918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3B7ABA-2D44-A586-53F0-0462E9159F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BE46E0F-4399-B0E0-548D-1470C2936DF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2DD6ABD-4368-383F-153C-01228E954F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5021F5-2C66-4B71-977D-F5801045D8C2}" type="datetime1">
              <a:rPr lang="en-CA" smtClean="0"/>
              <a:t>2026-02-18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A23F8B-413D-8599-1C4C-5D62E8DC10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2E0AACE-A292-7196-38B3-597E642B1C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99FC77-40C7-4C49-9A19-86BDE9B75E8A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5037509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FB57576-59A4-845B-0DB1-E74928C008D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5D76668-6004-D162-89A2-7AF28758088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DC4CA3C-27AE-4DDB-3750-86FFD176A6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A893F5-30BD-4E02-A794-2D37AE7D84CF}" type="datetime1">
              <a:rPr lang="en-CA" smtClean="0"/>
              <a:t>2026-02-18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E1D2D07-D98A-61C2-DC0D-387824DE12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F23364A-E572-644C-25DD-D67FA52C48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99FC77-40C7-4C49-9A19-86BDE9B75E8A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85921861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DF8617C-9CE4-528D-642B-ABC4F259F8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FC27F8A-DB14-21AE-B65A-CBBCD11EDE7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8A8FAE-6D57-D485-45FB-15A0A57B133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15BB033-F7A7-49F1-99DC-A2B1E1BC777C}" type="datetime1">
              <a:rPr lang="en-CA" smtClean="0"/>
              <a:t>2026-02-18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71E194-A560-5760-A266-4D735D0EE48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26E10B7-84EB-A0C2-63BE-12088A2C01E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899FC77-40C7-4C49-9A19-86BDE9B75E8A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2456555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jp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Relationship Id="rId9" Type="http://schemas.openxmlformats.org/officeDocument/2006/relationships/image" Target="../media/image11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F1F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C583DB1C-4BC3-D5C5-0B98-062C8270AB2F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50000"/>
          </a:blip>
          <a:srcRect r="28491"/>
          <a:stretch>
            <a:fillRect/>
          </a:stretch>
        </p:blipFill>
        <p:spPr>
          <a:xfrm>
            <a:off x="0" y="32730"/>
            <a:ext cx="12192000" cy="6825270"/>
          </a:xfrm>
          <a:prstGeom prst="rect">
            <a:avLst/>
          </a:prstGeom>
        </p:spPr>
      </p:pic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869E61EE-C9B7-D3CE-CD30-91B685DA01C8}"/>
              </a:ext>
            </a:extLst>
          </p:cNvPr>
          <p:cNvSpPr/>
          <p:nvPr/>
        </p:nvSpPr>
        <p:spPr>
          <a:xfrm>
            <a:off x="3140752" y="3239170"/>
            <a:ext cx="8944825" cy="3332606"/>
          </a:xfrm>
          <a:prstGeom prst="roundRect">
            <a:avLst/>
          </a:prstGeom>
          <a:solidFill>
            <a:srgbClr val="0162B3"/>
          </a:solidFill>
          <a:ln>
            <a:solidFill>
              <a:srgbClr val="0162B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CA"/>
          </a:p>
        </p:txBody>
      </p:sp>
      <p:sp>
        <p:nvSpPr>
          <p:cNvPr id="6" name="TextBox 13">
            <a:extLst>
              <a:ext uri="{FF2B5EF4-FFF2-40B4-BE49-F238E27FC236}">
                <a16:creationId xmlns:a16="http://schemas.microsoft.com/office/drawing/2014/main" id="{A542C8AE-2AB7-8319-E412-F9A288B13E93}"/>
              </a:ext>
            </a:extLst>
          </p:cNvPr>
          <p:cNvSpPr txBox="1"/>
          <p:nvPr/>
        </p:nvSpPr>
        <p:spPr>
          <a:xfrm>
            <a:off x="5198295" y="3239170"/>
            <a:ext cx="6616011" cy="12772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endParaRPr lang="en-US" sz="2400" b="1">
              <a:solidFill>
                <a:schemeClr val="bg1"/>
              </a:solidFill>
              <a:latin typeface="Georgia Pro" panose="02040502050405020303" pitchFamily="18" charset="0"/>
              <a:cs typeface="Courier New" panose="02070309020205020404" pitchFamily="49" charset="0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lang="en-US" sz="240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Bacterial anti-phage structural homology: update 1</a:t>
            </a:r>
          </a:p>
        </p:txBody>
      </p:sp>
      <p:sp>
        <p:nvSpPr>
          <p:cNvPr id="7" name="Subtitle 2">
            <a:extLst>
              <a:ext uri="{FF2B5EF4-FFF2-40B4-BE49-F238E27FC236}">
                <a16:creationId xmlns:a16="http://schemas.microsoft.com/office/drawing/2014/main" id="{2F4F5946-DD57-07A1-3245-051374CE6869}"/>
              </a:ext>
            </a:extLst>
          </p:cNvPr>
          <p:cNvSpPr>
            <a:spLocks noGrp="1"/>
          </p:cNvSpPr>
          <p:nvPr/>
        </p:nvSpPr>
        <p:spPr>
          <a:xfrm>
            <a:off x="5202143" y="4850131"/>
            <a:ext cx="5580778" cy="159479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lang="en-US" sz="140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Julian Moran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lang="en-US" sz="140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2026-02-19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lang="en-US" sz="140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The Centre for Applied Genomics, SickKids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C3917246-DB80-E8F0-B6D3-7404470C695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84668" y="156850"/>
            <a:ext cx="2322549" cy="744968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D85963E7-143E-076F-B646-7B0A8A6FEC2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26946" y="3423854"/>
            <a:ext cx="1400078" cy="2907728"/>
          </a:xfrm>
          <a:prstGeom prst="rect">
            <a:avLst/>
          </a:prstGeom>
        </p:spPr>
      </p:pic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DF5741F7-B930-FEB1-2686-BEC1482FA2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11321" y="6492875"/>
            <a:ext cx="2743200" cy="365125"/>
          </a:xfrm>
        </p:spPr>
        <p:txBody>
          <a:bodyPr/>
          <a:lstStyle/>
          <a:p>
            <a:fld id="{3899FC77-40C7-4C49-9A19-86BDE9B75E8A}" type="slidenum">
              <a:rPr lang="en-CA" smtClean="0">
                <a:latin typeface="Courier New" panose="02070309020205020404" pitchFamily="49" charset="0"/>
                <a:cs typeface="Courier New" panose="02070309020205020404" pitchFamily="49" charset="0"/>
              </a:rPr>
              <a:t>1</a:t>
            </a:fld>
            <a:endParaRPr lang="en-CA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9315165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B562BA-96E7-CB3A-2EEF-8C1F3FD380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3A8ABA83-B6F1-E50E-A43F-EF53FC6B6C08}"/>
              </a:ext>
            </a:extLst>
          </p:cNvPr>
          <p:cNvSpPr/>
          <p:nvPr/>
        </p:nvSpPr>
        <p:spPr>
          <a:xfrm>
            <a:off x="845609" y="372998"/>
            <a:ext cx="4704799" cy="649225"/>
          </a:xfrm>
          <a:prstGeom prst="roundRect">
            <a:avLst/>
          </a:prstGeom>
          <a:solidFill>
            <a:srgbClr val="0162B3"/>
          </a:solidFill>
          <a:ln>
            <a:solidFill>
              <a:srgbClr val="0162B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CA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04816639-416F-378A-9CD6-0190AB9F607C}"/>
                  </a:ext>
                </a:extLst>
              </p:cNvPr>
              <p:cNvSpPr txBox="1"/>
              <p:nvPr/>
            </p:nvSpPr>
            <p:spPr>
              <a:xfrm>
                <a:off x="845609" y="1437005"/>
                <a:ext cx="6863291" cy="289310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just">
                  <a:spcAft>
                    <a:spcPts val="1200"/>
                  </a:spcAft>
                </a:pPr>
                <a:r>
                  <a:rPr lang="en-US" b="1">
                    <a:latin typeface="Georgia Pro" panose="02040502050405020303" pitchFamily="18" charset="0"/>
                  </a:rPr>
                  <a:t>Foldseek</a:t>
                </a:r>
                <a:r>
                  <a:rPr lang="en-US">
                    <a:latin typeface="Georgia Pro" panose="02040502050405020303" pitchFamily="18" charset="0"/>
                  </a:rPr>
                  <a:t>, a structure search algorithm, depends on </a:t>
                </a:r>
                <a:r>
                  <a:rPr lang="en-US" b="1">
                    <a:latin typeface="Georgia Pro" panose="02040502050405020303" pitchFamily="18" charset="0"/>
                  </a:rPr>
                  <a:t>3Di</a:t>
                </a:r>
                <a:r>
                  <a:rPr lang="en-US">
                    <a:latin typeface="Georgia Pro" panose="02040502050405020303" pitchFamily="18" charset="0"/>
                  </a:rPr>
                  <a:t>, a method for representing 3D folded protein structures as one-dimensional sequences of a 20-letter code.</a:t>
                </a:r>
                <a:r>
                  <a:rPr lang="en-US" baseline="30000">
                    <a:latin typeface="Georgia Pro" panose="02040502050405020303" pitchFamily="18" charset="0"/>
                  </a:rPr>
                  <a:t>1</a:t>
                </a:r>
                <a:endParaRPr lang="en-US">
                  <a:latin typeface="Georgia Pro" panose="02040502050405020303" pitchFamily="18" charset="0"/>
                  <a:cs typeface="Courier New" panose="02070309020205020404" pitchFamily="49" charset="0"/>
                </a:endParaRPr>
              </a:p>
              <a:p>
                <a:pPr algn="just">
                  <a:spcAft>
                    <a:spcPts val="1200"/>
                  </a:spcAft>
                </a:pPr>
                <a:r>
                  <a:rPr lang="en-US">
                    <a:latin typeface="Georgia Pro" panose="02040502050405020303" pitchFamily="18" charset="0"/>
                    <a:cs typeface="Courier New" panose="02070309020205020404" pitchFamily="49" charset="0"/>
                  </a:rPr>
                  <a:t>Each character in the 20-letter code is represented in the latent space between an autoencoder and decoder neural network.</a:t>
                </a:r>
              </a:p>
              <a:p>
                <a:pPr algn="just">
                  <a:spcAft>
                    <a:spcPts val="1200"/>
                  </a:spcAft>
                </a:pPr>
                <a:r>
                  <a:rPr lang="en-US">
                    <a:latin typeface="Georgia Pro" panose="02040502050405020303" pitchFamily="18" charset="0"/>
                    <a:cs typeface="Courier New" panose="02070309020205020404" pitchFamily="49" charset="0"/>
                  </a:rPr>
                  <a:t>The autoencoder receives as input a 10-dimensional feature vector, where the features encapsulate the spatial relatinship between two nearest spatial neighbor residues,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  <a:cs typeface="Courier New" panose="02070309020205020404" pitchFamily="49" charset="0"/>
                      </a:rPr>
                      <m:t>𝑖</m:t>
                    </m:r>
                  </m:oMath>
                </a14:m>
                <a:r>
                  <a:rPr lang="en-US">
                    <a:latin typeface="Georgia Pro" panose="02040502050405020303" pitchFamily="18" charset="0"/>
                    <a:cs typeface="Courier New" panose="02070309020205020404" pitchFamily="49" charset="0"/>
                  </a:rPr>
                  <a:t> and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  <a:cs typeface="Courier New" panose="02070309020205020404" pitchFamily="49" charset="0"/>
                      </a:rPr>
                      <m:t>𝑗</m:t>
                    </m:r>
                  </m:oMath>
                </a14:m>
                <a:r>
                  <a:rPr lang="en-US">
                    <a:latin typeface="Georgia Pro" panose="02040502050405020303" pitchFamily="18" charset="0"/>
                    <a:cs typeface="Courier New" panose="02070309020205020404" pitchFamily="49" charset="0"/>
                  </a:rPr>
                  <a:t>, in the 3D structure.</a:t>
                </a:r>
              </a:p>
            </p:txBody>
          </p:sp>
        </mc:Choice>
        <mc:Fallback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04816639-416F-378A-9CD6-0190AB9F607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5609" y="1437005"/>
                <a:ext cx="6863291" cy="2893100"/>
              </a:xfrm>
              <a:prstGeom prst="rect">
                <a:avLst/>
              </a:prstGeom>
              <a:blipFill>
                <a:blip r:embed="rId2"/>
                <a:stretch>
                  <a:fillRect l="-799" t="-1266" r="-710" b="-2532"/>
                </a:stretch>
              </a:blipFill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extBox 5">
            <a:extLst>
              <a:ext uri="{FF2B5EF4-FFF2-40B4-BE49-F238E27FC236}">
                <a16:creationId xmlns:a16="http://schemas.microsoft.com/office/drawing/2014/main" id="{D8F04AFD-2ACE-842C-9BD9-ECC48CC83FE5}"/>
              </a:ext>
            </a:extLst>
          </p:cNvPr>
          <p:cNvSpPr txBox="1"/>
          <p:nvPr/>
        </p:nvSpPr>
        <p:spPr>
          <a:xfrm>
            <a:off x="987552" y="485512"/>
            <a:ext cx="353872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>
                <a:solidFill>
                  <a:schemeClr val="bg1"/>
                </a:solidFill>
                <a:latin typeface="Georgia Pro" panose="02040502050405020303" pitchFamily="18" charset="0"/>
              </a:rPr>
              <a:t>Background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93D8A36-3BEF-0B0F-88D9-198D0705345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65143" y="1285875"/>
            <a:ext cx="3740193" cy="43053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3B20CF7E-876A-A8A2-F053-557327004AF5}"/>
              </a:ext>
            </a:extLst>
          </p:cNvPr>
          <p:cNvSpPr txBox="1"/>
          <p:nvPr/>
        </p:nvSpPr>
        <p:spPr>
          <a:xfrm>
            <a:off x="8162036" y="5705475"/>
            <a:ext cx="35433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>
                <a:solidFill>
                  <a:schemeClr val="bg1">
                    <a:lumMod val="75000"/>
                  </a:schemeClr>
                </a:solidFill>
                <a:latin typeface="Georgia Pro" panose="02040502050405020303" pitchFamily="18" charset="0"/>
              </a:rPr>
              <a:t>Adapted from Barrio-Hernendez et al. 2023.</a:t>
            </a:r>
            <a:r>
              <a:rPr lang="en-US" sz="1400" baseline="30000">
                <a:solidFill>
                  <a:schemeClr val="bg1">
                    <a:lumMod val="75000"/>
                  </a:schemeClr>
                </a:solidFill>
                <a:latin typeface="Georgia Pro" panose="02040502050405020303" pitchFamily="18" charset="0"/>
              </a:rPr>
              <a:t>1</a:t>
            </a:r>
            <a:endParaRPr lang="en-CA" sz="1400">
              <a:solidFill>
                <a:schemeClr val="bg1">
                  <a:lumMod val="75000"/>
                </a:schemeClr>
              </a:solidFill>
              <a:latin typeface="Georgia Pro" panose="02040502050405020303" pitchFamily="18" charset="0"/>
            </a:endParaRP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6B07C51B-63F3-FEA2-5137-35C3AF8281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99FC77-40C7-4C49-9A19-86BDE9B75E8A}" type="slidenum">
              <a:rPr lang="en-CA" sz="1400" smtClean="0">
                <a:latin typeface="Courier New" panose="02070309020205020404" pitchFamily="49" charset="0"/>
                <a:cs typeface="Courier New" panose="02070309020205020404" pitchFamily="49" charset="0"/>
              </a:rPr>
              <a:t>2</a:t>
            </a:fld>
            <a:endParaRPr lang="en-CA" sz="140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0A097EA0-0839-740D-BBC5-BA05C224566A}"/>
                  </a:ext>
                </a:extLst>
              </p:cNvPr>
              <p:cNvSpPr txBox="1"/>
              <p:nvPr/>
            </p:nvSpPr>
            <p:spPr>
              <a:xfrm>
                <a:off x="3271626" y="5191111"/>
                <a:ext cx="1646131" cy="38151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mtClean="0">
                          <a:latin typeface="Cambria Math" panose="02040503050406030204" pitchFamily="18" charset="0"/>
                        </a:rPr>
                        <m:t>c</m:t>
                      </m:r>
                      <m:r>
                        <m:rPr>
                          <m:sty m:val="p"/>
                        </m:rPr>
                        <a:rPr lang="en-US" b="0" i="0" smtClean="0">
                          <a:latin typeface="Cambria Math" panose="02040503050406030204" pitchFamily="18" charset="0"/>
                        </a:rPr>
                        <m:t>os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⁡(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l-GR" b="0" i="1" smtClean="0">
                              <a:latin typeface="Cambria Math" panose="02040503050406030204" pitchFamily="18" charset="0"/>
                            </a:rPr>
                            <m:t>θ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𝑢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1,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𝑢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CA"/>
              </a:p>
            </p:txBody>
          </p:sp>
        </mc:Choice>
        <mc:Fallback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0A097EA0-0839-740D-BBC5-BA05C224566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71626" y="5191111"/>
                <a:ext cx="1646131" cy="381515"/>
              </a:xfrm>
              <a:prstGeom prst="rect">
                <a:avLst/>
              </a:prstGeom>
              <a:blipFill>
                <a:blip r:embed="rId4"/>
                <a:stretch>
                  <a:fillRect b="-11290"/>
                </a:stretch>
              </a:blipFill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6" name="Group 25">
            <a:extLst>
              <a:ext uri="{FF2B5EF4-FFF2-40B4-BE49-F238E27FC236}">
                <a16:creationId xmlns:a16="http://schemas.microsoft.com/office/drawing/2014/main" id="{F89102A7-DEB7-10AC-BC47-305C94A38F0D}"/>
              </a:ext>
            </a:extLst>
          </p:cNvPr>
          <p:cNvGrpSpPr/>
          <p:nvPr/>
        </p:nvGrpSpPr>
        <p:grpSpPr>
          <a:xfrm>
            <a:off x="845609" y="4497110"/>
            <a:ext cx="2247900" cy="1859240"/>
            <a:chOff x="3429000" y="4701580"/>
            <a:chExt cx="2247900" cy="1859240"/>
          </a:xfrm>
        </p:grpSpPr>
        <p:grpSp>
          <p:nvGrpSpPr>
            <p:cNvPr id="24" name="Group 23">
              <a:extLst>
                <a:ext uri="{FF2B5EF4-FFF2-40B4-BE49-F238E27FC236}">
                  <a16:creationId xmlns:a16="http://schemas.microsoft.com/office/drawing/2014/main" id="{830FEDEF-A6D4-B643-28F3-BD73A8B86D28}"/>
                </a:ext>
              </a:extLst>
            </p:cNvPr>
            <p:cNvGrpSpPr/>
            <p:nvPr/>
          </p:nvGrpSpPr>
          <p:grpSpPr>
            <a:xfrm>
              <a:off x="3513709" y="4728253"/>
              <a:ext cx="2096337" cy="1765086"/>
              <a:chOff x="3772468" y="4478224"/>
              <a:chExt cx="2096337" cy="1765086"/>
            </a:xfrm>
          </p:grpSpPr>
          <p:cxnSp>
            <p:nvCxnSpPr>
              <p:cNvPr id="11" name="Straight Arrow Connector 10">
                <a:extLst>
                  <a:ext uri="{FF2B5EF4-FFF2-40B4-BE49-F238E27FC236}">
                    <a16:creationId xmlns:a16="http://schemas.microsoft.com/office/drawing/2014/main" id="{75B8B62C-C308-1240-FE4A-5E9301A9EB87}"/>
                  </a:ext>
                </a:extLst>
              </p:cNvPr>
              <p:cNvCxnSpPr/>
              <p:nvPr/>
            </p:nvCxnSpPr>
            <p:spPr>
              <a:xfrm flipV="1">
                <a:off x="4277254" y="4838756"/>
                <a:ext cx="790575" cy="781050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" name="Straight Arrow Connector 11">
                <a:extLst>
                  <a:ext uri="{FF2B5EF4-FFF2-40B4-BE49-F238E27FC236}">
                    <a16:creationId xmlns:a16="http://schemas.microsoft.com/office/drawing/2014/main" id="{0BEEFF29-395D-EA53-5368-C2D138D71E0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277254" y="5619806"/>
                <a:ext cx="1024256" cy="247594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B23771E7-024D-B87A-5196-AD3B6935B3E8}"/>
                  </a:ext>
                </a:extLst>
              </p:cNvPr>
              <p:cNvSpPr txBox="1"/>
              <p:nvPr/>
            </p:nvSpPr>
            <p:spPr>
              <a:xfrm>
                <a:off x="4455371" y="5351411"/>
                <a:ext cx="43434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l-GR">
                    <a:latin typeface="Cambria Math" panose="02040503050406030204" pitchFamily="18" charset="0"/>
                    <a:ea typeface="Cambria Math" panose="02040503050406030204" pitchFamily="18" charset="0"/>
                  </a:rPr>
                  <a:t>θ</a:t>
                </a:r>
                <a:endParaRPr lang="en-CA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19" name="TextBox 18">
                    <a:extLst>
                      <a:ext uri="{FF2B5EF4-FFF2-40B4-BE49-F238E27FC236}">
                        <a16:creationId xmlns:a16="http://schemas.microsoft.com/office/drawing/2014/main" id="{B1625727-0CDF-3232-4C8C-95B4A4D84218}"/>
                      </a:ext>
                    </a:extLst>
                  </p:cNvPr>
                  <p:cNvSpPr txBox="1"/>
                  <p:nvPr/>
                </p:nvSpPr>
                <p:spPr>
                  <a:xfrm>
                    <a:off x="4294081" y="4776220"/>
                    <a:ext cx="495301" cy="369332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𝑢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oMath>
                      </m:oMathPara>
                    </a14:m>
                    <a:endParaRPr lang="en-CA">
                      <a:latin typeface="Cambria Math" panose="02040503050406030204" pitchFamily="18" charset="0"/>
                      <a:ea typeface="Cambria Math" panose="02040503050406030204" pitchFamily="18" charset="0"/>
                    </a:endParaRPr>
                  </a:p>
                </p:txBody>
              </p:sp>
            </mc:Choice>
            <mc:Fallback>
              <p:sp>
                <p:nvSpPr>
                  <p:cNvPr id="19" name="TextBox 18">
                    <a:extLst>
                      <a:ext uri="{FF2B5EF4-FFF2-40B4-BE49-F238E27FC236}">
                        <a16:creationId xmlns:a16="http://schemas.microsoft.com/office/drawing/2014/main" id="{B1625727-0CDF-3232-4C8C-95B4A4D84218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294081" y="4776220"/>
                    <a:ext cx="495301" cy="369332"/>
                  </a:xfrm>
                  <a:prstGeom prst="rect">
                    <a:avLst/>
                  </a:prstGeom>
                  <a:blipFill>
                    <a:blip r:embed="rId5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CA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20" name="TextBox 19">
                    <a:extLst>
                      <a:ext uri="{FF2B5EF4-FFF2-40B4-BE49-F238E27FC236}">
                        <a16:creationId xmlns:a16="http://schemas.microsoft.com/office/drawing/2014/main" id="{9F7317A6-2337-8614-16AB-86123AA2E5FB}"/>
                      </a:ext>
                    </a:extLst>
                  </p:cNvPr>
                  <p:cNvSpPr txBox="1"/>
                  <p:nvPr/>
                </p:nvSpPr>
                <p:spPr>
                  <a:xfrm>
                    <a:off x="4395891" y="5873978"/>
                    <a:ext cx="495301" cy="369332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𝑢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oMath>
                      </m:oMathPara>
                    </a14:m>
                    <a:endParaRPr lang="en-CA">
                      <a:latin typeface="Cambria Math" panose="02040503050406030204" pitchFamily="18" charset="0"/>
                      <a:ea typeface="Cambria Math" panose="02040503050406030204" pitchFamily="18" charset="0"/>
                    </a:endParaRPr>
                  </a:p>
                </p:txBody>
              </p:sp>
            </mc:Choice>
            <mc:Fallback>
              <p:sp>
                <p:nvSpPr>
                  <p:cNvPr id="20" name="TextBox 19">
                    <a:extLst>
                      <a:ext uri="{FF2B5EF4-FFF2-40B4-BE49-F238E27FC236}">
                        <a16:creationId xmlns:a16="http://schemas.microsoft.com/office/drawing/2014/main" id="{9F7317A6-2337-8614-16AB-86123AA2E5FB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395891" y="5873978"/>
                    <a:ext cx="495301" cy="369332"/>
                  </a:xfrm>
                  <a:prstGeom prst="rect">
                    <a:avLst/>
                  </a:prstGeom>
                  <a:blipFill>
                    <a:blip r:embed="rId6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CA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21" name="TextBox 20">
                    <a:extLst>
                      <a:ext uri="{FF2B5EF4-FFF2-40B4-BE49-F238E27FC236}">
                        <a16:creationId xmlns:a16="http://schemas.microsoft.com/office/drawing/2014/main" id="{75933132-7A80-DBF7-9E50-D8A8701C5480}"/>
                      </a:ext>
                    </a:extLst>
                  </p:cNvPr>
                  <p:cNvSpPr txBox="1"/>
                  <p:nvPr/>
                </p:nvSpPr>
                <p:spPr>
                  <a:xfrm>
                    <a:off x="3772468" y="5536077"/>
                    <a:ext cx="495301" cy="381515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𝐶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l-GR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α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oMath>
                      </m:oMathPara>
                    </a14:m>
                    <a:endParaRPr lang="en-CA">
                      <a:latin typeface="Cambria Math" panose="02040503050406030204" pitchFamily="18" charset="0"/>
                      <a:ea typeface="Cambria Math" panose="02040503050406030204" pitchFamily="18" charset="0"/>
                    </a:endParaRPr>
                  </a:p>
                </p:txBody>
              </p:sp>
            </mc:Choice>
            <mc:Fallback>
              <p:sp>
                <p:nvSpPr>
                  <p:cNvPr id="21" name="TextBox 20">
                    <a:extLst>
                      <a:ext uri="{FF2B5EF4-FFF2-40B4-BE49-F238E27FC236}">
                        <a16:creationId xmlns:a16="http://schemas.microsoft.com/office/drawing/2014/main" id="{75933132-7A80-DBF7-9E50-D8A8701C5480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3772468" y="5536077"/>
                    <a:ext cx="495301" cy="381515"/>
                  </a:xfrm>
                  <a:prstGeom prst="rect">
                    <a:avLst/>
                  </a:prstGeom>
                  <a:blipFill>
                    <a:blip r:embed="rId7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CA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22" name="TextBox 21">
                    <a:extLst>
                      <a:ext uri="{FF2B5EF4-FFF2-40B4-BE49-F238E27FC236}">
                        <a16:creationId xmlns:a16="http://schemas.microsoft.com/office/drawing/2014/main" id="{95876399-88BE-485D-B7CD-64F3FAADD2DE}"/>
                      </a:ext>
                    </a:extLst>
                  </p:cNvPr>
                  <p:cNvSpPr txBox="1"/>
                  <p:nvPr/>
                </p:nvSpPr>
                <p:spPr>
                  <a:xfrm>
                    <a:off x="5045625" y="4478224"/>
                    <a:ext cx="495301" cy="381515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𝐶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l-GR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α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−1</m:t>
                              </m:r>
                            </m:sub>
                          </m:sSub>
                        </m:oMath>
                      </m:oMathPara>
                    </a14:m>
                    <a:endParaRPr lang="en-CA">
                      <a:latin typeface="Cambria Math" panose="02040503050406030204" pitchFamily="18" charset="0"/>
                      <a:ea typeface="Cambria Math" panose="02040503050406030204" pitchFamily="18" charset="0"/>
                    </a:endParaRPr>
                  </a:p>
                </p:txBody>
              </p:sp>
            </mc:Choice>
            <mc:Fallback>
              <p:sp>
                <p:nvSpPr>
                  <p:cNvPr id="22" name="TextBox 21">
                    <a:extLst>
                      <a:ext uri="{FF2B5EF4-FFF2-40B4-BE49-F238E27FC236}">
                        <a16:creationId xmlns:a16="http://schemas.microsoft.com/office/drawing/2014/main" id="{95876399-88BE-485D-B7CD-64F3FAADD2DE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045625" y="4478224"/>
                    <a:ext cx="495301" cy="381515"/>
                  </a:xfrm>
                  <a:prstGeom prst="rect">
                    <a:avLst/>
                  </a:prstGeom>
                  <a:blipFill>
                    <a:blip r:embed="rId8"/>
                    <a:stretch>
                      <a:fillRect r="-39024"/>
                    </a:stretch>
                  </a:blipFill>
                </p:spPr>
                <p:txBody>
                  <a:bodyPr/>
                  <a:lstStyle/>
                  <a:p>
                    <a:r>
                      <a:rPr lang="en-CA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23" name="TextBox 22">
                    <a:extLst>
                      <a:ext uri="{FF2B5EF4-FFF2-40B4-BE49-F238E27FC236}">
                        <a16:creationId xmlns:a16="http://schemas.microsoft.com/office/drawing/2014/main" id="{12199813-2201-34AF-6C91-87BAF70F9204}"/>
                      </a:ext>
                    </a:extLst>
                  </p:cNvPr>
                  <p:cNvSpPr txBox="1"/>
                  <p:nvPr/>
                </p:nvSpPr>
                <p:spPr>
                  <a:xfrm>
                    <a:off x="5373504" y="5764384"/>
                    <a:ext cx="495301" cy="391646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𝐶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l-GR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α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</m:oMath>
                      </m:oMathPara>
                    </a14:m>
                    <a:endParaRPr lang="en-CA">
                      <a:latin typeface="Cambria Math" panose="02040503050406030204" pitchFamily="18" charset="0"/>
                      <a:ea typeface="Cambria Math" panose="02040503050406030204" pitchFamily="18" charset="0"/>
                    </a:endParaRPr>
                  </a:p>
                </p:txBody>
              </p:sp>
            </mc:Choice>
            <mc:Fallback>
              <p:sp>
                <p:nvSpPr>
                  <p:cNvPr id="23" name="TextBox 22">
                    <a:extLst>
                      <a:ext uri="{FF2B5EF4-FFF2-40B4-BE49-F238E27FC236}">
                        <a16:creationId xmlns:a16="http://schemas.microsoft.com/office/drawing/2014/main" id="{12199813-2201-34AF-6C91-87BAF70F9204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373504" y="5764384"/>
                    <a:ext cx="495301" cy="391646"/>
                  </a:xfrm>
                  <a:prstGeom prst="rect">
                    <a:avLst/>
                  </a:prstGeom>
                  <a:blipFill>
                    <a:blip r:embed="rId9"/>
                    <a:stretch>
                      <a:fillRect r="-4938" b="-7813"/>
                    </a:stretch>
                  </a:blipFill>
                </p:spPr>
                <p:txBody>
                  <a:bodyPr/>
                  <a:lstStyle/>
                  <a:p>
                    <a:r>
                      <a:rPr lang="en-CA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891993D5-1B5D-0713-39F3-1AAFED2EED4B}"/>
                </a:ext>
              </a:extLst>
            </p:cNvPr>
            <p:cNvSpPr/>
            <p:nvPr/>
          </p:nvSpPr>
          <p:spPr>
            <a:xfrm>
              <a:off x="3429000" y="4701580"/>
              <a:ext cx="2247900" cy="1859240"/>
            </a:xfrm>
            <a:prstGeom prst="rect">
              <a:avLst/>
            </a:prstGeom>
            <a:noFill/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</p:grpSp>
    </p:spTree>
    <p:extLst>
      <p:ext uri="{BB962C8B-B14F-4D97-AF65-F5344CB8AC3E}">
        <p14:creationId xmlns:p14="http://schemas.microsoft.com/office/powerpoint/2010/main" val="339009244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35506A4A-AC64-A85A-503D-AF2771A2918A}"/>
              </a:ext>
            </a:extLst>
          </p:cNvPr>
          <p:cNvSpPr/>
          <p:nvPr/>
        </p:nvSpPr>
        <p:spPr>
          <a:xfrm>
            <a:off x="845609" y="649223"/>
            <a:ext cx="4704799" cy="649225"/>
          </a:xfrm>
          <a:prstGeom prst="roundRect">
            <a:avLst/>
          </a:prstGeom>
          <a:solidFill>
            <a:srgbClr val="0162B3"/>
          </a:solidFill>
          <a:ln>
            <a:solidFill>
              <a:srgbClr val="0162B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CA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E4D71F2-ED93-AC2A-E919-57A0E4E48C2A}"/>
              </a:ext>
            </a:extLst>
          </p:cNvPr>
          <p:cNvSpPr txBox="1"/>
          <p:nvPr/>
        </p:nvSpPr>
        <p:spPr>
          <a:xfrm>
            <a:off x="845609" y="1808480"/>
            <a:ext cx="7739591" cy="30777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spcAft>
                <a:spcPts val="1200"/>
              </a:spcAft>
            </a:pPr>
            <a:r>
              <a:rPr lang="en-US" b="1">
                <a:latin typeface="Georgia Pro" panose="02040502050405020303" pitchFamily="18" charset="0"/>
                <a:cs typeface="Courier New" panose="02070309020205020404" pitchFamily="49" charset="0"/>
              </a:rPr>
              <a:t>Foldseek cluster</a:t>
            </a:r>
            <a:r>
              <a:rPr lang="en-US">
                <a:latin typeface="Georgia Pro" panose="02040502050405020303" pitchFamily="18" charset="0"/>
                <a:cs typeface="Courier New" panose="02070309020205020404" pitchFamily="49" charset="0"/>
              </a:rPr>
              <a:t>, a clustering algorithm, leverages both amino acid sequence and structural homology in grouping proteins together.</a:t>
            </a:r>
          </a:p>
          <a:p>
            <a:pPr algn="just">
              <a:spcAft>
                <a:spcPts val="1200"/>
              </a:spcAft>
            </a:pPr>
            <a:endParaRPr lang="en-US">
              <a:latin typeface="Georgia Pro" panose="02040502050405020303" pitchFamily="18" charset="0"/>
              <a:cs typeface="Courier New" panose="02070309020205020404" pitchFamily="49" charset="0"/>
            </a:endParaRPr>
          </a:p>
          <a:p>
            <a:pPr algn="just">
              <a:spcAft>
                <a:spcPts val="1200"/>
              </a:spcAft>
            </a:pPr>
            <a:endParaRPr lang="en-US">
              <a:latin typeface="Georgia Pro" panose="02040502050405020303" pitchFamily="18" charset="0"/>
              <a:cs typeface="Courier New" panose="02070309020205020404" pitchFamily="49" charset="0"/>
            </a:endParaRPr>
          </a:p>
          <a:p>
            <a:pPr algn="just">
              <a:spcAft>
                <a:spcPts val="1200"/>
              </a:spcAft>
            </a:pPr>
            <a:r>
              <a:rPr lang="en-US">
                <a:latin typeface="Georgia Pro" panose="02040502050405020303" pitchFamily="18" charset="0"/>
                <a:cs typeface="Courier New" panose="02070309020205020404" pitchFamily="49" charset="0"/>
              </a:rPr>
              <a:t>takes these 3Di sequences as input and groups proteins in accordance with their structural homology.</a:t>
            </a:r>
          </a:p>
          <a:p>
            <a:pPr algn="just">
              <a:spcAft>
                <a:spcPts val="1200"/>
              </a:spcAft>
            </a:pPr>
            <a:endParaRPr lang="en-US">
              <a:latin typeface="Georgia Pro" panose="02040502050405020303" pitchFamily="18" charset="0"/>
              <a:cs typeface="Courier New" panose="02070309020205020404" pitchFamily="49" charset="0"/>
            </a:endParaRPr>
          </a:p>
          <a:p>
            <a:pPr algn="just">
              <a:spcAft>
                <a:spcPts val="1200"/>
              </a:spcAft>
            </a:pPr>
            <a:endParaRPr lang="en-US">
              <a:latin typeface="Georgia Pro" panose="02040502050405020303" pitchFamily="18" charset="0"/>
              <a:cs typeface="Courier New" panose="02070309020205020404" pitchFamily="49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B49862E-67BD-690C-AE3D-A8F06A304190}"/>
              </a:ext>
            </a:extLst>
          </p:cNvPr>
          <p:cNvSpPr txBox="1"/>
          <p:nvPr/>
        </p:nvSpPr>
        <p:spPr>
          <a:xfrm>
            <a:off x="987552" y="761737"/>
            <a:ext cx="353872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>
                <a:solidFill>
                  <a:schemeClr val="bg1"/>
                </a:solidFill>
                <a:latin typeface="Georgia Pro" panose="02040502050405020303" pitchFamily="18" charset="0"/>
              </a:rPr>
              <a:t>Background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47A362C-0F5D-C533-4AB1-071B7F7AAD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99FC77-40C7-4C49-9A19-86BDE9B75E8A}" type="slidenum">
              <a:rPr lang="en-CA" smtClean="0"/>
              <a:t>3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44635804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3A4DD25F-C079-98B5-D407-70A510C609B0}"/>
              </a:ext>
            </a:extLst>
          </p:cNvPr>
          <p:cNvSpPr/>
          <p:nvPr/>
        </p:nvSpPr>
        <p:spPr>
          <a:xfrm>
            <a:off x="845609" y="725423"/>
            <a:ext cx="7917391" cy="649225"/>
          </a:xfrm>
          <a:prstGeom prst="roundRect">
            <a:avLst/>
          </a:prstGeom>
          <a:solidFill>
            <a:srgbClr val="0162B3"/>
          </a:solidFill>
          <a:ln>
            <a:solidFill>
              <a:srgbClr val="0162B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CA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E34E578-3FDE-5C1D-35AE-47A79F4E684B}"/>
              </a:ext>
            </a:extLst>
          </p:cNvPr>
          <p:cNvSpPr txBox="1"/>
          <p:nvPr/>
        </p:nvSpPr>
        <p:spPr>
          <a:xfrm>
            <a:off x="768096" y="2011680"/>
            <a:ext cx="9272016" cy="32932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spcAft>
                <a:spcPts val="1200"/>
              </a:spcAft>
              <a:buFont typeface="+mj-lt"/>
              <a:buAutoNum type="arabicPeriod"/>
            </a:pPr>
            <a:r>
              <a:rPr lang="en-US" sz="2400">
                <a:latin typeface="Georgia Pro" panose="02040502050405020303" pitchFamily="18" charset="0"/>
              </a:rPr>
              <a:t>Which human proteins in the Foldseek cluster dataset exhibit high structural homology with bacterial immune system proteins?</a:t>
            </a:r>
            <a:endParaRPr lang="en-US" sz="240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1"/>
            <a:endParaRPr lang="en-US" sz="2400">
              <a:latin typeface="Verdana Pro" panose="020B0604030504040204" pitchFamily="34" charset="0"/>
            </a:endParaRPr>
          </a:p>
          <a:p>
            <a:pPr marL="914400" lvl="1" indent="-457200">
              <a:buFont typeface="+mj-lt"/>
              <a:buAutoNum type="arabicPeriod"/>
            </a:pPr>
            <a:endParaRPr lang="en-US" sz="2400">
              <a:latin typeface="Verdana Pro" panose="020B0604030504040204" pitchFamily="34" charset="0"/>
            </a:endParaRPr>
          </a:p>
          <a:p>
            <a:pPr marL="457200" indent="-457200">
              <a:spcAft>
                <a:spcPts val="1200"/>
              </a:spcAft>
              <a:buFont typeface="+mj-lt"/>
              <a:buAutoNum type="arabicPeriod"/>
            </a:pPr>
            <a:r>
              <a:rPr lang="en-US" sz="2400">
                <a:latin typeface="Georgia Pro" panose="02040502050405020303" pitchFamily="18" charset="0"/>
                <a:cs typeface="Courier New" panose="02070309020205020404" pitchFamily="49" charset="0"/>
              </a:rPr>
              <a:t>Based on the structural homology, can we hypothesise about previously uncharacterised functions of the human proteins?</a:t>
            </a:r>
            <a:endParaRPr lang="en-US" sz="240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 sz="2000">
              <a:latin typeface="Verdana Pro" panose="020B060403050404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032CAE3-AB36-FC47-6B44-8DC681B5189D}"/>
              </a:ext>
            </a:extLst>
          </p:cNvPr>
          <p:cNvSpPr txBox="1"/>
          <p:nvPr/>
        </p:nvSpPr>
        <p:spPr>
          <a:xfrm>
            <a:off x="987552" y="761737"/>
            <a:ext cx="557834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>
                <a:solidFill>
                  <a:schemeClr val="bg1"/>
                </a:solidFill>
                <a:latin typeface="Georgia Pro" panose="02040502050405020303" pitchFamily="18" charset="0"/>
              </a:rPr>
              <a:t>Research questions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D2CB2A2-9134-88C1-0B43-B74BA48352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99FC77-40C7-4C49-9A19-86BDE9B75E8A}" type="slidenum">
              <a:rPr lang="en-CA" smtClean="0"/>
              <a:t>4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72080961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5A67C029-F809-4563-FEDC-0FE2666AD68F}"/>
              </a:ext>
            </a:extLst>
          </p:cNvPr>
          <p:cNvSpPr/>
          <p:nvPr/>
        </p:nvSpPr>
        <p:spPr>
          <a:xfrm>
            <a:off x="845609" y="649223"/>
            <a:ext cx="4704799" cy="649225"/>
          </a:xfrm>
          <a:prstGeom prst="roundRect">
            <a:avLst/>
          </a:prstGeom>
          <a:solidFill>
            <a:srgbClr val="0162B3"/>
          </a:solidFill>
          <a:ln>
            <a:solidFill>
              <a:srgbClr val="0162B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CA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84295EC-59E3-A151-A598-185D8DFFA3C9}"/>
              </a:ext>
            </a:extLst>
          </p:cNvPr>
          <p:cNvSpPr txBox="1"/>
          <p:nvPr/>
        </p:nvSpPr>
        <p:spPr>
          <a:xfrm>
            <a:off x="987552" y="761737"/>
            <a:ext cx="353872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>
                <a:solidFill>
                  <a:schemeClr val="bg1"/>
                </a:solidFill>
                <a:latin typeface="Georgia Pro" panose="02040502050405020303" pitchFamily="18" charset="0"/>
              </a:rPr>
              <a:t>References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AA63B0A-77DC-F94E-1603-6415DC566D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99FC77-40C7-4C49-9A19-86BDE9B75E8A}" type="slidenum">
              <a:rPr lang="en-CA" smtClean="0"/>
              <a:pPr/>
              <a:t>5</a:t>
            </a:fld>
            <a:endParaRPr lang="en-CA" sz="140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4546AC0-D7B2-E9C1-C7EF-931782FA7585}"/>
              </a:ext>
            </a:extLst>
          </p:cNvPr>
          <p:cNvSpPr txBox="1"/>
          <p:nvPr/>
        </p:nvSpPr>
        <p:spPr>
          <a:xfrm>
            <a:off x="768096" y="2011680"/>
            <a:ext cx="927201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lvl="0" indent="-342900">
              <a:spcAft>
                <a:spcPts val="600"/>
              </a:spcAft>
              <a:buFont typeface="+mj-lt"/>
              <a:buAutoNum type="arabicPeriod"/>
            </a:pPr>
            <a:r>
              <a:rPr lang="en-CA">
                <a:latin typeface="Georgia Pro" panose="02040502050405020303" pitchFamily="18" charset="0"/>
              </a:rPr>
              <a:t>Van Kempen M, et al. Fast and accurate protein structure search with Foldseek. Nat Biotechnol. 2024;42:243-246. DOI: 10.1038/s41587-023-01773-0</a:t>
            </a:r>
          </a:p>
        </p:txBody>
      </p:sp>
    </p:spTree>
    <p:extLst>
      <p:ext uri="{BB962C8B-B14F-4D97-AF65-F5344CB8AC3E}">
        <p14:creationId xmlns:p14="http://schemas.microsoft.com/office/powerpoint/2010/main" val="366550612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218</TotalTime>
  <Words>226</Words>
  <Application>Microsoft Office PowerPoint</Application>
  <PresentationFormat>Widescreen</PresentationFormat>
  <Paragraphs>34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3" baseType="lpstr">
      <vt:lpstr>Aptos</vt:lpstr>
      <vt:lpstr>Aptos Display</vt:lpstr>
      <vt:lpstr>Arial</vt:lpstr>
      <vt:lpstr>Cambria Math</vt:lpstr>
      <vt:lpstr>Courier New</vt:lpstr>
      <vt:lpstr>Georgia Pro</vt:lpstr>
      <vt:lpstr>Verdana Pro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Julian Moran</dc:creator>
  <cp:lastModifiedBy>Julian Moran</cp:lastModifiedBy>
  <cp:revision>18</cp:revision>
  <dcterms:created xsi:type="dcterms:W3CDTF">2026-02-18T15:29:39Z</dcterms:created>
  <dcterms:modified xsi:type="dcterms:W3CDTF">2026-02-18T19:08:12Z</dcterms:modified>
</cp:coreProperties>
</file>