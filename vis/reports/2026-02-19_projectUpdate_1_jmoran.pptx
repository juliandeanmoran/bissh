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57" r:id="rId5"/>
    <p:sldId id="262" r:id="rId6"/>
    <p:sldId id="261" r:id="rId7"/>
    <p:sldId id="263" r:id="rId8"/>
    <p:sldId id="264" r:id="rId9"/>
    <p:sldId id="265" r:id="rId10"/>
    <p:sldId id="266" r:id="rId11"/>
    <p:sldId id="267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913A"/>
    <a:srgbClr val="E56D3B"/>
    <a:srgbClr val="E6C612"/>
    <a:srgbClr val="55A9CB"/>
    <a:srgbClr val="024BC3"/>
    <a:srgbClr val="4779C6"/>
    <a:srgbClr val="C55A11"/>
    <a:srgbClr val="0051D1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508" autoAdjust="0"/>
  </p:normalViewPr>
  <p:slideViewPr>
    <p:cSldViewPr snapToGrid="0">
      <p:cViewPr varScale="1">
        <p:scale>
          <a:sx n="89" d="100"/>
          <a:sy n="89" d="100"/>
        </p:scale>
        <p:origin x="13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13E3E-99C3-4924-8BC9-8C32863166AD}" type="datetimeFigureOut">
              <a:rPr lang="en-CA" smtClean="0"/>
              <a:t>2026-02-19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7A837-00D9-4D65-B917-5078A695B72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430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NOTE: I likely will not go through this slide, as Vinicius should cover this all in greater depth.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702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rcsb.org/alignment?request-body=eJylj11qw0AMhO%2BiZ%2F80xLjgN5eQOyQhGGUt10v3x9nVtgnGd6%2B2PUHpm9CM5hutcE8UntCt4BfW3sU8BuIU3BBJRKdoGJEROg6JtgKUd0wPzj7rR4IOFtThS0eCAizx7MesObRZY1ui0e8O5DJKgpJkEshlhRSMGGbmJXZ1jWaZcfJmrOimK1RV%2BqgnbSjW%2FbHsX%2Fpm15zbw7487sqMNcNnWyk9CXPywaL0AWt%2FF5EMqfxM7oHxaQctlaCHbSv%2BhH1rDqf29Z%2FIq1DhJ1K%2Bvm7fj%2BJ9Tg%3D%3D&amp;response-body=eJzlWVtv47oR%2Fi9%2Btr0iRd3yxloXE5JViSQYqItF4CRK1qjjbGP7tItF%2FntHzl5IbmNaPUBfirxEJj9yOJzLN8Nvk83u4Xly9W1yPG7uJ1cT7N0H2Iui2T26u52RsL%2Bd3SZhPIt9HEQk6b3koZ9MJ%2FvD%2BnDcw%2FzFX1dNlcls8jqdPPWH9bDUert53D31u8PN0%2FN9D5O%2BrDcv%2F9zsB6A21h8%2BPw9bHp5mp1%2BHJV76%2FXF7gIU%2FfoM9Xo53hyP8dPo8vmxh8ufD4cv%2B6sOH9fbL5%2FXD8%2FZ%2B3t9u5uu7%2BfHvHx42237%2FgeYz6lGCyN%2FC1J%2FlaDYIsb35I5zfbR5Agofnl6f1AZZ6enr7YbO%2Fud3s1i9fJ1cP6%2B2%2Bn05266dBbHul4dz9tr87bJ53p3Puvz7dnLRGJ6%2Bv01Ei%2FoWkXRj9WfF%2BrnJetE%2FTX8q8%2BXkDJ62%2B9I8AGTT80URNJ7f9482%2B%2F8fpB%2F%2Ftc7O77%2F81uSLhdLLtd4%2BHz5MrFA8nfx%2BJAwMa%2Bb%2BgDqQfG8hY35SchwamvMgLNCw%2Bj42xifXJL6zvgEYWNLkYmiATSjQ9hQ6oqScUeBdDkWdhQw2LHFjrZlEU%2FcJi18YBMcAQci7fODDVjNEIoWNTz1i%2FXZfQGJlmhUNNaOK5%2FMCU2kfxxVLjIDGxWDsxdm0ceyZYNy2HL%2BDYt7Dh5UIn1r6Bf7E34CS0sJonEYfznw6oRysUjgAnpmGS%2BHLj8i2pyRBKfp44Og8mvrlxgDUwduxMLOMKIu%2FiOyahZ2E1l0AeJI%2BzmYGYOxsG4tg5NCNtiC6OW5GpqxFJxTJoI6k4HCkx410SX6zixHRf5OGLoae576Yyx2ERPpNVcOIKsxY4IZdfLQpNZRlx1qVoFJl%2BhIl%2BZldmSc4EaRw44g42fQEbZ3ZhrZSmG4iLsGBigkdlB2IFSz07OC4ZBxbWvzzc4SC2sPjyO8ahldLGZKUIW9gRWckKHaOyUmQdWM9KLnfyLarlx8nlicUiHv4Is%2FSRdcOJzrQcJ%2FZ9042NVOqKAT4xT0ywdmJHNvQtuyR%2BdLF5%2BFZCIwSNwFr7kuhiX%2FIt8yCGebhqHdOkSai7gyPkEWQdONHZkiv9W7VSoDuii3bENnUYQTtii%2B%2FotMOJTSysduD49RPUu4eX9W7%2FVkv%2FqG%2FR1Pv%2B9x%2F%2FA57jzUMSQl2DBiV48yj04pDEcTB8eKHnBVEQRgNkNgz6GMfJEKgHGIGvMIZcAzOB94VxFICTnmZ6HkoijwxCD19R5OEAYiWMzhMYwBGKYcib4nkUxDgg3lBJobnvg%2FFBxoYya%2BbPSeRFgZcE4FNoON%2F%2B%2BPR06gl8m%2Bzvnn%2F0SP5Yb4%2F95MqbIzD5w9cvQ5sAlHbsd3f9bHMPRf%2Fm8HUyKPfnzCGWfp8pV7PTWvoEPB%2Fu6fsEvhLpZOgm7G7W290N7Lq5P%2FY3Q3tnP%2FgsGkZO%2FYz%2B%2FsfoIBiBYE%2BScBAbbnCAwmXBtQ318vB19%2FxH%2F7J%2BhC0%2BRsE0Qp%2FeWhbfBbc6Fj9%2BBnlWGSurKs2aqmrzoiyyTi0aLgvWlV2tRMrqlPEmLZlSRc6KSmSC1Ywycc3KclHUS5bRshRl29RVLuu8KfI6k6zIlwIwXZqJjvGS1bWQVcoBk1FYMW0rVpVSZVUHK7JlXtG6LssmVaxaKBBHVLJkrCtkKfOMpWmaF1mWCpWpLK9zzquqpCVdZV3NGtYyxmFtWjZCZKs2zahg9LrOO0mrritpUbDmWlSwt6xrJhc5LZjIOy55WpaStVIo2jKQe1nUBUjAC9moMoPBlLfNspJZ1tKuhj1BLpF1XU1ZyfKm5ZViy1KIuhNZBmIWeckV7dJVzWrB0kpJtmqkyHnV8bROu6YZ1l7lAlSx4HDqTvKiU7BiIbumKDvW1A3LFK9ykYMSmqxlC56xalDHqr6ua9nmKS%2FzhkmWLgSvVQGjZaeGqWXTsrKDg60mU60pdZbpWZH6craFzKw2ovCwCHWoR3hXgWdmhxHlQ2BGWaN8SFwND3KGxQcuIm51pQwiThznxVb%2FbhSX9hMLq9Nh1x0F5vX6BmlxcbzQJrUjCLHNaXVCHDik9q122ih%2BiG2ON4IfYqsvZfBDR73kE4u2oMvJw9k2jZNbWnc8iltafYdx3NJqD%2F3PuKV13jHcMrJbNHrJ4wiVBFlh1uCWDmciVpc3GFHkEasCCPRY6xL6XEvL2Q7DFtbkltPJ4%2FrLW2rSZmlB4q3DqK%2BgxS7fGgtt09MzRPj%2BGPJspm3EeNsLjRhuxwYjztqdKWMweP8gPrJVbHQk7FhmREl0ZjC2%2ByBGqPIskzAGg%2FcFIgi%2Fvyw5dxSCzwhEfLsRYQzaLmvEAv%2F9o5xc4T3Fk9COQIa3nrGvgJxRQqCnevybSUdnLCyIDHE%2FDcM6aWcllZQL2gBBBeIpgIjCV91lMm1y1WZ5m5eKp9mKLpUsuKoa2qyqtisKXnOpqGzEslDX6YoXZZsvZaGgDFhdU0aBHMuWt8A6B2JZ5BKoOvB3Uaa0WAHVLtpmkS%2FKjrYFHfh4s8r5sipr2YmiAlbPgD8DkwUC3dFMAR0uUllVxQpWXahWlbVipRRNKytRV4sKKgNVVkDQgZhXqlm2vBEqb9tGsbyCHZRcNg0t0gKKAyD1FKoQsUrpshG8W1CpuAIE6ICxNq2oWCmeVRVr864UkudlIzljwPTTQomsaHPeKqgIYAplPKMLJqqsTLu2KZjsoMJpS75cSmDfC5pymYHwXBRQYdBCSpXKlIE0XZaneVctxBKqiLaQAiRedktVXadpvcglTTPQQyW7tlosZaf4QnKhBCzS0K6jy0rRnFPewT9pmS1TQbNCLJUoWlEXPG1aWkFlo1q2bEFzXK66nP6XfF5z7djBJKzeSayHKVefGpkZasxrL0JnnnudPW6Ldo16tfWt5%2B0xr7bWM5P5autgTii06oExr7ZWXjVebZ2vCVZr3dd5hOsRJLE2DsPLTQtHVuc10Cn9n2gXI1eN6ltij3uItKi18RDpoJrEtwiQ%2FhAZBu8xoBi9n8BOnvJT9sge%2FY1%2F64PkDHVAemL8bVM9Mb7VjIbp2o5uDNrFuWG4vz3MGtaFLAPRLUBn%2FL8NBmfUQPSEayuQxGcYVICNwU%2Bv%2Fw%2FNw9d%2FA8FkCww%3D&amp;encoded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15596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ttps://www.rcsb.org/alignment?request-body=eJylj8tOxDAMRf%2FF6z6mLGDUXTaDBBsWsEKjyqQujSaPkjjzUNV%2Fx4EvQOws3%2Bt7rlf4yhRv0K8QFjbBpzJG4hz9kEhEr2kYkRF6jpm2CnTwTFcuPhdGgh4WNPFiEkEFjngOY9E8uqKxq9GaTw9ymSRBSzIJ5H2FHK0YZuYl9W2LdplxCnZs6MM0qJt8aidjKbXqUKudunvevz09dvWhqwvWDuf7RptJmFOIDqUPOPe7SGRJl2dKD0w3NxipBAq2rfor9uFl96q6%2F2KPQoafWPn8uH0Dhel%2BWg%3D%3D&amp;response-body=eJzlVttu4zYQ%2FRc9244u1C1vhEkxqihVJlUaxiIwFFtOhPqS2vK2QeB%2F79BJdiW1ibOLvhV5iMnhmRnOnDnis1FvVzvj%2Btk4HuulcW1UNkLV0reHHlr5Q1RVzvBuFVjDskQVWi0WgWcvjIFxaMrmeIDz41%2FTnNOCGqeBsamaUrsq1%2FX9dlNtm%2Flmt6zg0GNZ7%2F%2BsDxUAW7aqedjpkM1meN7VLvbV4bhuwPGXZ4ixPy6aI2ydl8f9Gg4%2FNM3j4frqqlw%2FPpSr3Xo5qu7qUbkYHX%2B%2FWtXr6nCFoyE2sZ0Ev%2F3CrGFkDXUS6%2FlXb7SoV5DBarfflA242mxeNurD%2FK7elvsn43pVrg%2FVwNiWG51235O%2Bd7WuFk29257veXjazM9Vw8bpNPjRFP3cLLD1X6T43dPHKd4Ovhd1%2Fq0T5%2Bruq3uA6Ep%2F6aIGxl11Pz9Uf5w3rOBlXW%2BX1V%2Bw9AfGutreNw%2FGta0r8D7SczpI3%2Fo80usi0Xek8zHSMs1uurbTihpcADs9sNsCe5cih6gDtm27FfnChW0r7IJRq8yeB238sEfuz7ZI5%2FhOi9yPkch7v86hdaFUyHm%2FVEFwugXWNvtye3iZijeWWgPz9e9ff0GNhubIR15oBqbjhwNYOXZgIycMPVuvXD%2Bw3dALnEAjRrbnuqZlOiH89lzTDAPTBOZpJ5YVup5jovB80DPBgRm4JtJGL3DtECHH8c8RwgDBfUyE4Ki2ehAzdBDEGDojy%2FcCwPrIHQztUegiOOwgN4Bs9WQeN5vzhIPyLXZvqve1XB9h0O0RtLF5etQzL1JJDF3TVxuEQd%2BMRTo8o7sHHPvbASj7sdouqmG9hNmvmydDy8IW5GA7h6D18ljNtV4f9LB72nIWp2r5ZtV52QEa2E6os4Yuaig0DMZRt06vFruv1b68h3hfPHfgB7cv2vMauic9b9uQXCpiilU2u%2BFTkYyzVIxxNI5wMiNScYKzWSEYzyNJMOVKJZxjEbEoSeIiwozRvODjfMoJjeOJwnKCWRoXiqsiY5JzKoVQAnOZSJ5NueIyJhLTQhQZVzdMYIWZuFGxVERwRWNMFBZUsTjhQmVSqQL%2BKUkzziZFSkWc5ERMkzgViucxZjQjN7EiBZdKFlRGkBt4yqTgJBKqUCqmLCMk5UzOVKpIDuEiTjMsWTIrsBRJzIliinIMsdNsRhSFA1gwhmdkagxaIv3hQHXGyWyNv3lJd7qDGLbm%2FwLU70LDlkZbl%2BTOCvsC0BKe0NbMuS8fX27dPta6WagjtKWrlbrl9oy25fWErWV0rLZ0nW61uU3QMY4zJoRkmOBpLlgOFMW5wGOsciEEzxkv8oxivcgnjM44iaGfckxkRCgFAvGYCTZhSZLdKODSBNglpmNBZkLhKImBaHEmokxRStKCTuIE8yxXQDQVTcacA4loNmaUYC4oBoKomIHjSFOFipuEKjnmKqcymyRpQuSMA6voLAVzNhYJEwnJYQJeqUZxnESSQWpJGvEEqJbM4qlMMOEJ%2F2nOtep7Qfy7X5zg0zin92luAdEFtvkdKGqx6AKyNx6%2B%2Bel3iN19DLRfMJdmEqHel9X8dI1Q7yHQeYKEF%2Ba5F9b9kQ%2B61w3ceb747nvz3LqY1x%2Fn3p3bSvM%2Bqq1fVh%2BH2j34Rzzng4AfAa22dPWRltt%2F83aK1HnW3p7%2BBy%2BC098Phnyn&amp;encoded=tr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7060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0BDBF-4DC5-4E43-8386-3D3A42895B61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818EC-6326-4BA8-9805-A8FC86ABE731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3A6B3-9AB5-436E-AD8B-49199EDCFC83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D15FE-77BE-47EE-B790-AAE215F99824}" type="datetime1">
              <a:rPr lang="en-CA" smtClean="0"/>
              <a:t>2026-02-19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752C9-8CF6-40F0-AB13-1637EE612586}" type="datetime1">
              <a:rPr lang="en-CA" smtClean="0"/>
              <a:t>2026-02-19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F2ECE-72B5-4D96-A4B2-E67705705716}" type="datetime1">
              <a:rPr lang="en-CA" smtClean="0"/>
              <a:t>2026-02-19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B9229-C469-40E9-86E2-8A75D5BC886F}" type="datetime1">
              <a:rPr lang="en-CA" smtClean="0"/>
              <a:t>2026-02-19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0E48D-DAFA-4AD7-87A4-FFF723385EC7}" type="datetime1">
              <a:rPr lang="en-CA" smtClean="0"/>
              <a:t>2026-02-19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286D7-AAE8-4192-93AF-4124B82BCBD4}" type="datetime1">
              <a:rPr lang="en-CA" smtClean="0"/>
              <a:t>2026-02-19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D8303-E57F-4CA4-B509-8D7861A88550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1FC32-9D3D-4364-92A5-9AA79CCC701C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41495A-2B01-4521-BD4F-D3958705F056}" type="datetime1">
              <a:rPr lang="en-CA" smtClean="0"/>
              <a:t>2026-02-19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F5741F7-B930-FEB1-2686-BEC1482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372998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/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1600" b="1" dirty="0">
                    <a:latin typeface="Georgia Pro" panose="02040502050405020303" pitchFamily="18" charset="0"/>
                  </a:rPr>
                  <a:t>Foldseek</a:t>
                </a:r>
                <a:r>
                  <a:rPr lang="en-US" sz="1600" dirty="0">
                    <a:latin typeface="Georgia Pro" panose="02040502050405020303" pitchFamily="18" charset="0"/>
                  </a:rPr>
                  <a:t>, a protein structure search algorithm, depends on </a:t>
                </a:r>
                <a:r>
                  <a:rPr lang="en-US" sz="1600" b="1" dirty="0">
                    <a:latin typeface="Georgia Pro" panose="02040502050405020303" pitchFamily="18" charset="0"/>
                  </a:rPr>
                  <a:t>3Di</a:t>
                </a:r>
                <a:r>
                  <a:rPr lang="en-US" sz="1600" dirty="0">
                    <a:latin typeface="Georgia Pro" panose="02040502050405020303" pitchFamily="18" charset="0"/>
                  </a:rPr>
                  <a:t>, a method for representing 3D folded protein structures as one-dimensional sequences of a 20-letter code.</a:t>
                </a:r>
                <a:r>
                  <a:rPr lang="en-US" sz="1600" baseline="30000" dirty="0">
                    <a:latin typeface="Georgia Pro" panose="02040502050405020303" pitchFamily="18" charset="0"/>
                  </a:rPr>
                  <a:t>1</a:t>
                </a:r>
                <a:endParaRPr lang="en-US" sz="1600" dirty="0">
                  <a:latin typeface="Georgia Pro" panose="02040502050405020303" pitchFamily="18" charset="0"/>
                  <a:cs typeface="Courier New" panose="02070309020205020404" pitchFamily="49" charset="0"/>
                </a:endParaRP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Each character in the 20-letter code is represented in the latent space between an autoencoder and decoder neural network.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autoencoder receives as input a 10-dimensional feature vector, where the features encapsulate the spatial relationship between two nearest spatial neighbor residues,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</m:oMath>
                </a14:m>
                <a:r>
                  <a:rPr lang="en-US" sz="1600" dirty="0">
                    <a:latin typeface="Georgia Pro" panose="02040502050405020303" pitchFamily="18" charset="0"/>
                    <a:cs typeface="Courier New" panose="02070309020205020404" pitchFamily="49" charset="0"/>
                  </a:rPr>
                  <a:t>, in the 3D structure.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blipFill>
                <a:blip r:embed="rId2"/>
                <a:stretch>
                  <a:fillRect l="-570" t="-771" r="-475" b="-23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485512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3D8A36-3BEF-0B0F-88D9-198D0705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843" y="1104900"/>
            <a:ext cx="3740193" cy="4305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0CF7E-876A-A8A2-F053-557327004AF5}"/>
              </a:ext>
            </a:extLst>
          </p:cNvPr>
          <p:cNvSpPr txBox="1"/>
          <p:nvPr/>
        </p:nvSpPr>
        <p:spPr>
          <a:xfrm>
            <a:off x="8047736" y="5524500"/>
            <a:ext cx="354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Adapted from Barrio-Hernendez et al. 2023.</a:t>
            </a:r>
            <a:r>
              <a:rPr lang="en-US" sz="1400" baseline="300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1</a:t>
            </a:r>
            <a:endParaRPr lang="en-CA" sz="1400">
              <a:solidFill>
                <a:schemeClr val="bg1">
                  <a:lumMod val="75000"/>
                </a:schemeClr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7C51B-63F3-FEA2-5137-35C3AF82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z="1400" smtClean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fld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/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blipFill>
                <a:blip r:embed="rId4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F89102A7-DEB7-10AC-BC47-305C94A38F0D}"/>
              </a:ext>
            </a:extLst>
          </p:cNvPr>
          <p:cNvGrpSpPr/>
          <p:nvPr/>
        </p:nvGrpSpPr>
        <p:grpSpPr>
          <a:xfrm>
            <a:off x="845609" y="4497110"/>
            <a:ext cx="2247900" cy="1859240"/>
            <a:chOff x="3429000" y="4701580"/>
            <a:chExt cx="2247900" cy="18592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30FEDEF-A6D4-B643-28F3-BD73A8B86D28}"/>
                </a:ext>
              </a:extLst>
            </p:cNvPr>
            <p:cNvGrpSpPr/>
            <p:nvPr/>
          </p:nvGrpSpPr>
          <p:grpSpPr>
            <a:xfrm>
              <a:off x="3513709" y="4728253"/>
              <a:ext cx="2096337" cy="1765086"/>
              <a:chOff x="3772468" y="4478224"/>
              <a:chExt cx="2096337" cy="176508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B8B62C-C308-1240-FE4A-5E9301A9EB87}"/>
                  </a:ext>
                </a:extLst>
              </p:cNvPr>
              <p:cNvCxnSpPr/>
              <p:nvPr/>
            </p:nvCxnSpPr>
            <p:spPr>
              <a:xfrm flipV="1">
                <a:off x="4277254" y="4838756"/>
                <a:ext cx="790575" cy="78105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EEFF29-395D-EA53-5368-C2D138D71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7254" y="5619806"/>
                <a:ext cx="1024256" cy="2475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771E7-024D-B87A-5196-AD3B6935B3E8}"/>
                  </a:ext>
                </a:extLst>
              </p:cNvPr>
              <p:cNvSpPr txBox="1"/>
              <p:nvPr/>
            </p:nvSpPr>
            <p:spPr>
              <a:xfrm>
                <a:off x="4455371" y="5351411"/>
                <a:ext cx="4343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>
                    <a:latin typeface="Cambria Math" panose="02040503050406030204" pitchFamily="18" charset="0"/>
                    <a:ea typeface="Cambria Math" panose="02040503050406030204" pitchFamily="18" charset="0"/>
                  </a:rPr>
                  <a:t>θ</a:t>
                </a:r>
                <a:endParaRPr lang="en-CA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/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/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/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4938" b="-7813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91993D5-1B5D-0713-39F3-1AAFED2EED4B}"/>
                </a:ext>
              </a:extLst>
            </p:cNvPr>
            <p:cNvSpPr/>
            <p:nvPr/>
          </p:nvSpPr>
          <p:spPr>
            <a:xfrm>
              <a:off x="3429000" y="4701580"/>
              <a:ext cx="2247900" cy="1859240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506A4A-AC64-A85A-503D-AF2771A2918A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D71F2-ED93-AC2A-E919-57A0E4E48C2A}"/>
              </a:ext>
            </a:extLst>
          </p:cNvPr>
          <p:cNvSpPr txBox="1"/>
          <p:nvPr/>
        </p:nvSpPr>
        <p:spPr>
          <a:xfrm>
            <a:off x="845608" y="1922780"/>
            <a:ext cx="648787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en-US" sz="1600" b="1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</a:t>
            </a: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, a clustering algorithm, leverages both primary amino acid sequence homology and structural homology to group proteins together.</a:t>
            </a:r>
            <a:r>
              <a:rPr lang="en-US" sz="1600" baseline="30000" dirty="0">
                <a:latin typeface="Georgia Pro" panose="02040502050405020303" pitchFamily="18" charset="0"/>
                <a:cs typeface="Courier New" panose="02070309020205020404" pitchFamily="49" charset="0"/>
              </a:rPr>
              <a:t>2</a:t>
            </a:r>
            <a:endParaRPr lang="en-US" sz="1600" dirty="0"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It takes as input the entire AlphaFold database (214 million sequences and predicted structures) clustered with MMSeqs2, which uses primary amino acid sequence. Here, sequence cluster membership is thresheld at 50% sequence identity and 90% sequence alignment overlap, yielding 52 million clusters.</a:t>
            </a:r>
          </a:p>
          <a:p>
            <a:pPr algn="just">
              <a:spcAft>
                <a:spcPts val="1200"/>
              </a:spcAft>
            </a:pPr>
            <a:r>
              <a:rPr lang="en-US" sz="1600" dirty="0">
                <a:latin typeface="Georgia Pro" panose="02040502050405020303" pitchFamily="18" charset="0"/>
                <a:cs typeface="Courier New" panose="02070309020205020404" pitchFamily="49" charset="0"/>
              </a:rPr>
              <a:t>Foldseek cluster then further clusters the 3Di sequences of "representative structures" (   ) from each cluster (i.e. structure with highest pLDDT), with membership thresheld at e-value 0.01 and 90% structural alignment overlap, yielding 19 million clusters.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9862E-67BD-690C-AE3D-A8F06A304190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362C-0F5D-C533-4AB1-071B7F7A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3</a:t>
            </a:fld>
            <a:endParaRPr lang="en-CA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E4B01-489E-5C2D-0B3D-F65A3C9BDD64}"/>
              </a:ext>
            </a:extLst>
          </p:cNvPr>
          <p:cNvGrpSpPr/>
          <p:nvPr/>
        </p:nvGrpSpPr>
        <p:grpSpPr>
          <a:xfrm>
            <a:off x="8220723" y="769622"/>
            <a:ext cx="1265130" cy="5414857"/>
            <a:chOff x="7973834" y="428159"/>
            <a:chExt cx="1427719" cy="61107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84B2CA-3FC0-55C8-EA04-9E0E3494D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1035"/>
            <a:stretch>
              <a:fillRect/>
            </a:stretch>
          </p:blipFill>
          <p:spPr>
            <a:xfrm>
              <a:off x="8178817" y="428159"/>
              <a:ext cx="863566" cy="149462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EC3EEF4-FE72-93EE-08CD-A578F0C59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834" y="2633471"/>
              <a:ext cx="1427719" cy="134279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5498E5-29DD-B855-656B-1268D6DD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5836" y="4420538"/>
              <a:ext cx="1016440" cy="2118374"/>
            </a:xfrm>
            <a:prstGeom prst="rect">
              <a:avLst/>
            </a:prstGeom>
          </p:spPr>
        </p:pic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AD42A94-FAF9-4117-7840-F6D16DDEE7A7}"/>
                </a:ext>
              </a:extLst>
            </p:cNvPr>
            <p:cNvSpPr/>
            <p:nvPr/>
          </p:nvSpPr>
          <p:spPr>
            <a:xfrm rot="5400000">
              <a:off x="8356827" y="212004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5F98F415-00AB-67EB-9F64-B7388E0D4806}"/>
                </a:ext>
              </a:extLst>
            </p:cNvPr>
            <p:cNvSpPr/>
            <p:nvPr/>
          </p:nvSpPr>
          <p:spPr>
            <a:xfrm rot="5400000">
              <a:off x="8367507" y="408967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5B1E634-4FD6-483E-10E3-754606BB4796}"/>
              </a:ext>
            </a:extLst>
          </p:cNvPr>
          <p:cNvSpPr txBox="1"/>
          <p:nvPr/>
        </p:nvSpPr>
        <p:spPr>
          <a:xfrm>
            <a:off x="9167585" y="218700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MMSeqs2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A3273A-12AC-1936-9ACB-EA2A77ECDC9A}"/>
              </a:ext>
            </a:extLst>
          </p:cNvPr>
          <p:cNvSpPr txBox="1"/>
          <p:nvPr/>
        </p:nvSpPr>
        <p:spPr>
          <a:xfrm>
            <a:off x="9122664" y="3935707"/>
            <a:ext cx="261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Foldseek cluster</a:t>
            </a:r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D6C1-ADB4-7F1D-D281-37A5411AE665}"/>
              </a:ext>
            </a:extLst>
          </p:cNvPr>
          <p:cNvSpPr txBox="1"/>
          <p:nvPr/>
        </p:nvSpPr>
        <p:spPr>
          <a:xfrm>
            <a:off x="9627319" y="97383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214 million protein sequences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135AE-CF85-4488-741D-00F113793E9F}"/>
              </a:ext>
            </a:extLst>
          </p:cNvPr>
          <p:cNvSpPr txBox="1"/>
          <p:nvPr/>
        </p:nvSpPr>
        <p:spPr>
          <a:xfrm>
            <a:off x="9627319" y="2816694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52 million sequence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BF6988-3640-79F1-78A6-DD33977711A3}"/>
              </a:ext>
            </a:extLst>
          </p:cNvPr>
          <p:cNvSpPr txBox="1"/>
          <p:nvPr/>
        </p:nvSpPr>
        <p:spPr>
          <a:xfrm>
            <a:off x="9627319" y="477954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Arial" panose="020B0604020202020204" pitchFamily="34" charset="0"/>
              </a:rPr>
              <a:t>19 million Foldseek clusters</a:t>
            </a:r>
            <a:endParaRPr lang="en-CA" sz="1400" dirty="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9FA050-54EA-FD81-6D49-E2C07497EBD5}"/>
              </a:ext>
            </a:extLst>
          </p:cNvPr>
          <p:cNvSpPr/>
          <p:nvPr/>
        </p:nvSpPr>
        <p:spPr>
          <a:xfrm>
            <a:off x="3550920" y="4509516"/>
            <a:ext cx="154858" cy="16002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35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</a:rPr>
              <a:t>Which human proteins in the Foldseek cluster dataset exhibit strong homology with bacterial immune system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 dirty="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 dirty="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 dirty="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we hypothesise about previously uncharacterised functions of the human proteins?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dirty="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CB2A2-9134-88C1-0B43-B74BA483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FF9267-68B8-3BE3-A98A-747856E0EF47}"/>
              </a:ext>
            </a:extLst>
          </p:cNvPr>
          <p:cNvSpPr/>
          <p:nvPr/>
        </p:nvSpPr>
        <p:spPr>
          <a:xfrm>
            <a:off x="366637" y="275480"/>
            <a:ext cx="7917391" cy="7260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E2D577-1E20-E537-D9AC-C4C42D92B93B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A Jain pipeline summary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26950E-4CDF-CC4F-D749-BD292832C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029" y="1338941"/>
            <a:ext cx="2090059" cy="2090059"/>
          </a:xfrm>
          <a:prstGeom prst="ellipse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9DD760-25A1-952C-6013-6AC669564AF2}"/>
              </a:ext>
            </a:extLst>
          </p:cNvPr>
          <p:cNvSpPr txBox="1"/>
          <p:nvPr/>
        </p:nvSpPr>
        <p:spPr>
          <a:xfrm>
            <a:off x="8284028" y="3429000"/>
            <a:ext cx="209005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Georgia Pro" panose="02040502050405020303" pitchFamily="18" charset="0"/>
              </a:rPr>
              <a:t>Anjali Jain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Bioinformatician at the Centre for Computational Medicine (CCM)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3D6E2-018F-F240-F1D8-DA0C26A5859D}"/>
              </a:ext>
            </a:extLst>
          </p:cNvPr>
          <p:cNvSpPr txBox="1"/>
          <p:nvPr/>
        </p:nvSpPr>
        <p:spPr>
          <a:xfrm>
            <a:off x="2996183" y="5564666"/>
            <a:ext cx="3564709" cy="92333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CA" dirty="0" err="1">
                <a:latin typeface="Verdana Pro" panose="020B0604030504040204" pitchFamily="34" charset="0"/>
              </a:rPr>
              <a:t>UniprotKB</a:t>
            </a:r>
            <a:r>
              <a:rPr lang="en-CA" dirty="0">
                <a:latin typeface="Verdana Pro" panose="020B0604030504040204" pitchFamily="34" charset="0"/>
              </a:rPr>
              <a:t> annotations for 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4B9A0-65AB-D3B9-0DF4-A1F03444D005}"/>
              </a:ext>
            </a:extLst>
          </p:cNvPr>
          <p:cNvSpPr txBox="1"/>
          <p:nvPr/>
        </p:nvSpPr>
        <p:spPr>
          <a:xfrm>
            <a:off x="2615184" y="1463533"/>
            <a:ext cx="422452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RefSeq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F9F3B-E774-A0F7-D09E-D950DB7C73A8}"/>
              </a:ext>
            </a:extLst>
          </p:cNvPr>
          <p:cNvSpPr txBox="1"/>
          <p:nvPr/>
        </p:nvSpPr>
        <p:spPr>
          <a:xfrm>
            <a:off x="2889504" y="2204139"/>
            <a:ext cx="367588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UniProt IDs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BEBDC6-CB78-10C7-35E8-F914B31880F6}"/>
              </a:ext>
            </a:extLst>
          </p:cNvPr>
          <p:cNvSpPr txBox="1"/>
          <p:nvPr/>
        </p:nvSpPr>
        <p:spPr>
          <a:xfrm>
            <a:off x="2889504" y="2950314"/>
            <a:ext cx="3675888" cy="64633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Foldseek clusters containing DefenseFinder proteins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3C7BB-A136-63C0-C4EF-3A912685EFCA}"/>
              </a:ext>
            </a:extLst>
          </p:cNvPr>
          <p:cNvSpPr txBox="1"/>
          <p:nvPr/>
        </p:nvSpPr>
        <p:spPr>
          <a:xfrm>
            <a:off x="2940594" y="4008642"/>
            <a:ext cx="3675888" cy="120032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Verdana Pro" panose="020B0604030504040204" pitchFamily="34" charset="0"/>
              </a:rPr>
              <a:t>DefenseFinder proteins and their homologous </a:t>
            </a:r>
            <a:r>
              <a:rPr lang="en-US" i="1" dirty="0">
                <a:latin typeface="Verdana Pro" panose="020B0604030504040204" pitchFamily="34" charset="0"/>
              </a:rPr>
              <a:t>H. sapiens</a:t>
            </a:r>
            <a:r>
              <a:rPr lang="en-US" dirty="0">
                <a:latin typeface="Verdana Pro" panose="020B0604030504040204" pitchFamily="34" charset="0"/>
              </a:rPr>
              <a:t> proteins (based on cluster similarity)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E73F904-E2A4-9FD5-295A-44564D46AC45}"/>
              </a:ext>
            </a:extLst>
          </p:cNvPr>
          <p:cNvSpPr/>
          <p:nvPr/>
        </p:nvSpPr>
        <p:spPr>
          <a:xfrm>
            <a:off x="4636008" y="1901952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EE150987-00EA-DC4E-6EF7-B33FBF33FC50}"/>
              </a:ext>
            </a:extLst>
          </p:cNvPr>
          <p:cNvSpPr/>
          <p:nvPr/>
        </p:nvSpPr>
        <p:spPr>
          <a:xfrm>
            <a:off x="4636008" y="265580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B021541-69C8-8059-93C6-A8E7CAE79327}"/>
              </a:ext>
            </a:extLst>
          </p:cNvPr>
          <p:cNvSpPr/>
          <p:nvPr/>
        </p:nvSpPr>
        <p:spPr>
          <a:xfrm>
            <a:off x="4636008" y="368492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0F5CEEFD-5B19-B315-65FA-C099CD67D796}"/>
              </a:ext>
            </a:extLst>
          </p:cNvPr>
          <p:cNvSpPr/>
          <p:nvPr/>
        </p:nvSpPr>
        <p:spPr>
          <a:xfrm>
            <a:off x="4636008" y="5270805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8DE71-5FFA-E044-08A1-09A25D2E58D3}"/>
              </a:ext>
            </a:extLst>
          </p:cNvPr>
          <p:cNvSpPr txBox="1"/>
          <p:nvPr/>
        </p:nvSpPr>
        <p:spPr>
          <a:xfrm>
            <a:off x="6716630" y="5570465"/>
            <a:ext cx="2706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321,575 protein pairs for the Zorya, Vipirin, and Gasdermin bacterial immune systems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C2C1A496-4D1C-8722-295B-EB6A62DF7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5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3686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5BC284-1C37-BDC1-0835-D765741632D6}"/>
              </a:ext>
            </a:extLst>
          </p:cNvPr>
          <p:cNvSpPr/>
          <p:nvPr/>
        </p:nvSpPr>
        <p:spPr>
          <a:xfrm>
            <a:off x="366637" y="275480"/>
            <a:ext cx="7917391" cy="71207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5E96A-B47A-F8E9-37E7-32EFB0A00396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Downstream prioritization</a:t>
            </a:r>
            <a:endParaRPr lang="en-US" sz="2000" b="1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BAABF-1AAA-E264-AB5D-709BE1E3244E}"/>
              </a:ext>
            </a:extLst>
          </p:cNvPr>
          <p:cNvSpPr txBox="1"/>
          <p:nvPr/>
        </p:nvSpPr>
        <p:spPr>
          <a:xfrm>
            <a:off x="724552" y="123981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321,575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647F595-9119-C810-03D9-B9DF50819D27}"/>
              </a:ext>
            </a:extLst>
          </p:cNvPr>
          <p:cNvSpPr/>
          <p:nvPr/>
        </p:nvSpPr>
        <p:spPr>
          <a:xfrm>
            <a:off x="2306775" y="2472035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66EFA-21A0-13A8-F7E4-8964D82A62A9}"/>
              </a:ext>
            </a:extLst>
          </p:cNvPr>
          <p:cNvSpPr txBox="1"/>
          <p:nvPr/>
        </p:nvSpPr>
        <p:spPr>
          <a:xfrm>
            <a:off x="724552" y="330124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3F11252-A2BB-4859-9D96-C1FD460DC7B6}"/>
              </a:ext>
            </a:extLst>
          </p:cNvPr>
          <p:cNvSpPr/>
          <p:nvPr/>
        </p:nvSpPr>
        <p:spPr>
          <a:xfrm>
            <a:off x="2306775" y="4671263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A94BD-85E0-019B-6FD7-D396DE211EB9}"/>
              </a:ext>
            </a:extLst>
          </p:cNvPr>
          <p:cNvSpPr txBox="1"/>
          <p:nvPr/>
        </p:nvSpPr>
        <p:spPr>
          <a:xfrm>
            <a:off x="724550" y="5436204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34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C78FFA-CF61-EA63-94CC-4279F5467693}"/>
              </a:ext>
            </a:extLst>
          </p:cNvPr>
          <p:cNvSpPr txBox="1"/>
          <p:nvPr/>
        </p:nvSpPr>
        <p:spPr>
          <a:xfrm>
            <a:off x="2904523" y="4788026"/>
            <a:ext cx="3593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Protein_length_difference ≤ 0.05 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377CA6-9A23-742C-577B-ECBDEA9E98A8}"/>
              </a:ext>
            </a:extLst>
          </p:cNvPr>
          <p:cNvSpPr txBox="1"/>
          <p:nvPr/>
        </p:nvSpPr>
        <p:spPr>
          <a:xfrm>
            <a:off x="2904523" y="2472035"/>
            <a:ext cx="35931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DefenseFinder cluster_id ==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H. sapiens cluster_id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4ECE2338-E962-3219-2BEC-675AA0198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48" t="11704" r="7567"/>
          <a:stretch>
            <a:fillRect/>
          </a:stretch>
        </p:blipFill>
        <p:spPr>
          <a:xfrm>
            <a:off x="7134078" y="3630656"/>
            <a:ext cx="4901914" cy="2999231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FE723433-0199-2411-AFC3-272FD5B1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6</a:t>
            </a:fld>
            <a:endParaRPr lang="en-CA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76CDCFD-111B-84D3-8D35-5252C0FF4B98}"/>
              </a:ext>
            </a:extLst>
          </p:cNvPr>
          <p:cNvCxnSpPr>
            <a:cxnSpLocks/>
          </p:cNvCxnSpPr>
          <p:nvPr/>
        </p:nvCxnSpPr>
        <p:spPr>
          <a:xfrm>
            <a:off x="4037438" y="1498961"/>
            <a:ext cx="1444752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095DA27-0D13-ED21-3C6E-63D60A493CEA}"/>
              </a:ext>
            </a:extLst>
          </p:cNvPr>
          <p:cNvSpPr txBox="1"/>
          <p:nvPr/>
        </p:nvSpPr>
        <p:spPr>
          <a:xfrm>
            <a:off x="5555342" y="1268128"/>
            <a:ext cx="2514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for now, all proteins are from the Zorya, Gasdermin, and Vipirin bacterial immune systems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66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DC9F86-20C5-B794-C66D-13171E103DFD}"/>
              </a:ext>
            </a:extLst>
          </p:cNvPr>
          <p:cNvSpPr txBox="1"/>
          <p:nvPr/>
        </p:nvSpPr>
        <p:spPr>
          <a:xfrm>
            <a:off x="294784" y="265438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 dirty="0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 dirty="0">
                <a:latin typeface="Verdana Pro" panose="020B0604030504040204" pitchFamily="34" charset="0"/>
              </a:rPr>
              <a:t>DefenseFinder 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 dirty="0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 dirty="0">
                <a:latin typeface="Verdana Pro" panose="020B0604030504040204" pitchFamily="34" charset="0"/>
                <a:sym typeface="Wingdings" panose="05000000000000000000" pitchFamily="2" charset="2"/>
              </a:rPr>
              <a:t> same-cluster protein pairs</a:t>
            </a:r>
            <a:endParaRPr lang="en-CA" dirty="0">
              <a:latin typeface="Verdana Pro" panose="020B060403050404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F7EF653-1BC7-4E64-765E-E1F0D14C2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0" t="10879" r="8279"/>
          <a:stretch>
            <a:fillRect/>
          </a:stretch>
        </p:blipFill>
        <p:spPr>
          <a:xfrm>
            <a:off x="6630162" y="1843913"/>
            <a:ext cx="3942588" cy="3847076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E2AA96C-16EB-A891-3710-9215F0D67E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733694"/>
              </p:ext>
            </p:extLst>
          </p:nvPr>
        </p:nvGraphicFramePr>
        <p:xfrm>
          <a:off x="294784" y="1843913"/>
          <a:ext cx="5575836" cy="37573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87918">
                  <a:extLst>
                    <a:ext uri="{9D8B030D-6E8A-4147-A177-3AD203B41FA5}">
                      <a16:colId xmlns:a16="http://schemas.microsoft.com/office/drawing/2014/main" val="2883141624"/>
                    </a:ext>
                  </a:extLst>
                </a:gridCol>
                <a:gridCol w="2787918">
                  <a:extLst>
                    <a:ext uri="{9D8B030D-6E8A-4147-A177-3AD203B41FA5}">
                      <a16:colId xmlns:a16="http://schemas.microsoft.com/office/drawing/2014/main" val="3161232302"/>
                    </a:ext>
                  </a:extLst>
                </a:gridCol>
              </a:tblGrid>
              <a:tr h="242487"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G profiler GO terms 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 hMerge="1"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3254720063"/>
                  </a:ext>
                </a:extLst>
              </a:tr>
              <a:tr h="2424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name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400" b="0" u="none" strike="noStrike" dirty="0">
                          <a:solidFill>
                            <a:srgbClr val="000000"/>
                          </a:solidFill>
                          <a:effectLst/>
                          <a:latin typeface="Verdana Pro" panose="020B0604030504040204" pitchFamily="34" charset="0"/>
                        </a:rPr>
                        <a:t>p_value</a:t>
                      </a:r>
                      <a:endParaRPr lang="en-CA" sz="1400" b="0" i="0" u="none" strike="noStrike" dirty="0">
                        <a:solidFill>
                          <a:srgbClr val="000000"/>
                        </a:solidFill>
                        <a:effectLst/>
                        <a:latin typeface="Verdana Pro" panose="020B0604030504040204" pitchFamily="34" charset="0"/>
                      </a:endParaRPr>
                    </a:p>
                  </a:txBody>
                  <a:tcPr marL="3472" marR="3472" marT="3472" marB="0" anchor="b"/>
                </a:tc>
                <a:extLst>
                  <a:ext uri="{0D108BD9-81ED-4DB2-BD59-A6C34878D82A}">
                    <a16:rowId xmlns:a16="http://schemas.microsoft.com/office/drawing/2014/main" val="697414357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hydrolysis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5.32E-14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527668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ATP-dependent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8.18E-12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7434380"/>
                  </a:ext>
                </a:extLst>
              </a:tr>
              <a:tr h="412919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ribonucleoside triphosphate 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5.90E-10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0033294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pyrophosphatase activity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1.10E-09</a:t>
                      </a:r>
                      <a:endParaRPr lang="en-CA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3406690"/>
                  </a:ext>
                </a:extLst>
              </a:tr>
              <a:tr h="412919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5402240"/>
                  </a:ext>
                </a:extLst>
              </a:tr>
              <a:tr h="821956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hydrolase activity, acting on acid anhydrides, in phosphorus-containing anhydrides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1.11E-09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578652"/>
                  </a:ext>
                </a:extLst>
              </a:tr>
              <a:tr h="26365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7.14E-09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7212222"/>
                  </a:ext>
                </a:extLst>
              </a:tr>
              <a:tr h="26365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condensed nuclear chromosome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8.75E-09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70983"/>
                  </a:ext>
                </a:extLst>
              </a:tr>
              <a:tr h="208401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ATP binding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1.13E-08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4408269"/>
                  </a:ext>
                </a:extLst>
              </a:tr>
              <a:tr h="263658">
                <a:tc>
                  <a:txBody>
                    <a:bodyPr/>
                    <a:lstStyle/>
                    <a:p>
                      <a:pPr algn="l" fontAlgn="b">
                        <a:spcAft>
                          <a:spcPts val="600"/>
                        </a:spcAft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chromosome organization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1.19E-08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3472" marR="3472" marT="3472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92658907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D015D3-6C93-96AC-884B-2A6EADED208F}"/>
              </a:ext>
            </a:extLst>
          </p:cNvPr>
          <p:cNvCxnSpPr>
            <a:cxnSpLocks/>
          </p:cNvCxnSpPr>
          <p:nvPr/>
        </p:nvCxnSpPr>
        <p:spPr>
          <a:xfrm>
            <a:off x="3712464" y="429768"/>
            <a:ext cx="1444752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168F6E-F847-3753-EFEF-6693E070ABA7}"/>
              </a:ext>
            </a:extLst>
          </p:cNvPr>
          <p:cNvSpPr txBox="1"/>
          <p:nvPr/>
        </p:nvSpPr>
        <p:spPr>
          <a:xfrm>
            <a:off x="5230368" y="198935"/>
            <a:ext cx="2514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 proteins from 17 distinct clusters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B35B9B2-75E2-21C4-C4B0-903AB365669E}"/>
              </a:ext>
            </a:extLst>
          </p:cNvPr>
          <p:cNvCxnSpPr>
            <a:cxnSpLocks/>
          </p:cNvCxnSpPr>
          <p:nvPr/>
        </p:nvCxnSpPr>
        <p:spPr>
          <a:xfrm>
            <a:off x="3712464" y="587057"/>
            <a:ext cx="576072" cy="420913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EE9BB5F-06F0-B954-03A0-7CE763E44F3C}"/>
              </a:ext>
            </a:extLst>
          </p:cNvPr>
          <p:cNvCxnSpPr>
            <a:cxnSpLocks/>
          </p:cNvCxnSpPr>
          <p:nvPr/>
        </p:nvCxnSpPr>
        <p:spPr>
          <a:xfrm>
            <a:off x="4276631" y="1007970"/>
            <a:ext cx="880585" cy="0"/>
          </a:xfrm>
          <a:prstGeom prst="line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D07A6DF-281B-02B0-1C6D-015E97A43D46}"/>
              </a:ext>
            </a:extLst>
          </p:cNvPr>
          <p:cNvSpPr txBox="1"/>
          <p:nvPr/>
        </p:nvSpPr>
        <p:spPr>
          <a:xfrm>
            <a:off x="5230368" y="777137"/>
            <a:ext cx="2514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Human protein functions generally pertain to triphosphate metabolism and chromosome organization</a:t>
            </a:r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32828CA-C7C6-764C-208F-854760B8F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7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3000476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6F77067-24FC-9535-0EBC-6A8C58BC8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307" y="2338072"/>
            <a:ext cx="4562470" cy="3991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2E00D6-513F-9237-58C0-620B89DDF978}"/>
              </a:ext>
            </a:extLst>
          </p:cNvPr>
          <p:cNvSpPr txBox="1"/>
          <p:nvPr/>
        </p:nvSpPr>
        <p:spPr>
          <a:xfrm>
            <a:off x="8786553" y="2355605"/>
            <a:ext cx="26955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RMSD: 2.84 Å</a:t>
            </a:r>
            <a:endParaRPr lang="en-CA" sz="14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TM-score: 0.72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Identity: 11%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Aligned residues: 351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FA6637-E092-1B6C-7935-EA705C837392}"/>
              </a:ext>
            </a:extLst>
          </p:cNvPr>
          <p:cNvSpPr txBox="1"/>
          <p:nvPr/>
        </p:nvSpPr>
        <p:spPr>
          <a:xfrm>
            <a:off x="5171925" y="5507563"/>
            <a:ext cx="2466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A0A414Z6D3</a:t>
            </a:r>
          </a:p>
          <a:p>
            <a:r>
              <a:rPr lang="en-CA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(469 AAs)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F68326-63AC-E717-6320-1C3CA8B60D96}"/>
              </a:ext>
            </a:extLst>
          </p:cNvPr>
          <p:cNvSpPr txBox="1"/>
          <p:nvPr/>
        </p:nvSpPr>
        <p:spPr>
          <a:xfrm>
            <a:off x="5171925" y="1850988"/>
            <a:ext cx="2466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B4DY67_HUMAN</a:t>
            </a:r>
          </a:p>
          <a:p>
            <a:r>
              <a:rPr lang="en-CA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(496 AAs)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52D1E4-33FD-0AE3-C6D0-97DFE648224E}"/>
              </a:ext>
            </a:extLst>
          </p:cNvPr>
          <p:cNvSpPr txBox="1"/>
          <p:nvPr/>
        </p:nvSpPr>
        <p:spPr>
          <a:xfrm>
            <a:off x="709871" y="363467"/>
            <a:ext cx="4324868" cy="2677656"/>
          </a:xfrm>
          <a:prstGeom prst="rect">
            <a:avLst/>
          </a:prstGeom>
          <a:noFill/>
          <a:ln>
            <a:solidFill>
              <a:srgbClr val="4779C6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cDNA FLJ56591, highly similar to Eukaryotic translation initiation factor 2C3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nucleic acid binding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translation initiation factor activity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Argonaute-like, PIWI domain (29-454)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Ribonuclease H-like superfamily (140-456)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C3D78A-F949-C05E-8924-0232E8E9B64B}"/>
              </a:ext>
            </a:extLst>
          </p:cNvPr>
          <p:cNvSpPr txBox="1"/>
          <p:nvPr/>
        </p:nvSpPr>
        <p:spPr>
          <a:xfrm>
            <a:off x="709871" y="4319249"/>
            <a:ext cx="4324868" cy="1600438"/>
          </a:xfrm>
          <a:prstGeom prst="rect">
            <a:avLst/>
          </a:prstGeom>
          <a:noFill/>
          <a:ln>
            <a:solidFill>
              <a:srgbClr val="E0913A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Protein argonaute (Bacteroides sp. AM16-24)</a:t>
            </a:r>
          </a:p>
          <a:p>
            <a:endParaRPr lang="en-US" sz="1400" b="1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Ribonuclease H-like superfamily (2-469)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PIWI domain (144-457)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B871B4F-998C-44CD-EE91-9B74560F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8</a:t>
            </a:fld>
            <a:endParaRPr lang="en-CA" sz="140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1F11A6A-B6B3-30C0-DEBC-977C746C40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338" y="363467"/>
            <a:ext cx="1369929" cy="1410073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FCB270-FEAB-22C2-F038-4366B2E4136D}"/>
              </a:ext>
            </a:extLst>
          </p:cNvPr>
          <p:cNvGrpSpPr/>
          <p:nvPr/>
        </p:nvGrpSpPr>
        <p:grpSpPr>
          <a:xfrm>
            <a:off x="6640481" y="349968"/>
            <a:ext cx="2850668" cy="946413"/>
            <a:chOff x="6640481" y="349968"/>
            <a:chExt cx="2850668" cy="946413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DC055B2-4EA0-1B8A-0714-C57A5F27674D}"/>
                </a:ext>
              </a:extLst>
            </p:cNvPr>
            <p:cNvSpPr txBox="1"/>
            <p:nvPr/>
          </p:nvSpPr>
          <p:spPr>
            <a:xfrm>
              <a:off x="6795573" y="349968"/>
              <a:ext cx="2695576" cy="9464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high (pLDDT &gt; 90)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Confident (90 &gt; pLDDT &gt; 70)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Low (70 &gt; pLDDT &gt; 50)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low (pLDDT &lt; 50) </a:t>
              </a:r>
              <a:endParaRPr lang="en-CA" sz="1200" dirty="0">
                <a:latin typeface="Verdana Pro" panose="020B0604030504040204" pitchFamily="34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5C8C578-7FC9-A6B9-87A9-E4B302205D8B}"/>
                </a:ext>
              </a:extLst>
            </p:cNvPr>
            <p:cNvSpPr/>
            <p:nvPr/>
          </p:nvSpPr>
          <p:spPr>
            <a:xfrm>
              <a:off x="6640481" y="419947"/>
              <a:ext cx="182770" cy="152362"/>
            </a:xfrm>
            <a:prstGeom prst="rect">
              <a:avLst/>
            </a:prstGeom>
            <a:solidFill>
              <a:srgbClr val="024B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04BEABA-522C-475B-EF8B-F15297D748B4}"/>
                </a:ext>
              </a:extLst>
            </p:cNvPr>
            <p:cNvSpPr/>
            <p:nvPr/>
          </p:nvSpPr>
          <p:spPr>
            <a:xfrm>
              <a:off x="6640481" y="630255"/>
              <a:ext cx="182770" cy="152362"/>
            </a:xfrm>
            <a:prstGeom prst="rect">
              <a:avLst/>
            </a:prstGeom>
            <a:solidFill>
              <a:srgbClr val="55A9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711C4C0-9143-80C6-B239-119956AA6E0A}"/>
                </a:ext>
              </a:extLst>
            </p:cNvPr>
            <p:cNvSpPr/>
            <p:nvPr/>
          </p:nvSpPr>
          <p:spPr>
            <a:xfrm>
              <a:off x="6640481" y="852112"/>
              <a:ext cx="182770" cy="152362"/>
            </a:xfrm>
            <a:prstGeom prst="rect">
              <a:avLst/>
            </a:prstGeom>
            <a:solidFill>
              <a:srgbClr val="E6C61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84FFCD5-8DF8-914F-8767-56BF66EC3533}"/>
                </a:ext>
              </a:extLst>
            </p:cNvPr>
            <p:cNvSpPr/>
            <p:nvPr/>
          </p:nvSpPr>
          <p:spPr>
            <a:xfrm>
              <a:off x="6640481" y="1087420"/>
              <a:ext cx="182770" cy="152362"/>
            </a:xfrm>
            <a:prstGeom prst="rect">
              <a:avLst/>
            </a:prstGeom>
            <a:solidFill>
              <a:srgbClr val="E56D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DA013B8C-F053-8B35-AFE0-6079BC6B5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8338" y="4314961"/>
            <a:ext cx="1369929" cy="1147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614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EFCD4-D316-F0B9-8A49-0284EA75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CA41CC-BBC5-640E-E309-6E417079B3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94" t="5615" r="12846" b="3898"/>
          <a:stretch>
            <a:fillRect/>
          </a:stretch>
        </p:blipFill>
        <p:spPr>
          <a:xfrm>
            <a:off x="6576821" y="1998345"/>
            <a:ext cx="4305301" cy="39909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16480E-4A8B-1E19-6056-65D8B92B1E86}"/>
              </a:ext>
            </a:extLst>
          </p:cNvPr>
          <p:cNvSpPr txBox="1"/>
          <p:nvPr/>
        </p:nvSpPr>
        <p:spPr>
          <a:xfrm>
            <a:off x="1659446" y="255884"/>
            <a:ext cx="4324868" cy="1815882"/>
          </a:xfrm>
          <a:prstGeom prst="rect">
            <a:avLst/>
          </a:prstGeom>
          <a:noFill/>
          <a:ln>
            <a:solidFill>
              <a:srgbClr val="4779C6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Radical S-adenosyl methionine domain containing 2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Small molecule binding</a:t>
            </a:r>
          </a:p>
          <a:p>
            <a:endParaRPr lang="en-CA" sz="1400" dirty="0">
              <a:solidFill>
                <a:srgbClr val="4779C6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Domains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RSAD2 and Vipirin antiviral (47-239)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8A68DA-70F2-75E2-91D6-2190B751C350}"/>
              </a:ext>
            </a:extLst>
          </p:cNvPr>
          <p:cNvSpPr txBox="1"/>
          <p:nvPr/>
        </p:nvSpPr>
        <p:spPr>
          <a:xfrm>
            <a:off x="4633359" y="5201749"/>
            <a:ext cx="32406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A0A2K8UJG1</a:t>
            </a:r>
          </a:p>
          <a:p>
            <a:r>
              <a:rPr lang="en-CA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(284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1C6E5A-4274-485B-4F48-0589303AC076}"/>
              </a:ext>
            </a:extLst>
          </p:cNvPr>
          <p:cNvSpPr txBox="1"/>
          <p:nvPr/>
        </p:nvSpPr>
        <p:spPr>
          <a:xfrm>
            <a:off x="6125037" y="1491665"/>
            <a:ext cx="3901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A0A7P0TA11_HUMAN</a:t>
            </a:r>
          </a:p>
          <a:p>
            <a:r>
              <a:rPr lang="en-CA" dirty="0">
                <a:solidFill>
                  <a:srgbClr val="4779C6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(239 AAs)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EAE1D1-13B8-A22C-2B0B-B85661FE96C7}"/>
              </a:ext>
            </a:extLst>
          </p:cNvPr>
          <p:cNvSpPr txBox="1"/>
          <p:nvPr/>
        </p:nvSpPr>
        <p:spPr>
          <a:xfrm>
            <a:off x="9945156" y="2429900"/>
            <a:ext cx="22468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RMSD: 2.70 Å</a:t>
            </a:r>
            <a:endParaRPr lang="en-CA" sz="1400" dirty="0"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TM-score: 0.64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Identity: 32%</a:t>
            </a:r>
          </a:p>
          <a:p>
            <a:r>
              <a:rPr lang="en-US" sz="1400" dirty="0">
                <a:latin typeface="Verdana Pro" panose="020B0604030504040204" pitchFamily="34" charset="0"/>
                <a:cs typeface="Courier New" panose="02070309020205020404" pitchFamily="49" charset="0"/>
              </a:rPr>
              <a:t>Aligned residues: 186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5F8735-064F-BBC8-D640-F8AA7E73374A}"/>
              </a:ext>
            </a:extLst>
          </p:cNvPr>
          <p:cNvSpPr txBox="1"/>
          <p:nvPr/>
        </p:nvSpPr>
        <p:spPr>
          <a:xfrm>
            <a:off x="257489" y="3032363"/>
            <a:ext cx="4324868" cy="2246769"/>
          </a:xfrm>
          <a:prstGeom prst="rect">
            <a:avLst/>
          </a:prstGeom>
          <a:noFill/>
          <a:ln>
            <a:solidFill>
              <a:srgbClr val="E0913A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S-adenosylmethionine-dependent nucleotide dehydratase (Candidatus Thiodictyon syntrophicum)</a:t>
            </a:r>
          </a:p>
          <a:p>
            <a:endParaRPr lang="en-US" sz="1400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Molecular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Catalytic 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Small molecule binding</a:t>
            </a:r>
          </a:p>
          <a:p>
            <a:endParaRPr lang="en-US" sz="1400" dirty="0">
              <a:solidFill>
                <a:srgbClr val="E0913A"/>
              </a:solidFill>
              <a:latin typeface="Verdana Pro" panose="020B0604030504040204" pitchFamily="34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Biological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E0913A"/>
                </a:solidFill>
                <a:latin typeface="Verdana Pro" panose="020B0604030504040204" pitchFamily="34" charset="0"/>
                <a:cs typeface="Courier New" panose="02070309020205020404" pitchFamily="49" charset="0"/>
              </a:rPr>
              <a:t>response to stimulus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F30A37C-8979-D23A-E4B7-41EECBCCD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933" y="3032363"/>
            <a:ext cx="1361067" cy="1141343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6788DBC-D03F-BBC1-0A9D-DCB4408A69B4}"/>
              </a:ext>
            </a:extLst>
          </p:cNvPr>
          <p:cNvGrpSpPr/>
          <p:nvPr/>
        </p:nvGrpSpPr>
        <p:grpSpPr>
          <a:xfrm>
            <a:off x="4722741" y="4185841"/>
            <a:ext cx="2850668" cy="946413"/>
            <a:chOff x="6640481" y="349968"/>
            <a:chExt cx="2850668" cy="94641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17C6C5E-698C-586F-23BD-40C622987323}"/>
                </a:ext>
              </a:extLst>
            </p:cNvPr>
            <p:cNvSpPr txBox="1"/>
            <p:nvPr/>
          </p:nvSpPr>
          <p:spPr>
            <a:xfrm>
              <a:off x="6795573" y="349968"/>
              <a:ext cx="2695576" cy="9464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high (pLDDT &gt; 90)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Confident (90 &gt; pLDDT &gt; 70)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Low (70 &gt; pLDDT &gt; 50)</a:t>
              </a:r>
            </a:p>
            <a:p>
              <a:pPr>
                <a:spcAft>
                  <a:spcPts val="300"/>
                </a:spcAft>
              </a:pPr>
              <a:r>
                <a:rPr lang="en-US" sz="1200" dirty="0">
                  <a:latin typeface="Verdana Pro" panose="020B0604030504040204" pitchFamily="34" charset="0"/>
                </a:rPr>
                <a:t>Very low (pLDDT &lt; 50) </a:t>
              </a:r>
              <a:endParaRPr lang="en-CA" sz="1200" dirty="0">
                <a:latin typeface="Verdana Pro" panose="020B0604030504040204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B550897-651D-B780-0A9F-F2F265225A48}"/>
                </a:ext>
              </a:extLst>
            </p:cNvPr>
            <p:cNvSpPr/>
            <p:nvPr/>
          </p:nvSpPr>
          <p:spPr>
            <a:xfrm>
              <a:off x="6640481" y="419947"/>
              <a:ext cx="182770" cy="152362"/>
            </a:xfrm>
            <a:prstGeom prst="rect">
              <a:avLst/>
            </a:prstGeom>
            <a:solidFill>
              <a:srgbClr val="024B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5921FE2-76FB-4B99-83EA-ED1C1B39C37C}"/>
                </a:ext>
              </a:extLst>
            </p:cNvPr>
            <p:cNvSpPr/>
            <p:nvPr/>
          </p:nvSpPr>
          <p:spPr>
            <a:xfrm>
              <a:off x="6640481" y="630255"/>
              <a:ext cx="182770" cy="152362"/>
            </a:xfrm>
            <a:prstGeom prst="rect">
              <a:avLst/>
            </a:prstGeom>
            <a:solidFill>
              <a:srgbClr val="55A9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9F97C2B-89B5-6EC5-035F-13BC3752ED7A}"/>
                </a:ext>
              </a:extLst>
            </p:cNvPr>
            <p:cNvSpPr/>
            <p:nvPr/>
          </p:nvSpPr>
          <p:spPr>
            <a:xfrm>
              <a:off x="6640481" y="852112"/>
              <a:ext cx="182770" cy="152362"/>
            </a:xfrm>
            <a:prstGeom prst="rect">
              <a:avLst/>
            </a:prstGeom>
            <a:solidFill>
              <a:srgbClr val="E6C61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B12A31B-6D8F-2704-A54A-6A778ADE1465}"/>
                </a:ext>
              </a:extLst>
            </p:cNvPr>
            <p:cNvSpPr/>
            <p:nvPr/>
          </p:nvSpPr>
          <p:spPr>
            <a:xfrm>
              <a:off x="6640481" y="1087420"/>
              <a:ext cx="182770" cy="152362"/>
            </a:xfrm>
            <a:prstGeom prst="rect">
              <a:avLst/>
            </a:prstGeom>
            <a:solidFill>
              <a:srgbClr val="E56D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7D92A1D-590F-FF4E-6DE1-40E6FA0E34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614" r="6467"/>
          <a:stretch>
            <a:fillRect/>
          </a:stretch>
        </p:blipFill>
        <p:spPr>
          <a:xfrm>
            <a:off x="6147116" y="268663"/>
            <a:ext cx="1371429" cy="122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5201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BEF359-4F97-00FD-287B-18C26126E314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0B5882-92CF-CD7C-F242-EB1EFA44D97C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Georgia Pro" panose="02040502050405020303" pitchFamily="18" charset="0"/>
              </a:rPr>
              <a:t>Next steps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10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45609" y="1874728"/>
            <a:ext cx="9272016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domain-specific alignment (likely more biologically interesting)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A" dirty="0">
                <a:latin typeface="Georgia Pro" panose="02040502050405020303" pitchFamily="18" charset="0"/>
              </a:rPr>
              <a:t>overlay domain annotations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Prioritize on basis of alignment properties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do we ever align to H. sapiens protein domains with poorly characterised function?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conversely, are domains that do not align in H. sapiens poorly characterised?</a:t>
            </a: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67E2B-84B7-B893-BD6B-69007979D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E506AB5-3FDE-99AB-1448-A292B80CF786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83F51B-E4DA-C4CB-057C-D787C736EAC8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Georgia Pro" panose="02040502050405020303" pitchFamily="18" charset="0"/>
              </a:rPr>
              <a:t>Acknowledgements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CF2186-8BC3-B8BD-FDBA-C2EF68B6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11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C6D50-D703-886B-2FD0-5E8A818B9311}"/>
              </a:ext>
            </a:extLst>
          </p:cNvPr>
          <p:cNvSpPr txBox="1"/>
          <p:nvPr/>
        </p:nvSpPr>
        <p:spPr>
          <a:xfrm>
            <a:off x="845607" y="1725087"/>
            <a:ext cx="48882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The Centre for Applied Genomics (TCAG)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Vinicius Furlan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Dr. Bank Engchuan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Professor Stephen Scherer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A1820-1658-1584-3C9A-25ACF6BB0BAF}"/>
              </a:ext>
            </a:extLst>
          </p:cNvPr>
          <p:cNvSpPr txBox="1"/>
          <p:nvPr/>
        </p:nvSpPr>
        <p:spPr>
          <a:xfrm>
            <a:off x="845608" y="3429000"/>
            <a:ext cx="514640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The Centre for Computational Medicine (CCM)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Anjali Vain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Arteen Torabi-Marashi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59C9BD-6303-D18F-9C17-CBC1F9EB9620}"/>
              </a:ext>
            </a:extLst>
          </p:cNvPr>
          <p:cNvSpPr txBox="1"/>
          <p:nvPr/>
        </p:nvSpPr>
        <p:spPr>
          <a:xfrm>
            <a:off x="845608" y="4855914"/>
            <a:ext cx="514640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</a:pPr>
            <a:r>
              <a:rPr lang="en-US" dirty="0">
                <a:latin typeface="Georgia Pro" panose="02040502050405020303" pitchFamily="18" charset="0"/>
              </a:rPr>
              <a:t>IEI project collaborators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Dr. Chantel Trost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eorgia Pro" panose="02040502050405020303" pitchFamily="18" charset="0"/>
              </a:rPr>
              <a:t>Dr. Christian Marshall</a:t>
            </a:r>
          </a:p>
        </p:txBody>
      </p:sp>
    </p:spTree>
    <p:extLst>
      <p:ext uri="{BB962C8B-B14F-4D97-AF65-F5344CB8AC3E}">
        <p14:creationId xmlns:p14="http://schemas.microsoft.com/office/powerpoint/2010/main" val="13957440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7C029-F809-4563-FEDC-0FE2666AD68F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295EC-59E3-A151-A598-185D8DFFA3C9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63B0A-77DC-F94E-1603-6415DC56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12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46AC0-D7B2-E9C1-C7EF-931782FA7585}"/>
              </a:ext>
            </a:extLst>
          </p:cNvPr>
          <p:cNvSpPr txBox="1"/>
          <p:nvPr/>
        </p:nvSpPr>
        <p:spPr>
          <a:xfrm>
            <a:off x="710184" y="1874728"/>
            <a:ext cx="927201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Van Kempen M, et al. Fast and accurate protein structure search with Foldseek. Nat Biotechnol. 2024;42:243-246. DOI: 10.1038/s41587-023-01773-0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Barrio-Hernandez I, et al. Clustering predicted protein structures at the scale of the known protein universe. Nature. 2023;622:637-645. DOI: 10.1038/s41586-023-06510-w</a:t>
            </a:r>
          </a:p>
        </p:txBody>
      </p:sp>
    </p:spTree>
    <p:extLst>
      <p:ext uri="{BB962C8B-B14F-4D97-AF65-F5344CB8AC3E}">
        <p14:creationId xmlns:p14="http://schemas.microsoft.com/office/powerpoint/2010/main" val="366550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1196</Words>
  <Application>Microsoft Office PowerPoint</Application>
  <PresentationFormat>Widescreen</PresentationFormat>
  <Paragraphs>171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76</cp:revision>
  <dcterms:created xsi:type="dcterms:W3CDTF">2026-02-18T15:29:39Z</dcterms:created>
  <dcterms:modified xsi:type="dcterms:W3CDTF">2026-02-19T16:35:06Z</dcterms:modified>
</cp:coreProperties>
</file>