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8" r:id="rId9"/>
    <p:sldId id="264" r:id="rId10"/>
    <p:sldId id="265" r:id="rId11"/>
    <p:sldId id="266" r:id="rId12"/>
    <p:sldId id="267" r:id="rId13"/>
    <p:sldId id="2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913A"/>
    <a:srgbClr val="E56D3B"/>
    <a:srgbClr val="E6C612"/>
    <a:srgbClr val="55A9CB"/>
    <a:srgbClr val="024BC3"/>
    <a:srgbClr val="4779C6"/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70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I likely will not go through this slide, as Vinicius should cover this all in greater depth.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11qw0AMhO%2BiZ%2F80xLjgN5eQOyQhGGUt10v3x9nVtgnGd6%2B2PUHpm9CM5hutcE8UntCt4BfW3sU8BuIU3BBJRKdoGJEROg6JtgKUd0wPzj7rR4IOFtThS0eCAizx7MesObRZY1ui0e8O5DJKgpJkEshlhRSMGGbmJXZ1jWaZcfJmrOimK1RV%2BqgnbSjW%2FbHsX%2Fpm15zbw7487sqMNcNnWyk9CXPywaL0AWt%2FF5EMqfxM7oHxaQctlaCHbSv%2BhH1rDqf29Z%2FIq1DhJ1K%2Bvm7fj%2BJ9Tg%3D%3D&amp;response-body=eJzlWVtv47oR%2Fi9%2Btr0iRd3yxloXE5JViSQYqItF4CRK1qjjbGP7tItF%2FntHzl5IbmNaPUBfirxEJj9yOJzLN8Nvk83u4Xly9W1yPG7uJ1cT7N0H2Iui2T26u52RsL%2Bd3SZhPIt9HEQk6b3koZ9MJ%2FvD%2BnDcw%2FzFX1dNlcls8jqdPPWH9bDUert53D31u8PN0%2FN9D5O%2BrDcv%2F9zsB6A21h8%2BPw9bHp5mp1%2BHJV76%2FXF7gIU%2FfoM9Xo53hyP8dPo8vmxh8ufD4cv%2B6sOH9fbL5%2FXD8%2FZ%2B3t9u5uu7%2BfHvHx42237%2FgeYz6lGCyN%2FC1J%2FlaDYIsb35I5zfbR5Agofnl6f1AZZ6enr7YbO%2Fud3s1i9fJ1cP6%2B2%2Bn05266dBbHul4dz9tr87bJ53p3Puvz7dnLRGJ6%2Bv01Ei%2FoWkXRj9WfF%2BrnJetE%2FTX8q8%2BXkDJ62%2B9I8AGTT80URNJ7f9482%2B%2F8fpB%2F%2Ftc7O77%2F81uSLhdLLtd4%2BHz5MrFA8nfx%2BJAwMa%2Bb%2BgDqQfG8hY35SchwamvMgLNCw%2Bj42xifXJL6zvgEYWNLkYmiATSjQ9hQ6oqScUeBdDkWdhQw2LHFjrZlEU%2FcJi18YBMcAQci7fODDVjNEIoWNTz1i%2FXZfQGJlmhUNNaOK5%2FMCU2kfxxVLjIDGxWDsxdm0ceyZYNy2HL%2BDYt7Dh5UIn1r6Bf7E34CS0sJonEYfznw6oRysUjgAnpmGS%2BHLj8i2pyRBKfp44Og8mvrlxgDUwduxMLOMKIu%2FiOyahZ2E1l0AeJI%2BzmYGYOxsG4tg5NCNtiC6OW5GpqxFJxTJoI6k4HCkx410SX6zixHRf5OGLoae576Yyx2ERPpNVcOIKsxY4IZdfLQpNZRlx1qVoFJl%2BhIl%2BZldmSc4EaRw44g42fQEbZ3ZhrZSmG4iLsGBigkdlB2IFSz07OC4ZBxbWvzzc4SC2sPjyO8ahldLGZKUIW9gRWckKHaOyUmQdWM9KLnfyLarlx8nlicUiHv4Is%2FSRdcOJzrQcJ%2FZ9042NVOqKAT4xT0ywdmJHNvQtuyR%2BdLF5%2BFZCIwSNwFr7kuhiX%2FIt8yCGebhqHdOkSai7gyPkEWQdONHZkiv9W7VSoDuii3bENnUYQTtii%2B%2FotMOJTSysduD49RPUu4eX9W7%2FVkv%2FqG%2FR1Pv%2B9x%2F%2FA57jzUMSQl2DBiV48yj04pDEcTB8eKHnBVEQRgNkNgz6GMfJEKgHGIGvMIZcAzOB94VxFICTnmZ6HkoijwxCD19R5OEAYiWMzhMYwBGKYcib4nkUxDgg3lBJobnvg%2FFBxoYya%2BbPSeRFgZcE4FNoON%2F%2B%2BPR06gl8m%2Bzvnn%2F0SP5Yb4%2F95MqbIzD5w9cvQ5sAlHbsd3f9bHMPRf%2Fm8HUyKPfnzCGWfp8pV7PTWvoEPB%2Fu6fsEvhLpZOgm7G7W290N7Lq5P%2FY3Q3tnP%2FgsGkZO%2FYz%2B%2FsfoIBiBYE%2BScBAbbnCAwmXBtQ318vB19%2FxH%2F7J%2BhC0%2BRsE0Qp%2FeWhbfBbc6Fj9%2BBnlWGSurKs2aqmrzoiyyTi0aLgvWlV2tRMrqlPEmLZlSRc6KSmSC1Ywycc3KclHUS5bRshRl29RVLuu8KfI6k6zIlwIwXZqJjvGS1bWQVcoBk1FYMW0rVpVSZVUHK7JlXtG6LssmVaxaKBBHVLJkrCtkKfOMpWmaF1mWCpWpLK9zzquqpCVdZV3NGtYyxmFtWjZCZKs2zahg9LrOO0mrritpUbDmWlSwt6xrJhc5LZjIOy55WpaStVIo2jKQe1nUBUjAC9moMoPBlLfNspJZ1tKuhj1BLpF1XU1ZyfKm5ZViy1KIuhNZBmIWeckV7dJVzWrB0kpJtmqkyHnV8bROu6YZ1l7lAlSx4HDqTvKiU7BiIbumKDvW1A3LFK9ykYMSmqxlC56xalDHqr6ua9nmKS%2FzhkmWLgSvVQGjZaeGqWXTsrKDg60mU60pdZbpWZH6craFzKw2ovCwCHWoR3hXgWdmhxHlQ2BGWaN8SFwND3KGxQcuIm51pQwiThznxVb%2FbhSX9hMLq9Nh1x0F5vX6BmlxcbzQJrUjCLHNaXVCHDik9q122ih%2BiG2ON4IfYqsvZfBDR73kE4u2oMvJw9k2jZNbWnc8iltafYdx3NJqD%2F3PuKV13jHcMrJbNHrJ4wiVBFlh1uCWDmciVpc3GFHkEasCCPRY6xL6XEvL2Q7DFtbkltPJ4%2FrLW2rSZmlB4q3DqK%2BgxS7fGgtt09MzRPj%2BGPJspm3EeNsLjRhuxwYjztqdKWMweP8gPrJVbHQk7FhmREl0ZjC2%2ByBGqPIskzAGg%2FcFIgi%2Fvyw5dxSCzwhEfLsRYQzaLmvEAv%2F9o5xc4T3Fk9COQIa3nrGvgJxRQqCnevybSUdnLCyIDHE%2FDcM6aWcllZQL2gBBBeIpgIjCV91lMm1y1WZ5m5eKp9mKLpUsuKoa2qyqtisKXnOpqGzEslDX6YoXZZsvZaGgDFhdU0aBHMuWt8A6B2JZ5BKoOvB3Uaa0WAHVLtpmkS%2FKjrYFHfh4s8r5sipr2YmiAlbPgD8DkwUC3dFMAR0uUllVxQpWXahWlbVipRRNKytRV4sKKgNVVkDQgZhXqlm2vBEqb9tGsbyCHZRcNg0t0gKKAyD1FKoQsUrpshG8W1CpuAIE6ICxNq2oWCmeVRVr864UkudlIzljwPTTQomsaHPeKqgIYAplPKMLJqqsTLu2KZjsoMJpS75cSmDfC5pymYHwXBRQYdBCSpXKlIE0XZaneVctxBKqiLaQAiRedktVXadpvcglTTPQQyW7tlosZaf4QnKhBCzS0K6jy0rRnFPewT9pmS1TQbNCLJUoWlEXPG1aWkFlo1q2bEFzXK66nP6XfF5z7djBJKzeSayHKVefGpkZasxrL0JnnnudPW6Ldo16tfWt5%2B0xr7bWM5P5autgTii06oExr7ZWXjVebZ2vCVZr3dd5hOsRJLE2DsPLTQtHVuc10Cn9n2gXI1eN6ltij3uItKi18RDpoJrEtwiQ%2FhAZBu8xoBi9n8BOnvJT9sge%2FY1%2F64PkDHVAemL8bVM9Mb7VjIbp2o5uDNrFuWG4vz3MGtaFLAPRLUBn%2FL8NBmfUQPSEayuQxGcYVICNwU%2Bv%2Fw%2FNw9d%2FA8FkCww%3D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559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8tOxDAMRf%2FF6z6mLGDUXTaDBBsWsEKjyqQujSaPkjjzUNV%2Fx4EvQOws3%2Bt7rlf4yhRv0K8QFjbBpzJG4hz9kEhEr2kYkRF6jpm2CnTwTFcuPhdGgh4WNPFiEkEFjngOY9E8uqKxq9GaTw9ymSRBSzIJ5H2FHK0YZuYl9W2LdplxCnZs6MM0qJt8aidjKbXqUKudunvevz09dvWhqwvWDuf7RptJmFOIDqUPOPe7SGRJl2dKD0w3NxipBAq2rfor9uFl96q6%2F2KPQoafWPn8uH0Dhel%2BWg%3D%3D&amp;response-body=eJzlVttu4zYQ%2FRc9244u1C1vhEkxqihVJlUaxiIwFFtOhPqS2vK2QeB%2F79BJdiW1ibOLvhV5iMnhmRnOnDnis1FvVzvj%2Btk4HuulcW1UNkLV0reHHlr5Q1RVzvBuFVjDskQVWi0WgWcvjIFxaMrmeIDz41%2FTnNOCGqeBsamaUrsq1%2FX9dlNtm%2Flmt6zg0GNZ7%2F%2BsDxUAW7aqedjpkM1meN7VLvbV4bhuwPGXZ4ixPy6aI2ydl8f9Gg4%2FNM3j4frqqlw%2FPpSr3Xo5qu7qUbkYHX%2B%2FWtXr6nCFoyE2sZ0Ev%2F3CrGFkDXUS6%2FlXb7SoV5DBarfflA242mxeNurD%2FK7elvsn43pVrg%2FVwNiWG51235O%2Bd7WuFk29257veXjazM9Vw8bpNPjRFP3cLLD1X6T43dPHKd4Ovhd1%2Fq0T5%2Bruq3uA6Ep%2F6aIGxl11Pz9Uf5w3rOBlXW%2BX1V%2Bw9AfGutreNw%2FGta0r8D7SczpI3%2Fo80usi0Xek8zHSMs1uurbTihpcADs9sNsCe5cih6gDtm27FfnChW0r7IJRq8yeB238sEfuz7ZI5%2FhOi9yPkch7v86hdaFUyHm%2FVEFwugXWNvtye3iZijeWWgPz9e9ff0GNhubIR15oBqbjhwNYOXZgIycMPVuvXD%2Bw3dALnEAjRrbnuqZlOiH89lzTDAPTBOZpJ5YVup5jovB80DPBgRm4JtJGL3DtECHH8c8RwgDBfUyE4Ki2ehAzdBDEGDojy%2FcCwPrIHQztUegiOOwgN4Bs9WQeN5vzhIPyLXZvqve1XB9h0O0RtLF5etQzL1JJDF3TVxuEQd%2BMRTo8o7sHHPvbASj7sdouqmG9hNmvmydDy8IW5GA7h6D18ljNtV4f9LB72nIWp2r5ZtV52QEa2E6os4Yuaig0DMZRt06vFruv1b68h3hfPHfgB7cv2vMauic9b9uQXCpiilU2u%2BFTkYyzVIxxNI5wMiNScYKzWSEYzyNJMOVKJZxjEbEoSeIiwozRvODjfMoJjeOJwnKCWRoXiqsiY5JzKoVQAnOZSJ5NueIyJhLTQhQZVzdMYIWZuFGxVERwRWNMFBZUsTjhQmVSqQL%2BKUkzziZFSkWc5ERMkzgViucxZjQjN7EiBZdKFlRGkBt4yqTgJBKqUCqmLCMk5UzOVKpIDuEiTjMsWTIrsBRJzIliinIMsdNsRhSFA1gwhmdkagxaIv3hQHXGyWyNv3lJd7qDGLbm%2FwLU70LDlkZbl%2BTOCvsC0BKe0NbMuS8fX27dPta6WagjtKWrlbrl9oy25fWErWV0rLZ0nW61uU3QMY4zJoRkmOBpLlgOFMW5wGOsciEEzxkv8oxivcgnjM44iaGfckxkRCgFAvGYCTZhSZLdKODSBNglpmNBZkLhKImBaHEmokxRStKCTuIE8yxXQDQVTcacA4loNmaUYC4oBoKomIHjSFOFipuEKjnmKqcymyRpQuSMA6voLAVzNhYJEwnJYQJeqUZxnESSQWpJGvEEqJbM4qlMMOEJ%2F2nOtep7Qfy7X5zg0zin92luAdEFtvkdKGqx6AKyNx6%2B%2Bel3iN19DLRfMJdmEqHel9X8dI1Q7yHQeYKEF%2Ba5F9b9kQ%2B61w3ceb747nvz3LqY1x%2Fn3p3bSvM%2Bqq1fVh%2BH2j34Rzzng4AfAa22dPWRltt%2F83aK1HnW3p7%2BBy%2BC098Phnyn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7060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0BDBF-4DC5-4E43-8386-3D3A42895B61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818EC-6326-4BA8-9805-A8FC86ABE731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3A6B3-9AB5-436E-AD8B-49199EDCFC83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D15FE-77BE-47EE-B790-AAE215F99824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752C9-8CF6-40F0-AB13-1637EE612586}" type="datetime1">
              <a:rPr lang="en-CA" smtClean="0"/>
              <a:t>2026-02-19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F2ECE-72B5-4D96-A4B2-E67705705716}" type="datetime1">
              <a:rPr lang="en-CA" smtClean="0"/>
              <a:t>2026-02-19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B9229-C469-40E9-86E2-8A75D5BC886F}" type="datetime1">
              <a:rPr lang="en-CA" smtClean="0"/>
              <a:t>2026-02-19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0E48D-DAFA-4AD7-87A4-FFF723385EC7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286D7-AAE8-4192-93AF-4124B82BCBD4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8303-E57F-4CA4-B509-8D7861A88550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1FC32-9D3D-4364-92A5-9AA79CCC701C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41495A-2B01-4521-BD4F-D3958705F056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244263"/>
                <a:ext cx="6421966" cy="30162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</a:t>
                </a:r>
                <a:r>
                  <a:rPr lang="en-US" sz="1600" dirty="0">
                    <a:latin typeface="Georgia Pro" panose="02040502050405020303" pitchFamily="18" charset="0"/>
                  </a:rPr>
                  <a:t>, a protein structure search algorithm,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structural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structural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"nearest spatial neighbor"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encoder-decoder is trained to predict masked feature vectors for a residue aligned to the input vector's residue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244263"/>
                <a:ext cx="6421966" cy="3016210"/>
              </a:xfrm>
              <a:prstGeom prst="rect">
                <a:avLst/>
              </a:prstGeom>
              <a:blipFill>
                <a:blip r:embed="rId2"/>
                <a:stretch>
                  <a:fillRect l="-570" t="-606" r="-475" b="-161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2C1A496-4D1C-8722-295B-EB6A62DF7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5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cluster_id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E723433-0199-2411-AFC3-272FD5B1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6</a:t>
            </a:fld>
            <a:endParaRPr lang="en-CA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6CDCFD-111B-84D3-8D35-5252C0FF4B98}"/>
              </a:ext>
            </a:extLst>
          </p:cNvPr>
          <p:cNvCxnSpPr>
            <a:cxnSpLocks/>
          </p:cNvCxnSpPr>
          <p:nvPr/>
        </p:nvCxnSpPr>
        <p:spPr>
          <a:xfrm>
            <a:off x="4037438" y="1498961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95DA27-0D13-ED21-3C6E-63D60A493CEA}"/>
              </a:ext>
            </a:extLst>
          </p:cNvPr>
          <p:cNvSpPr txBox="1"/>
          <p:nvPr/>
        </p:nvSpPr>
        <p:spPr>
          <a:xfrm>
            <a:off x="5555342" y="1268128"/>
            <a:ext cx="2514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now, all proteins are from the Zorya, Gasdermin, and Vipirin bacterial immune systems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828945" y="826155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0" t="10879" r="8279"/>
          <a:stretch>
            <a:fillRect/>
          </a:stretch>
        </p:blipFill>
        <p:spPr>
          <a:xfrm>
            <a:off x="7164323" y="2404630"/>
            <a:ext cx="3942588" cy="3847076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E2AA96C-16EB-A891-3710-9215F0D67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098273"/>
              </p:ext>
            </p:extLst>
          </p:nvPr>
        </p:nvGraphicFramePr>
        <p:xfrm>
          <a:off x="828945" y="2404630"/>
          <a:ext cx="5267055" cy="30287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032202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1234853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20376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gprofiler GO terms 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203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5.32E-14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8.18E-12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204983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5.90E-10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1.10E-09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204983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333412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7.14E-09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nuclear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8.75E-09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103455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1.13E-08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10694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chromosome organization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1.19E-08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D015D3-6C93-96AC-884B-2A6EADED208F}"/>
              </a:ext>
            </a:extLst>
          </p:cNvPr>
          <p:cNvCxnSpPr>
            <a:cxnSpLocks/>
          </p:cNvCxnSpPr>
          <p:nvPr/>
        </p:nvCxnSpPr>
        <p:spPr>
          <a:xfrm>
            <a:off x="4246625" y="990485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168F6E-F847-3753-EFEF-6693E070ABA7}"/>
              </a:ext>
            </a:extLst>
          </p:cNvPr>
          <p:cNvSpPr txBox="1"/>
          <p:nvPr/>
        </p:nvSpPr>
        <p:spPr>
          <a:xfrm>
            <a:off x="5764529" y="759652"/>
            <a:ext cx="2514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 proteins from 17 distinct clusters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B35B9B2-75E2-21C4-C4B0-903AB365669E}"/>
              </a:ext>
            </a:extLst>
          </p:cNvPr>
          <p:cNvCxnSpPr>
            <a:cxnSpLocks/>
          </p:cNvCxnSpPr>
          <p:nvPr/>
        </p:nvCxnSpPr>
        <p:spPr>
          <a:xfrm>
            <a:off x="4246625" y="1147774"/>
            <a:ext cx="576072" cy="420913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E9BB5F-06F0-B954-03A0-7CE763E44F3C}"/>
              </a:ext>
            </a:extLst>
          </p:cNvPr>
          <p:cNvCxnSpPr>
            <a:cxnSpLocks/>
          </p:cNvCxnSpPr>
          <p:nvPr/>
        </p:nvCxnSpPr>
        <p:spPr>
          <a:xfrm>
            <a:off x="4810792" y="1568687"/>
            <a:ext cx="880585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07A6DF-281B-02B0-1C6D-015E97A43D46}"/>
              </a:ext>
            </a:extLst>
          </p:cNvPr>
          <p:cNvSpPr txBox="1"/>
          <p:nvPr/>
        </p:nvSpPr>
        <p:spPr>
          <a:xfrm>
            <a:off x="5764529" y="1337854"/>
            <a:ext cx="2514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Human protein functions generally pertain to triphosphate metabolism and chromosome organization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32828CA-C7C6-764C-208F-854760B8F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C43D31-4BCA-8439-122C-EDFA32EEF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8002402"/>
              </p:ext>
            </p:extLst>
          </p:nvPr>
        </p:nvGraphicFramePr>
        <p:xfrm>
          <a:off x="2037319" y="1251878"/>
          <a:ext cx="3716499" cy="34537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A0A4P9X374: gprofiler GO terms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30]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0.000001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0.000006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1836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mediator complex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0.000099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24678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0.000148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18364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36555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24678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0.000189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0.000474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adenyl ribonucleotide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0.000543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adenyl nucleotide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0.000726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6E92DF-4FF5-F227-892F-E58F10E7E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05065"/>
              </p:ext>
            </p:extLst>
          </p:nvPr>
        </p:nvGraphicFramePr>
        <p:xfrm>
          <a:off x="6528803" y="5343984"/>
          <a:ext cx="3716499" cy="101913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A0A846H7L1: gprofiler GO terms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4]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5-hydroxymethyl-dUMP N-hydrolase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0.049891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7C003A-0574-3B9E-4438-037F5B56D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6188392"/>
              </p:ext>
            </p:extLst>
          </p:nvPr>
        </p:nvGraphicFramePr>
        <p:xfrm>
          <a:off x="6528805" y="1251878"/>
          <a:ext cx="3716499" cy="25202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03985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A0A4Q9LAP2: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21]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0398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iron, 4 sulfur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0.002664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DNA helicase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0.004217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iron-sulfur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0.007401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metal cluster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0.007593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activity, acting on DNA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0.018793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907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helicase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0.030955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1784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nucleic acid conformation isomerase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0.034984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4EB072-9B4E-70BE-AE9F-E28C1A7BB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797898"/>
              </p:ext>
            </p:extLst>
          </p:nvPr>
        </p:nvGraphicFramePr>
        <p:xfrm>
          <a:off x="6528803" y="4048501"/>
          <a:ext cx="3716499" cy="101913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A0A2H6NEM0: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7]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membrane protein dislocase activity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0.049891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16BB703-A416-4C39-1360-B0E70E7404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979906"/>
              </p:ext>
            </p:extLst>
          </p:nvPr>
        </p:nvGraphicFramePr>
        <p:xfrm>
          <a:off x="2037319" y="5154755"/>
          <a:ext cx="3716499" cy="12083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45171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87132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143802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A0A1W9R9X2: gprofiler GO terms </a:t>
                      </a:r>
                    </a:p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[cluster size: 4]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1438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DNA secondary structure binding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0.001922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125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single-stranded DNA binding	</a:t>
                      </a:r>
                    </a:p>
                  </a:txBody>
                  <a:tcPr marL="6350" marR="6350" marT="635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0.01819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9593651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B2C39A7-4393-ED33-E9E9-ACCDD7CEB027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753A44-9893-4449-A77E-627B0A88902C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Georgia Pro" panose="02040502050405020303" pitchFamily="18" charset="0"/>
              </a:rPr>
              <a:t>GO-term enrichment per cluster</a:t>
            </a:r>
            <a:endParaRPr lang="en-US" sz="20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151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F77067-24FC-9535-0EBC-6A8C58BC8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307" y="2338072"/>
            <a:ext cx="4562470" cy="3991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2E00D6-513F-9237-58C0-620B89DDF978}"/>
              </a:ext>
            </a:extLst>
          </p:cNvPr>
          <p:cNvSpPr txBox="1"/>
          <p:nvPr/>
        </p:nvSpPr>
        <p:spPr>
          <a:xfrm>
            <a:off x="8786553" y="2355605"/>
            <a:ext cx="2695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2.84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0.72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11%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351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A6637-E092-1B6C-7935-EA705C837392}"/>
              </a:ext>
            </a:extLst>
          </p:cNvPr>
          <p:cNvSpPr txBox="1"/>
          <p:nvPr/>
        </p:nvSpPr>
        <p:spPr>
          <a:xfrm>
            <a:off x="5171925" y="5507563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A0A414Z6D3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(469 AAs)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68326-63AC-E717-6320-1C3CA8B60D96}"/>
              </a:ext>
            </a:extLst>
          </p:cNvPr>
          <p:cNvSpPr txBox="1"/>
          <p:nvPr/>
        </p:nvSpPr>
        <p:spPr>
          <a:xfrm>
            <a:off x="5171925" y="1850988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B4DY67_HUMAN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(496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52D1E4-33FD-0AE3-C6D0-97DFE648224E}"/>
              </a:ext>
            </a:extLst>
          </p:cNvPr>
          <p:cNvSpPr txBox="1"/>
          <p:nvPr/>
        </p:nvSpPr>
        <p:spPr>
          <a:xfrm>
            <a:off x="709871" y="363467"/>
            <a:ext cx="4324868" cy="2677656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cDNA FLJ56591, highly similar to Eukaryotic translation initiation factor 2C3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nucleic acid binding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translation initiation factor activity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Argonaute-like, PIWI domain (29-454)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(140-456)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C3D78A-F949-C05E-8924-0232E8E9B64B}"/>
              </a:ext>
            </a:extLst>
          </p:cNvPr>
          <p:cNvSpPr txBox="1"/>
          <p:nvPr/>
        </p:nvSpPr>
        <p:spPr>
          <a:xfrm>
            <a:off x="709871" y="4319249"/>
            <a:ext cx="4324868" cy="1600438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Protein argonaute (Bacteroides sp. AM16-24)</a:t>
            </a:r>
          </a:p>
          <a:p>
            <a:endParaRPr lang="en-US" sz="1400" b="1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(2-469)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PIWI domain (144-457)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B871B4F-998C-44CD-EE91-9B74560F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1F11A6A-B6B3-30C0-DEBC-977C746C4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38" y="363467"/>
            <a:ext cx="1369929" cy="141007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FCB270-FEAB-22C2-F038-4366B2E4136D}"/>
              </a:ext>
            </a:extLst>
          </p:cNvPr>
          <p:cNvGrpSpPr/>
          <p:nvPr/>
        </p:nvGrpSpPr>
        <p:grpSpPr>
          <a:xfrm>
            <a:off x="6640481" y="349968"/>
            <a:ext cx="2850668" cy="946413"/>
            <a:chOff x="6640481" y="349968"/>
            <a:chExt cx="2850668" cy="94641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C055B2-4EA0-1B8A-0714-C57A5F27674D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5C8C578-7FC9-A6B9-87A9-E4B302205D8B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04BEABA-522C-475B-EF8B-F15297D748B4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711C4C0-9143-80C6-B239-119956AA6E0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84FFCD5-8DF8-914F-8767-56BF66EC3533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A013B8C-F053-8B35-AFE0-6079BC6B5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338" y="4314961"/>
            <a:ext cx="1369929" cy="11475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6DA0663-4F1D-232C-EF7F-8C26BFC51E7B}"/>
              </a:ext>
            </a:extLst>
          </p:cNvPr>
          <p:cNvSpPr txBox="1"/>
          <p:nvPr/>
        </p:nvSpPr>
        <p:spPr>
          <a:xfrm>
            <a:off x="709871" y="3310854"/>
            <a:ext cx="4324868" cy="52322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Cluster ID: A0A480PGP1 </a:t>
            </a:r>
          </a:p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[no enriched molecular functions]</a:t>
            </a:r>
            <a:endParaRPr lang="en-CA" sz="1400" dirty="0">
              <a:solidFill>
                <a:schemeClr val="tx1">
                  <a:lumMod val="65000"/>
                  <a:lumOff val="35000"/>
                </a:schemeClr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4614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EFCD4-D316-F0B9-8A49-0284EA75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10</a:t>
            </a:fld>
            <a:endParaRPr lang="en-CA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A41CC-BBC5-640E-E309-6E417079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94" t="5615" r="12846" b="3898"/>
          <a:stretch>
            <a:fillRect/>
          </a:stretch>
        </p:blipFill>
        <p:spPr>
          <a:xfrm>
            <a:off x="6576821" y="1998345"/>
            <a:ext cx="4305301" cy="39909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6480E-4A8B-1E19-6056-65D8B92B1E86}"/>
              </a:ext>
            </a:extLst>
          </p:cNvPr>
          <p:cNvSpPr txBox="1"/>
          <p:nvPr/>
        </p:nvSpPr>
        <p:spPr>
          <a:xfrm>
            <a:off x="1659446" y="255884"/>
            <a:ext cx="4324868" cy="1815882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Radical S-adenosyl methionine domain containing 2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RSAD2 and Vipirin antiviral (47-239)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A68DA-70F2-75E2-91D6-2190B751C350}"/>
              </a:ext>
            </a:extLst>
          </p:cNvPr>
          <p:cNvSpPr txBox="1"/>
          <p:nvPr/>
        </p:nvSpPr>
        <p:spPr>
          <a:xfrm>
            <a:off x="4633359" y="5201749"/>
            <a:ext cx="3240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A0A2K8UJG1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(284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1C6E5A-4274-485B-4F48-0589303AC076}"/>
              </a:ext>
            </a:extLst>
          </p:cNvPr>
          <p:cNvSpPr txBox="1"/>
          <p:nvPr/>
        </p:nvSpPr>
        <p:spPr>
          <a:xfrm>
            <a:off x="6125037" y="1491665"/>
            <a:ext cx="3901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A0A7P0TA11_HUMAN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(239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EAE1D1-13B8-A22C-2B0B-B85661FE96C7}"/>
              </a:ext>
            </a:extLst>
          </p:cNvPr>
          <p:cNvSpPr txBox="1"/>
          <p:nvPr/>
        </p:nvSpPr>
        <p:spPr>
          <a:xfrm>
            <a:off x="9945156" y="2429900"/>
            <a:ext cx="22468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2.70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0.64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32%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186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5F8735-064F-BBC8-D640-F8AA7E73374A}"/>
              </a:ext>
            </a:extLst>
          </p:cNvPr>
          <p:cNvSpPr txBox="1"/>
          <p:nvPr/>
        </p:nvSpPr>
        <p:spPr>
          <a:xfrm>
            <a:off x="257489" y="3032363"/>
            <a:ext cx="4324868" cy="2246769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S-adenosylmethionine-dependent nucleotide dehydratase (Candidatus Thiodictyon syntrophicum)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Catalytic 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Biological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response to stimulus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F30A37C-8979-D23A-E4B7-41EECBCCD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933" y="3032363"/>
            <a:ext cx="1361067" cy="114134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6788DBC-D03F-BBC1-0A9D-DCB4408A69B4}"/>
              </a:ext>
            </a:extLst>
          </p:cNvPr>
          <p:cNvGrpSpPr/>
          <p:nvPr/>
        </p:nvGrpSpPr>
        <p:grpSpPr>
          <a:xfrm>
            <a:off x="4722741" y="4185841"/>
            <a:ext cx="2850668" cy="946413"/>
            <a:chOff x="6640481" y="349968"/>
            <a:chExt cx="2850668" cy="94641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17C6C5E-698C-586F-23BD-40C622987323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B550897-651D-B780-0A9F-F2F265225A48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5921FE2-76FB-4B99-83EA-ED1C1B39C37C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F97C2B-89B5-6EC5-035F-13BC3752ED7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B12A31B-6D8F-2704-A54A-6A778ADE1465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7D92A1D-590F-FF4E-6DE1-40E6FA0E34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14" r="6467"/>
          <a:stretch>
            <a:fillRect/>
          </a:stretch>
        </p:blipFill>
        <p:spPr>
          <a:xfrm>
            <a:off x="6147116" y="268663"/>
            <a:ext cx="1371429" cy="12230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CDADC2E-A8CA-9C05-F450-CB8922840B7B}"/>
              </a:ext>
            </a:extLst>
          </p:cNvPr>
          <p:cNvSpPr txBox="1"/>
          <p:nvPr/>
        </p:nvSpPr>
        <p:spPr>
          <a:xfrm>
            <a:off x="257489" y="2310159"/>
            <a:ext cx="4324868" cy="52322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Cluster ID: A0A2E7NAI8 </a:t>
            </a:r>
          </a:p>
          <a:p>
            <a:r>
              <a:rPr lang="en-CA" sz="14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Verdana Pro" panose="020B0604030504040204" pitchFamily="34" charset="0"/>
              </a:rPr>
              <a:t>[no enriched molecular functions]</a:t>
            </a:r>
            <a:endParaRPr lang="en-CA" sz="1400" dirty="0">
              <a:solidFill>
                <a:schemeClr val="tx1">
                  <a:lumMod val="65000"/>
                  <a:lumOff val="35000"/>
                </a:schemeClr>
              </a:solidFill>
              <a:latin typeface="Verdana Pro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520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BEF359-4F97-00FD-287B-18C26126E314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0B5882-92CF-CD7C-F242-EB1EFA44D97C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Next steps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11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45609" y="1874728"/>
            <a:ext cx="9272016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domain-specific alignment (likely more biologically interesting)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Georgia Pro" panose="02040502050405020303" pitchFamily="18" charset="0"/>
              </a:rPr>
              <a:t>overlay domain annotations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Prioritize on basis of alignment properties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 we ever align to H. sapiens protein domains with poorly characterised function?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conversely, are domains that do not align in H. sapiens poorly characterised?</a:t>
            </a: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67E2B-84B7-B893-BD6B-69007979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506AB5-3FDE-99AB-1448-A292B80CF786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3F51B-E4DA-C4CB-057C-D787C736EAC8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CF2186-8BC3-B8BD-FDBA-C2EF68B6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C6D50-D703-886B-2FD0-5E8A818B9311}"/>
              </a:ext>
            </a:extLst>
          </p:cNvPr>
          <p:cNvSpPr txBox="1"/>
          <p:nvPr/>
        </p:nvSpPr>
        <p:spPr>
          <a:xfrm>
            <a:off x="845607" y="1725087"/>
            <a:ext cx="48882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Applied Genomics (TCAG)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Bank Engchuan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Professor Stephen Scherer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A1820-1658-1584-3C9A-25ACF6BB0BAF}"/>
              </a:ext>
            </a:extLst>
          </p:cNvPr>
          <p:cNvSpPr txBox="1"/>
          <p:nvPr/>
        </p:nvSpPr>
        <p:spPr>
          <a:xfrm>
            <a:off x="845608" y="3429000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Computational Medicine (CCM)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Anjali Vain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Arteen Torabi-Marashi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59C9BD-6303-D18F-9C17-CBC1F9EB9620}"/>
              </a:ext>
            </a:extLst>
          </p:cNvPr>
          <p:cNvSpPr txBox="1"/>
          <p:nvPr/>
        </p:nvSpPr>
        <p:spPr>
          <a:xfrm>
            <a:off x="845608" y="4855914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IEI project collaborators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</p:txBody>
      </p:sp>
    </p:spTree>
    <p:extLst>
      <p:ext uri="{BB962C8B-B14F-4D97-AF65-F5344CB8AC3E}">
        <p14:creationId xmlns:p14="http://schemas.microsoft.com/office/powerpoint/2010/main" val="1395744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13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1420</Words>
  <Application>Microsoft Office PowerPoint</Application>
  <PresentationFormat>Widescreen</PresentationFormat>
  <Paragraphs>239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87</cp:revision>
  <dcterms:created xsi:type="dcterms:W3CDTF">2026-02-18T15:29:39Z</dcterms:created>
  <dcterms:modified xsi:type="dcterms:W3CDTF">2026-02-19T19:21:15Z</dcterms:modified>
</cp:coreProperties>
</file>