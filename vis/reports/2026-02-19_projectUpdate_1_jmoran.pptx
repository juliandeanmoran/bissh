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9" r:id="rId4"/>
    <p:sldId id="257" r:id="rId5"/>
    <p:sldId id="262" r:id="rId6"/>
    <p:sldId id="261" r:id="rId7"/>
    <p:sldId id="263" r:id="rId8"/>
    <p:sldId id="264" r:id="rId9"/>
    <p:sldId id="265" r:id="rId10"/>
    <p:sldId id="266" r:id="rId11"/>
    <p:sldId id="26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913A"/>
    <a:srgbClr val="E56D3B"/>
    <a:srgbClr val="E6C612"/>
    <a:srgbClr val="55A9CB"/>
    <a:srgbClr val="024BC3"/>
    <a:srgbClr val="4779C6"/>
    <a:srgbClr val="C55A11"/>
    <a:srgbClr val="0051D1"/>
    <a:srgbClr val="1F1F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213E3E-99C3-4924-8BC9-8C32863166AD}" type="datetimeFigureOut">
              <a:rPr lang="en-CA" smtClean="0"/>
              <a:t>2026-02-19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C7A837-00D9-4D65-B917-5078A695B72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7430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NOTE: I likely will not go through this slide, as Vinicius should cover this all in greater depth.</a:t>
            </a: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7A837-00D9-4D65-B917-5078A695B722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267024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https://www.rcsb.org/alignment?request-body=eJylj11qw0AMhO%2BiZ%2F80xLjgN5eQOyQhGGUt10v3x9nVtgnGd6%2B2PUHpm9CM5hutcE8UntCt4BfW3sU8BuIU3BBJRKdoGJEROg6JtgKUd0wPzj7rR4IOFtThS0eCAizx7MesObRZY1ui0e8O5DJKgpJkEshlhRSMGGbmJXZ1jWaZcfJmrOimK1RV%2BqgnbSjW%2FbHsX%2Fpm15zbw7487sqMNcNnWyk9CXPywaL0AWt%2FF5EMqfxM7oHxaQctlaCHbSv%2BhH1rDqf29Z%2FIq1DhJ1K%2Bvm7fj%2BJ9Tg%3D%3D&amp;response-body=eJzlWVtv47oR%2Fi9%2Btr0iRd3yxloXE5JViSQYqItF4CRK1qjjbGP7tItF%2FntHzl5IbmNaPUBfirxEJj9yOJzLN8Nvk83u4Xly9W1yPG7uJ1cT7N0H2Iui2T26u52RsL%2Bd3SZhPIt9HEQk6b3koZ9MJ%2FvD%2BnDcw%2FzFX1dNlcls8jqdPPWH9bDUert53D31u8PN0%2FN9D5O%2BrDcv%2F9zsB6A21h8%2BPw9bHp5mp1%2BHJV76%2FXF7gIU%2FfoM9Xo53hyP8dPo8vmxh8ufD4cv%2B6sOH9fbL5%2FXD8%2FZ%2B3t9u5uu7%2BfHvHx42237%2FgeYz6lGCyN%2FC1J%2FlaDYIsb35I5zfbR5Agofnl6f1AZZ6enr7YbO%2Fud3s1i9fJ1cP6%2B2%2Bn05266dBbHul4dz9tr87bJ53p3Puvz7dnLRGJ6%2Bv01Ei%2FoWkXRj9WfF%2BrnJetE%2FTX8q8%2BXkDJ62%2B9I8AGTT80URNJ7f9482%2B%2F8fpB%2F%2Ftc7O77%2F81uSLhdLLtd4%2BHz5MrFA8nfx%2BJAwMa%2Bb%2BgDqQfG8hY35SchwamvMgLNCw%2Bj42xifXJL6zvgEYWNLkYmiATSjQ9hQ6oqScUeBdDkWdhQw2LHFjrZlEU%2FcJi18YBMcAQci7fODDVjNEIoWNTz1i%2FXZfQGJlmhUNNaOK5%2FMCU2kfxxVLjIDGxWDsxdm0ceyZYNy2HL%2BDYt7Dh5UIn1r6Bf7E34CS0sJonEYfznw6oRysUjgAnpmGS%2BHLj8i2pyRBKfp44Og8mvrlxgDUwduxMLOMKIu%2FiOyahZ2E1l0AeJI%2BzmYGYOxsG4tg5NCNtiC6OW5GpqxFJxTJoI6k4HCkx410SX6zixHRf5OGLoae576Yyx2ERPpNVcOIKsxY4IZdfLQpNZRlx1qVoFJl%2BhIl%2BZldmSc4EaRw44g42fQEbZ3ZhrZSmG4iLsGBigkdlB2IFSz07OC4ZBxbWvzzc4SC2sPjyO8ahldLGZKUIW9gRWckKHaOyUmQdWM9KLnfyLarlx8nlicUiHv4Is%2FSRdcOJzrQcJ%2FZ9042NVOqKAT4xT0ywdmJHNvQtuyR%2BdLF5%2BFZCIwSNwFr7kuhiX%2FIt8yCGebhqHdOkSai7gyPkEWQdONHZkiv9W7VSoDuii3bENnUYQTtii%2B%2FotMOJTSysduD49RPUu4eX9W7%2FVkv%2FqG%2FR1Pv%2B9x%2F%2FA57jzUMSQl2DBiV48yj04pDEcTB8eKHnBVEQRgNkNgz6GMfJEKgHGIGvMIZcAzOB94VxFICTnmZ6HkoijwxCD19R5OEAYiWMzhMYwBGKYcib4nkUxDgg3lBJobnvg%2FFBxoYya%2BbPSeRFgZcE4FNoON%2F%2B%2BPR06gl8m%2Bzvnn%2F0SP5Yb4%2F95MqbIzD5w9cvQ5sAlHbsd3f9bHMPRf%2Fm8HUyKPfnzCGWfp8pV7PTWvoEPB%2Fu6fsEvhLpZOgm7G7W290N7Lq5P%2FY3Q3tnP%2FgsGkZO%2FYz%2B%2FsfoIBiBYE%2BScBAbbnCAwmXBtQ318vB19%2FxH%2F7J%2BhC0%2BRsE0Qp%2FeWhbfBbc6Fj9%2BBnlWGSurKs2aqmrzoiyyTi0aLgvWlV2tRMrqlPEmLZlSRc6KSmSC1Ywycc3KclHUS5bRshRl29RVLuu8KfI6k6zIlwIwXZqJjvGS1bWQVcoBk1FYMW0rVpVSZVUHK7JlXtG6LssmVaxaKBBHVLJkrCtkKfOMpWmaF1mWCpWpLK9zzquqpCVdZV3NGtYyxmFtWjZCZKs2zahg9LrOO0mrritpUbDmWlSwt6xrJhc5LZjIOy55WpaStVIo2jKQe1nUBUjAC9moMoPBlLfNspJZ1tKuhj1BLpF1XU1ZyfKm5ZViy1KIuhNZBmIWeckV7dJVzWrB0kpJtmqkyHnV8bROu6YZ1l7lAlSx4HDqTvKiU7BiIbumKDvW1A3LFK9ykYMSmqxlC56xalDHqr6ua9nmKS%2FzhkmWLgSvVQGjZaeGqWXTsrKDg60mU60pdZbpWZH6craFzKw2ovCwCHWoR3hXgWdmhxHlQ2BGWaN8SFwND3KGxQcuIm51pQwiThznxVb%2FbhSX9hMLq9Nh1x0F5vX6BmlxcbzQJrUjCLHNaXVCHDik9q122ih%2BiG2ON4IfYqsvZfBDR73kE4u2oMvJw9k2jZNbWnc8iltafYdx3NJqD%2F3PuKV13jHcMrJbNHrJ4wiVBFlh1uCWDmciVpc3GFHkEasCCPRY6xL6XEvL2Q7DFtbkltPJ4%2FrLW2rSZmlB4q3DqK%2BgxS7fGgtt09MzRPj%2BGPJspm3EeNsLjRhuxwYjztqdKWMweP8gPrJVbHQk7FhmREl0ZjC2%2ByBGqPIskzAGg%2FcFIgi%2Fvyw5dxSCzwhEfLsRYQzaLmvEAv%2F9o5xc4T3Fk9COQIa3nrGvgJxRQqCnevybSUdnLCyIDHE%2FDcM6aWcllZQL2gBBBeIpgIjCV91lMm1y1WZ5m5eKp9mKLpUsuKoa2qyqtisKXnOpqGzEslDX6YoXZZsvZaGgDFhdU0aBHMuWt8A6B2JZ5BKoOvB3Uaa0WAHVLtpmkS%2FKjrYFHfh4s8r5sipr2YmiAlbPgD8DkwUC3dFMAR0uUllVxQpWXahWlbVipRRNKytRV4sKKgNVVkDQgZhXqlm2vBEqb9tGsbyCHZRcNg0t0gKKAyD1FKoQsUrpshG8W1CpuAIE6ICxNq2oWCmeVRVr864UkudlIzljwPTTQomsaHPeKqgIYAplPKMLJqqsTLu2KZjsoMJpS75cSmDfC5pymYHwXBRQYdBCSpXKlIE0XZaneVctxBKqiLaQAiRedktVXadpvcglTTPQQyW7tlosZaf4QnKhBCzS0K6jy0rRnFPewT9pmS1TQbNCLJUoWlEXPG1aWkFlo1q2bEFzXK66nP6XfF5z7djBJKzeSayHKVefGpkZasxrL0JnnnudPW6Ldo16tfWt5%2B0xr7bWM5P5autgTii06oExr7ZWXjVebZ2vCVZr3dd5hOsRJLE2DsPLTQtHVuc10Cn9n2gXI1eN6ltij3uItKi18RDpoJrEtwiQ%2FhAZBu8xoBi9n8BOnvJT9sge%2FY1%2F64PkDHVAemL8bVM9Mb7VjIbp2o5uDNrFuWG4vz3MGtaFLAPRLUBn%2FL8NBmfUQPSEayuQxGcYVICNwU%2Bv%2Fw%2FNw9d%2FA8FkCww%3D&amp;encoded=tr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7A837-00D9-4D65-B917-5078A695B722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15596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https://www.rcsb.org/alignment?request-body=eJylj8tOxDAMRf%2FF6z6mLGDUXTaDBBsWsEKjyqQujSaPkjjzUNV%2Fx4EvQOws3%2Bt7rlf4yhRv0K8QFjbBpzJG4hz9kEhEr2kYkRF6jpm2CnTwTFcuPhdGgh4WNPFiEkEFjngOY9E8uqKxq9GaTw9ymSRBSzIJ5H2FHK0YZuYl9W2LdplxCnZs6MM0qJt8aidjKbXqUKudunvevz09dvWhqwvWDuf7RptJmFOIDqUPOPe7SGRJl2dKD0w3NxipBAq2rfor9uFl96q6%2F2KPQoafWPn8uH0Dhel%2BWg%3D%3D&amp;response-body=eJzlVttu4zYQ%2FRc9244u1C1vhEkxqihVJlUaxiIwFFtOhPqS2vK2QeB%2F79BJdiW1ibOLvhV5iMnhmRnOnDnis1FvVzvj%2Btk4HuulcW1UNkLV0reHHlr5Q1RVzvBuFVjDskQVWi0WgWcvjIFxaMrmeIDz41%2FTnNOCGqeBsamaUrsq1%2FX9dlNtm%2Flmt6zg0GNZ7%2F%2BsDxUAW7aqedjpkM1meN7VLvbV4bhuwPGXZ4ixPy6aI2ydl8f9Gg4%2FNM3j4frqqlw%2FPpSr3Xo5qu7qUbkYHX%2B%2FWtXr6nCFoyE2sZ0Ev%2F3CrGFkDXUS6%2FlXb7SoV5DBarfflA242mxeNurD%2FK7elvsn43pVrg%2FVwNiWG51235O%2Bd7WuFk29257veXjazM9Vw8bpNPjRFP3cLLD1X6T43dPHKd4Ovhd1%2Fq0T5%2Bruq3uA6Ep%2F6aIGxl11Pz9Uf5w3rOBlXW%2BX1V%2Bw9AfGutreNw%2FGta0r8D7SczpI3%2Fo80usi0Xek8zHSMs1uurbTihpcADs9sNsCe5cih6gDtm27FfnChW0r7IJRq8yeB238sEfuz7ZI5%2FhOi9yPkch7v86hdaFUyHm%2FVEFwugXWNvtye3iZijeWWgPz9e9ff0GNhubIR15oBqbjhwNYOXZgIycMPVuvXD%2Bw3dALnEAjRrbnuqZlOiH89lzTDAPTBOZpJ5YVup5jovB80DPBgRm4JtJGL3DtECHH8c8RwgDBfUyE4Ki2ehAzdBDEGDojy%2FcCwPrIHQztUegiOOwgN4Bs9WQeN5vzhIPyLXZvqve1XB9h0O0RtLF5etQzL1JJDF3TVxuEQd%2BMRTo8o7sHHPvbASj7sdouqmG9hNmvmydDy8IW5GA7h6D18ljNtV4f9LB72nIWp2r5ZtV52QEa2E6os4Yuaig0DMZRt06vFruv1b68h3hfPHfgB7cv2vMauic9b9uQXCpiilU2u%2BFTkYyzVIxxNI5wMiNScYKzWSEYzyNJMOVKJZxjEbEoSeIiwozRvODjfMoJjeOJwnKCWRoXiqsiY5JzKoVQAnOZSJ5NueIyJhLTQhQZVzdMYIWZuFGxVERwRWNMFBZUsTjhQmVSqQL%2BKUkzziZFSkWc5ERMkzgViucxZjQjN7EiBZdKFlRGkBt4yqTgJBKqUCqmLCMk5UzOVKpIDuEiTjMsWTIrsBRJzIliinIMsdNsRhSFA1gwhmdkagxaIv3hQHXGyWyNv3lJd7qDGLbm%2FwLU70LDlkZbl%2BTOCvsC0BKe0NbMuS8fX27dPta6WagjtKWrlbrl9oy25fWErWV0rLZ0nW61uU3QMY4zJoRkmOBpLlgOFMW5wGOsciEEzxkv8oxivcgnjM44iaGfckxkRCgFAvGYCTZhSZLdKODSBNglpmNBZkLhKImBaHEmokxRStKCTuIE8yxXQDQVTcacA4loNmaUYC4oBoKomIHjSFOFipuEKjnmKqcymyRpQuSMA6voLAVzNhYJEwnJYQJeqUZxnESSQWpJGvEEqJbM4qlMMOEJ%2F2nOtep7Qfy7X5zg0zin92luAdEFtvkdKGqx6AKyNx6%2B%2Bel3iN19DLRfMJdmEqHel9X8dI1Q7yHQeYKEF%2Ba5F9b9kQ%2B61w3ceb747nvz3LqY1x%2Fn3p3bSvM%2Bqq1fVh%2BH2j34Rzzng4AfAa22dPWRltt%2F83aK1HnW3p7%2BBy%2BC098Phnyn&amp;encoded=tr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7A837-00D9-4D65-B917-5078A695B722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27060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AB3C6-A2BC-C3B1-506A-8131B297F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F3E801-4BC0-6B2B-7FC7-B29FB18413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E0A70C-0C28-ECE0-BD40-F0480F60B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0BDBF-4DC5-4E43-8386-3D3A42895B61}" type="datetime1">
              <a:rPr lang="en-CA" smtClean="0"/>
              <a:t>2026-02-19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82A2A-A3A8-9297-D445-44A045097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FAF0E-50E9-CFAB-5AC1-B1DDD1254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/>
            </a:lvl1pPr>
          </a:lstStyle>
          <a:p>
            <a:fld id="{3899FC77-40C7-4C49-9A19-86BDE9B75E8A}" type="slidenum">
              <a:rPr lang="en-CA" smtClean="0"/>
              <a:pPr/>
              <a:t>‹#›</a:t>
            </a:fld>
            <a:endParaRPr lang="en-CA" sz="1400"/>
          </a:p>
        </p:txBody>
      </p:sp>
    </p:spTree>
    <p:extLst>
      <p:ext uri="{BB962C8B-B14F-4D97-AF65-F5344CB8AC3E}">
        <p14:creationId xmlns:p14="http://schemas.microsoft.com/office/powerpoint/2010/main" val="1315854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0AE21-B3EF-4E09-33C7-2E33D3F1C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48B6E-2489-17F7-AC38-504F18539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B2EA68-6958-10EC-6390-27D2256B0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818EC-6326-4BA8-9805-A8FC86ABE731}" type="datetime1">
              <a:rPr lang="en-CA" smtClean="0"/>
              <a:t>2026-02-19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1898A-688D-BC8E-326B-46A857AE9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1DA61-5BEA-6307-B64A-9D099F34A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fld id="{3899FC77-40C7-4C49-9A19-86BDE9B75E8A}" type="slidenum">
              <a:rPr lang="en-CA" smtClean="0"/>
              <a:pPr/>
              <a:t>‹#›</a:t>
            </a:fld>
            <a:endParaRPr lang="en-CA" sz="1400"/>
          </a:p>
        </p:txBody>
      </p:sp>
    </p:spTree>
    <p:extLst>
      <p:ext uri="{BB962C8B-B14F-4D97-AF65-F5344CB8AC3E}">
        <p14:creationId xmlns:p14="http://schemas.microsoft.com/office/powerpoint/2010/main" val="2336530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21EF2-2ED3-E6EC-04E0-72F62047A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B46345-DD50-7FC9-7EB6-915D804C9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233C9-0953-6711-B9E7-0F90648C8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3A6B3-9AB5-436E-AD8B-49199EDCFC83}" type="datetime1">
              <a:rPr lang="en-CA" smtClean="0"/>
              <a:t>2026-02-19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CBFC4-F161-5AA3-FE52-F70317718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8F138-D73F-69A5-A8B1-F2438BF03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FC77-40C7-4C49-9A19-86BDE9B75E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84272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4ED86-CC4D-A1D6-FC40-BE440D5C7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E0164-F141-4AE0-550B-720E82AD66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D6031E-AF51-4DF8-4BC5-76C2F2A20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8F6053-2514-A757-4FC0-43BAF77C2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D15FE-77BE-47EE-B790-AAE215F99824}" type="datetime1">
              <a:rPr lang="en-CA" smtClean="0"/>
              <a:t>2026-02-19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F9FCCD-E971-322F-D2DD-FFA496041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70AE17-1DD6-8965-2C0A-FDBBF8CB7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FC77-40C7-4C49-9A19-86BDE9B75E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77834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429DD-5D4C-EBD0-C792-6294BD368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3E603-38F4-DD3C-45D5-62B94CDAD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6F6D11-C286-C1BC-2D08-925706D05A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574F07-278E-C2BA-EA5E-D20A9FCD92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DCC251-5459-0DE0-FCF6-E8B6DAF105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7E7015-AB8B-B2DC-DE0F-E185B2531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752C9-8CF6-40F0-AB13-1637EE612586}" type="datetime1">
              <a:rPr lang="en-CA" smtClean="0"/>
              <a:t>2026-02-19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F1E073-8F8B-E553-E098-861C001AA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4AFE91-D4AD-AA58-7BBA-0EAD43097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FC77-40C7-4C49-9A19-86BDE9B75E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87415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38217-C413-8EA0-CC0B-125DB2168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8E4532-9A5E-3AB1-2175-357064397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F2ECE-72B5-4D96-A4B2-E67705705716}" type="datetime1">
              <a:rPr lang="en-CA" smtClean="0"/>
              <a:t>2026-02-19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5CBF7F-3521-A8B4-6F0E-A2DD1D79C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2A09FA-B374-D5B0-7774-7C3029AAB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FC77-40C7-4C49-9A19-86BDE9B75E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64248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50CB9A-B3A8-DC6D-5988-CDD4C42D7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B9229-C469-40E9-86E2-8A75D5BC886F}" type="datetime1">
              <a:rPr lang="en-CA" smtClean="0"/>
              <a:t>2026-02-19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ADD8C2-0604-C847-6AC0-801D6EAB4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DC7735-BE18-5BD0-6E2C-860CD6685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FC77-40C7-4C49-9A19-86BDE9B75E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24768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79523-A5DD-5A22-B42E-0E5390C8B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BBC32-0615-7458-9D23-3B93CFE44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C4FE7F-EA6B-E10B-A1FC-09FF88DF7D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6270E9-B813-394F-EE92-020FC6335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0E48D-DAFA-4AD7-87A4-FFF723385EC7}" type="datetime1">
              <a:rPr lang="en-CA" smtClean="0"/>
              <a:t>2026-02-19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0EB40F-6A1C-3990-C193-FB9AE802E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8AD608-FB89-606A-99D7-52D56F713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FC77-40C7-4C49-9A19-86BDE9B75E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6930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C4DA6-7B3F-D216-0DD2-E88105C4B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DFAC7E-621A-4BD2-383D-1A4F7D262E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FEAD27-8493-FFCF-8BE5-5034C3171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B33605-69BA-70E0-7BA9-3C8F1D199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286D7-AAE8-4192-93AF-4124B82BCBD4}" type="datetime1">
              <a:rPr lang="en-CA" smtClean="0"/>
              <a:t>2026-02-19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C03F0D-9726-1314-908F-503F9841C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22E8EF-DEF5-691E-ACAD-0CCDF39B9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FC77-40C7-4C49-9A19-86BDE9B75E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6791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B7ABA-2D44-A586-53F0-0462E9159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E46E0F-4399-B0E0-548D-1470C2936D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DD6ABD-4368-383F-153C-01228E954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D8303-E57F-4CA4-B509-8D7861A88550}" type="datetime1">
              <a:rPr lang="en-CA" smtClean="0"/>
              <a:t>2026-02-19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23F8B-413D-8599-1C4C-5D62E8DC1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E0AACE-A292-7196-38B3-597E642B1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FC77-40C7-4C49-9A19-86BDE9B75E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03750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B57576-59A4-845B-0DB1-E74928C008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D76668-6004-D162-89A2-7AF2875808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4CA3C-27AE-4DDB-3750-86FFD176A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1FC32-9D3D-4364-92A5-9AA79CCC701C}" type="datetime1">
              <a:rPr lang="en-CA" smtClean="0"/>
              <a:t>2026-02-19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1D2D07-D98A-61C2-DC0D-387824DE1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23364A-E572-644C-25DD-D67FA52C4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FC77-40C7-4C49-9A19-86BDE9B75E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9218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F8617C-9CE4-528D-642B-ABC4F259F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C27F8A-DB14-21AE-B65A-CBBCD11EDE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A8FAE-6D57-D485-45FB-15A0A57B13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41495A-2B01-4521-BD4F-D3958705F056}" type="datetime1">
              <a:rPr lang="en-CA" smtClean="0"/>
              <a:t>2026-02-19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1E194-A560-5760-A266-4D735D0EE4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6E10B7-84EB-A0C2-63BE-12088A2C01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99FC77-40C7-4C49-9A19-86BDE9B75E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45655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C583DB1C-4BC3-D5C5-0B98-062C8270AB2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r="28491"/>
          <a:stretch>
            <a:fillRect/>
          </a:stretch>
        </p:blipFill>
        <p:spPr>
          <a:xfrm>
            <a:off x="0" y="32730"/>
            <a:ext cx="12192000" cy="682527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69E61EE-C9B7-D3CE-CD30-91B685DA01C8}"/>
              </a:ext>
            </a:extLst>
          </p:cNvPr>
          <p:cNvSpPr/>
          <p:nvPr/>
        </p:nvSpPr>
        <p:spPr>
          <a:xfrm>
            <a:off x="3140752" y="3239170"/>
            <a:ext cx="8944825" cy="3332606"/>
          </a:xfrm>
          <a:prstGeom prst="roundRect">
            <a:avLst/>
          </a:prstGeom>
          <a:solidFill>
            <a:srgbClr val="0162B3"/>
          </a:solidFill>
          <a:ln>
            <a:solidFill>
              <a:srgbClr val="0162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CA"/>
          </a:p>
        </p:txBody>
      </p:sp>
      <p:sp>
        <p:nvSpPr>
          <p:cNvPr id="6" name="TextBox 13">
            <a:extLst>
              <a:ext uri="{FF2B5EF4-FFF2-40B4-BE49-F238E27FC236}">
                <a16:creationId xmlns:a16="http://schemas.microsoft.com/office/drawing/2014/main" id="{A542C8AE-2AB7-8319-E412-F9A288B13E93}"/>
              </a:ext>
            </a:extLst>
          </p:cNvPr>
          <p:cNvSpPr txBox="1"/>
          <p:nvPr/>
        </p:nvSpPr>
        <p:spPr>
          <a:xfrm>
            <a:off x="5198295" y="3239170"/>
            <a:ext cx="6616011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en-US" sz="2400" b="1">
              <a:solidFill>
                <a:schemeClr val="bg1"/>
              </a:solidFill>
              <a:latin typeface="Georgia Pro" panose="02040502050405020303" pitchFamily="18" charset="0"/>
              <a:cs typeface="Courier New" panose="02070309020205020404" pitchFamily="49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Bacterial anti-phage structural homology: update 1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F4F5946-DD57-07A1-3245-051374CE6869}"/>
              </a:ext>
            </a:extLst>
          </p:cNvPr>
          <p:cNvSpPr>
            <a:spLocks noGrp="1"/>
          </p:cNvSpPr>
          <p:nvPr/>
        </p:nvSpPr>
        <p:spPr>
          <a:xfrm>
            <a:off x="5202143" y="4850131"/>
            <a:ext cx="5580778" cy="15947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Julian Moran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2026-02-19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 Centre for Applied Genomics, SickKids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3917246-DB80-E8F0-B6D3-7404470C69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4668" y="156850"/>
            <a:ext cx="2322549" cy="7449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85963E7-143E-076F-B646-7B0A8A6FEC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6946" y="3423854"/>
            <a:ext cx="1400078" cy="2907728"/>
          </a:xfrm>
          <a:prstGeom prst="rect">
            <a:avLst/>
          </a:prstGeom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F5741F7-B930-FEB1-2686-BEC1482FA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11321" y="6492875"/>
            <a:ext cx="2743200" cy="365125"/>
          </a:xfrm>
        </p:spPr>
        <p:txBody>
          <a:bodyPr/>
          <a:lstStyle/>
          <a:p>
            <a:fld id="{3899FC77-40C7-4C49-9A19-86BDE9B75E8A}" type="slidenum">
              <a:rPr lang="en-CA" smtClean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fld>
            <a:endParaRPr lang="en-CA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3151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562BA-96E7-CB3A-2EEF-8C1F3FD38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A8ABA83-B6F1-E50E-A43F-EF53FC6B6C08}"/>
              </a:ext>
            </a:extLst>
          </p:cNvPr>
          <p:cNvSpPr/>
          <p:nvPr/>
        </p:nvSpPr>
        <p:spPr>
          <a:xfrm>
            <a:off x="845609" y="372998"/>
            <a:ext cx="4704799" cy="649225"/>
          </a:xfrm>
          <a:prstGeom prst="roundRect">
            <a:avLst/>
          </a:prstGeom>
          <a:solidFill>
            <a:srgbClr val="0162B3"/>
          </a:solidFill>
          <a:ln>
            <a:solidFill>
              <a:srgbClr val="0162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4816639-416F-378A-9CD6-0190AB9F607C}"/>
                  </a:ext>
                </a:extLst>
              </p:cNvPr>
              <p:cNvSpPr txBox="1"/>
              <p:nvPr/>
            </p:nvSpPr>
            <p:spPr>
              <a:xfrm>
                <a:off x="845609" y="1614931"/>
                <a:ext cx="6421966" cy="23698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spcAft>
                    <a:spcPts val="1200"/>
                  </a:spcAft>
                </a:pPr>
                <a:r>
                  <a:rPr lang="en-US" sz="1600" b="1" dirty="0">
                    <a:latin typeface="Georgia Pro" panose="02040502050405020303" pitchFamily="18" charset="0"/>
                  </a:rPr>
                  <a:t>Foldseek</a:t>
                </a:r>
                <a:r>
                  <a:rPr lang="en-US" sz="1600" dirty="0">
                    <a:latin typeface="Georgia Pro" panose="02040502050405020303" pitchFamily="18" charset="0"/>
                  </a:rPr>
                  <a:t>, a protein structure search algorithm, depends on </a:t>
                </a:r>
                <a:r>
                  <a:rPr lang="en-US" sz="1600" b="1" dirty="0">
                    <a:latin typeface="Georgia Pro" panose="02040502050405020303" pitchFamily="18" charset="0"/>
                  </a:rPr>
                  <a:t>3Di</a:t>
                </a:r>
                <a:r>
                  <a:rPr lang="en-US" sz="1600" dirty="0">
                    <a:latin typeface="Georgia Pro" panose="02040502050405020303" pitchFamily="18" charset="0"/>
                  </a:rPr>
                  <a:t>, a method for representing 3D folded protein structures as one-dimensional sequences of a 20-letter code.</a:t>
                </a:r>
                <a:r>
                  <a:rPr lang="en-US" sz="1600" baseline="30000" dirty="0">
                    <a:latin typeface="Georgia Pro" panose="02040502050405020303" pitchFamily="18" charset="0"/>
                  </a:rPr>
                  <a:t>1</a:t>
                </a:r>
                <a:endParaRPr lang="en-US" sz="1600" dirty="0">
                  <a:latin typeface="Georgia Pro" panose="02040502050405020303" pitchFamily="18" charset="0"/>
                  <a:cs typeface="Courier New" panose="02070309020205020404" pitchFamily="49" charset="0"/>
                </a:endParaRPr>
              </a:p>
              <a:p>
                <a:pPr algn="just">
                  <a:spcAft>
                    <a:spcPts val="1200"/>
                  </a:spcAft>
                </a:pPr>
                <a:r>
                  <a:rPr lang="en-US" sz="1600" dirty="0">
                    <a:latin typeface="Georgia Pro" panose="02040502050405020303" pitchFamily="18" charset="0"/>
                    <a:cs typeface="Courier New" panose="02070309020205020404" pitchFamily="49" charset="0"/>
                  </a:rPr>
                  <a:t>Each character in the 20-letter code is represented in the latent space between an autoencoder and decoder neural network.</a:t>
                </a:r>
              </a:p>
              <a:p>
                <a:pPr algn="just">
                  <a:spcAft>
                    <a:spcPts val="1200"/>
                  </a:spcAft>
                </a:pPr>
                <a:r>
                  <a:rPr lang="en-US" sz="1600" dirty="0">
                    <a:latin typeface="Georgia Pro" panose="02040502050405020303" pitchFamily="18" charset="0"/>
                    <a:cs typeface="Courier New" panose="02070309020205020404" pitchFamily="49" charset="0"/>
                  </a:rPr>
                  <a:t>The autoencoder receives as input a 10-dimensional feature vector, where the features encapsulate the spatial relationship between two nearest spatial neighbor residues,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𝑖</m:t>
                    </m:r>
                  </m:oMath>
                </a14:m>
                <a:r>
                  <a:rPr lang="en-US" sz="1600" dirty="0">
                    <a:latin typeface="Georgia Pro" panose="02040502050405020303" pitchFamily="18" charset="0"/>
                    <a:cs typeface="Courier New" panose="02070309020205020404" pitchFamily="49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𝑗</m:t>
                    </m:r>
                  </m:oMath>
                </a14:m>
                <a:r>
                  <a:rPr lang="en-US" sz="1600" dirty="0">
                    <a:latin typeface="Georgia Pro" panose="02040502050405020303" pitchFamily="18" charset="0"/>
                    <a:cs typeface="Courier New" panose="02070309020205020404" pitchFamily="49" charset="0"/>
                  </a:rPr>
                  <a:t>, in the 3D structure.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4816639-416F-378A-9CD6-0190AB9F60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609" y="1614931"/>
                <a:ext cx="6421966" cy="2369880"/>
              </a:xfrm>
              <a:prstGeom prst="rect">
                <a:avLst/>
              </a:prstGeom>
              <a:blipFill>
                <a:blip r:embed="rId2"/>
                <a:stretch>
                  <a:fillRect l="-570" t="-771" r="-475" b="-231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D8F04AFD-2ACE-842C-9BD9-ECC48CC83FE5}"/>
              </a:ext>
            </a:extLst>
          </p:cNvPr>
          <p:cNvSpPr txBox="1"/>
          <p:nvPr/>
        </p:nvSpPr>
        <p:spPr>
          <a:xfrm>
            <a:off x="987552" y="485512"/>
            <a:ext cx="3538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Georgia Pro" panose="02040502050405020303" pitchFamily="18" charset="0"/>
              </a:rPr>
              <a:t>Background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3D8A36-3BEF-0B0F-88D9-198D070534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0843" y="1104900"/>
            <a:ext cx="3740193" cy="43053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B20CF7E-876A-A8A2-F053-557327004AF5}"/>
              </a:ext>
            </a:extLst>
          </p:cNvPr>
          <p:cNvSpPr txBox="1"/>
          <p:nvPr/>
        </p:nvSpPr>
        <p:spPr>
          <a:xfrm>
            <a:off x="8047736" y="5524500"/>
            <a:ext cx="3543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1">
                    <a:lumMod val="75000"/>
                  </a:schemeClr>
                </a:solidFill>
                <a:latin typeface="Georgia Pro" panose="02040502050405020303" pitchFamily="18" charset="0"/>
              </a:rPr>
              <a:t>Adapted from Barrio-Hernendez et al. 2023.</a:t>
            </a:r>
            <a:r>
              <a:rPr lang="en-US" sz="1400" baseline="30000">
                <a:solidFill>
                  <a:schemeClr val="bg1">
                    <a:lumMod val="75000"/>
                  </a:schemeClr>
                </a:solidFill>
                <a:latin typeface="Georgia Pro" panose="02040502050405020303" pitchFamily="18" charset="0"/>
              </a:rPr>
              <a:t>1</a:t>
            </a:r>
            <a:endParaRPr lang="en-CA" sz="1400">
              <a:solidFill>
                <a:schemeClr val="bg1">
                  <a:lumMod val="75000"/>
                </a:schemeClr>
              </a:solidFill>
              <a:latin typeface="Georgia Pro" panose="02040502050405020303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B07C51B-63F3-FEA2-5137-35C3AF828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FC77-40C7-4C49-9A19-86BDE9B75E8A}" type="slidenum">
              <a:rPr lang="en-CA" sz="1400" smtClean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fld>
            <a:endParaRPr lang="en-CA" sz="14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A097EA0-0839-740D-BBC5-BA05C224566A}"/>
                  </a:ext>
                </a:extLst>
              </p:cNvPr>
              <p:cNvSpPr txBox="1"/>
              <p:nvPr/>
            </p:nvSpPr>
            <p:spPr>
              <a:xfrm>
                <a:off x="3271626" y="5191111"/>
                <a:ext cx="1646131" cy="381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os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A097EA0-0839-740D-BBC5-BA05C2245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1626" y="5191111"/>
                <a:ext cx="1646131" cy="381515"/>
              </a:xfrm>
              <a:prstGeom prst="rect">
                <a:avLst/>
              </a:prstGeom>
              <a:blipFill>
                <a:blip r:embed="rId4"/>
                <a:stretch>
                  <a:fillRect b="-1129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F89102A7-DEB7-10AC-BC47-305C94A38F0D}"/>
              </a:ext>
            </a:extLst>
          </p:cNvPr>
          <p:cNvGrpSpPr/>
          <p:nvPr/>
        </p:nvGrpSpPr>
        <p:grpSpPr>
          <a:xfrm>
            <a:off x="845609" y="4497110"/>
            <a:ext cx="2247900" cy="1859240"/>
            <a:chOff x="3429000" y="4701580"/>
            <a:chExt cx="2247900" cy="1859240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830FEDEF-A6D4-B643-28F3-BD73A8B86D28}"/>
                </a:ext>
              </a:extLst>
            </p:cNvPr>
            <p:cNvGrpSpPr/>
            <p:nvPr/>
          </p:nvGrpSpPr>
          <p:grpSpPr>
            <a:xfrm>
              <a:off x="3513709" y="4728253"/>
              <a:ext cx="2096337" cy="1765086"/>
              <a:chOff x="3772468" y="4478224"/>
              <a:chExt cx="2096337" cy="1765086"/>
            </a:xfrm>
          </p:grpSpPr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75B8B62C-C308-1240-FE4A-5E9301A9EB87}"/>
                  </a:ext>
                </a:extLst>
              </p:cNvPr>
              <p:cNvCxnSpPr/>
              <p:nvPr/>
            </p:nvCxnSpPr>
            <p:spPr>
              <a:xfrm flipV="1">
                <a:off x="4277254" y="4838756"/>
                <a:ext cx="790575" cy="78105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0BEEFF29-395D-EA53-5368-C2D138D71E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77254" y="5619806"/>
                <a:ext cx="1024256" cy="24759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23771E7-024D-B87A-5196-AD3B6935B3E8}"/>
                  </a:ext>
                </a:extLst>
              </p:cNvPr>
              <p:cNvSpPr txBox="1"/>
              <p:nvPr/>
            </p:nvSpPr>
            <p:spPr>
              <a:xfrm>
                <a:off x="4455371" y="5351411"/>
                <a:ext cx="4343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l-GR">
                    <a:latin typeface="Cambria Math" panose="02040503050406030204" pitchFamily="18" charset="0"/>
                    <a:ea typeface="Cambria Math" panose="02040503050406030204" pitchFamily="18" charset="0"/>
                  </a:rPr>
                  <a:t>θ</a:t>
                </a:r>
                <a:endParaRPr lang="en-CA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B1625727-0CDF-3232-4C8C-95B4A4D84218}"/>
                      </a:ext>
                    </a:extLst>
                  </p:cNvPr>
                  <p:cNvSpPr txBox="1"/>
                  <p:nvPr/>
                </p:nvSpPr>
                <p:spPr>
                  <a:xfrm>
                    <a:off x="4294081" y="4776220"/>
                    <a:ext cx="49530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CA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B1625727-0CDF-3232-4C8C-95B4A4D8421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94081" y="4776220"/>
                    <a:ext cx="495301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C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9F7317A6-2337-8614-16AB-86123AA2E5FB}"/>
                      </a:ext>
                    </a:extLst>
                  </p:cNvPr>
                  <p:cNvSpPr txBox="1"/>
                  <p:nvPr/>
                </p:nvSpPr>
                <p:spPr>
                  <a:xfrm>
                    <a:off x="4395891" y="5873978"/>
                    <a:ext cx="49530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oMath>
                      </m:oMathPara>
                    </a14:m>
                    <a:endParaRPr lang="en-CA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9F7317A6-2337-8614-16AB-86123AA2E5F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95891" y="5873978"/>
                    <a:ext cx="495301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C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75933132-7A80-DBF7-9E50-D8A8701C5480}"/>
                      </a:ext>
                    </a:extLst>
                  </p:cNvPr>
                  <p:cNvSpPr txBox="1"/>
                  <p:nvPr/>
                </p:nvSpPr>
                <p:spPr>
                  <a:xfrm>
                    <a:off x="3772468" y="5536077"/>
                    <a:ext cx="495301" cy="38151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l-G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α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oMath>
                      </m:oMathPara>
                    </a14:m>
                    <a:endParaRPr lang="en-CA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75933132-7A80-DBF7-9E50-D8A8701C548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72468" y="5536077"/>
                    <a:ext cx="495301" cy="38151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C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95876399-88BE-485D-B7CD-64F3FAADD2DE}"/>
                      </a:ext>
                    </a:extLst>
                  </p:cNvPr>
                  <p:cNvSpPr txBox="1"/>
                  <p:nvPr/>
                </p:nvSpPr>
                <p:spPr>
                  <a:xfrm>
                    <a:off x="5045625" y="4478224"/>
                    <a:ext cx="495301" cy="38151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l-G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α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en-CA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95876399-88BE-485D-B7CD-64F3FAADD2D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45625" y="4478224"/>
                    <a:ext cx="495301" cy="38151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r="-39024"/>
                    </a:stretch>
                  </a:blipFill>
                </p:spPr>
                <p:txBody>
                  <a:bodyPr/>
                  <a:lstStyle/>
                  <a:p>
                    <a:r>
                      <a:rPr lang="en-C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12199813-2201-34AF-6C91-87BAF70F9204}"/>
                      </a:ext>
                    </a:extLst>
                  </p:cNvPr>
                  <p:cNvSpPr txBox="1"/>
                  <p:nvPr/>
                </p:nvSpPr>
                <p:spPr>
                  <a:xfrm>
                    <a:off x="5373504" y="5764384"/>
                    <a:ext cx="495301" cy="39164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l-G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α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oMath>
                      </m:oMathPara>
                    </a14:m>
                    <a:endParaRPr lang="en-CA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12199813-2201-34AF-6C91-87BAF70F920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73504" y="5764384"/>
                    <a:ext cx="495301" cy="391646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r="-4938" b="-7813"/>
                    </a:stretch>
                  </a:blipFill>
                </p:spPr>
                <p:txBody>
                  <a:bodyPr/>
                  <a:lstStyle/>
                  <a:p>
                    <a:r>
                      <a:rPr lang="en-CA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91993D5-1B5D-0713-39F3-1AAFED2EED4B}"/>
                </a:ext>
              </a:extLst>
            </p:cNvPr>
            <p:cNvSpPr/>
            <p:nvPr/>
          </p:nvSpPr>
          <p:spPr>
            <a:xfrm>
              <a:off x="3429000" y="4701580"/>
              <a:ext cx="2247900" cy="1859240"/>
            </a:xfrm>
            <a:prstGeom prst="rect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3390092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5506A4A-AC64-A85A-503D-AF2771A2918A}"/>
              </a:ext>
            </a:extLst>
          </p:cNvPr>
          <p:cNvSpPr/>
          <p:nvPr/>
        </p:nvSpPr>
        <p:spPr>
          <a:xfrm>
            <a:off x="845609" y="649223"/>
            <a:ext cx="4704799" cy="649225"/>
          </a:xfrm>
          <a:prstGeom prst="roundRect">
            <a:avLst/>
          </a:prstGeom>
          <a:solidFill>
            <a:srgbClr val="0162B3"/>
          </a:solidFill>
          <a:ln>
            <a:solidFill>
              <a:srgbClr val="0162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4D71F2-ED93-AC2A-E919-57A0E4E48C2A}"/>
              </a:ext>
            </a:extLst>
          </p:cNvPr>
          <p:cNvSpPr txBox="1"/>
          <p:nvPr/>
        </p:nvSpPr>
        <p:spPr>
          <a:xfrm>
            <a:off x="845608" y="1922780"/>
            <a:ext cx="6487879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n-US" sz="1600" b="1" dirty="0">
                <a:latin typeface="Georgia Pro" panose="02040502050405020303" pitchFamily="18" charset="0"/>
                <a:cs typeface="Courier New" panose="02070309020205020404" pitchFamily="49" charset="0"/>
              </a:rPr>
              <a:t>Foldseek cluster</a:t>
            </a:r>
            <a:r>
              <a:rPr lang="en-US" sz="1600" dirty="0">
                <a:latin typeface="Georgia Pro" panose="02040502050405020303" pitchFamily="18" charset="0"/>
                <a:cs typeface="Courier New" panose="02070309020205020404" pitchFamily="49" charset="0"/>
              </a:rPr>
              <a:t>, a clustering algorithm, leverages both primary amino acid sequence homology and structural homology to group proteins together.</a:t>
            </a:r>
            <a:r>
              <a:rPr lang="en-US" sz="1600" baseline="30000" dirty="0">
                <a:latin typeface="Georgia Pro" panose="02040502050405020303" pitchFamily="18" charset="0"/>
                <a:cs typeface="Courier New" panose="02070309020205020404" pitchFamily="49" charset="0"/>
              </a:rPr>
              <a:t>2</a:t>
            </a:r>
            <a:endParaRPr lang="en-US" sz="1600" dirty="0">
              <a:latin typeface="Georgia Pro" panose="02040502050405020303" pitchFamily="18" charset="0"/>
              <a:cs typeface="Courier New" panose="02070309020205020404" pitchFamily="49" charset="0"/>
            </a:endParaRPr>
          </a:p>
          <a:p>
            <a:pPr algn="just">
              <a:spcAft>
                <a:spcPts val="1200"/>
              </a:spcAft>
            </a:pPr>
            <a:r>
              <a:rPr lang="en-US" sz="1600" dirty="0">
                <a:latin typeface="Georgia Pro" panose="02040502050405020303" pitchFamily="18" charset="0"/>
                <a:cs typeface="Courier New" panose="02070309020205020404" pitchFamily="49" charset="0"/>
              </a:rPr>
              <a:t>It takes as input the entire AlphaFold database (214 million sequences and predicted structures) clustered with MMSeqs2, which uses primary amino acid sequence. Here, sequence cluster membership is thresheld at 50% sequence identity and 90% sequence alignment overlap, yielding 52 million clusters.</a:t>
            </a:r>
          </a:p>
          <a:p>
            <a:pPr algn="just">
              <a:spcAft>
                <a:spcPts val="1200"/>
              </a:spcAft>
            </a:pPr>
            <a:r>
              <a:rPr lang="en-US" sz="1600" dirty="0">
                <a:latin typeface="Georgia Pro" panose="02040502050405020303" pitchFamily="18" charset="0"/>
                <a:cs typeface="Courier New" panose="02070309020205020404" pitchFamily="49" charset="0"/>
              </a:rPr>
              <a:t>Foldseek cluster then further clusters the 3Di sequences of "representative structures" (   ) from each cluster (i.e. structure with highest pLDDT), with membership thresheld at e-value 0.01 and 90% structural alignment overlap, yielding 19 million clusters.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49862E-67BD-690C-AE3D-A8F06A304190}"/>
              </a:ext>
            </a:extLst>
          </p:cNvPr>
          <p:cNvSpPr txBox="1"/>
          <p:nvPr/>
        </p:nvSpPr>
        <p:spPr>
          <a:xfrm>
            <a:off x="987552" y="761737"/>
            <a:ext cx="3538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Georgia Pro" panose="02040502050405020303" pitchFamily="18" charset="0"/>
              </a:rPr>
              <a:t>Background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7A362C-0F5D-C533-4AB1-071B7F7AA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FC77-40C7-4C49-9A19-86BDE9B75E8A}" type="slidenum">
              <a:rPr lang="en-CA" smtClean="0"/>
              <a:t>3</a:t>
            </a:fld>
            <a:endParaRPr lang="en-CA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01E4B01-489E-5C2D-0B3D-F65A3C9BDD64}"/>
              </a:ext>
            </a:extLst>
          </p:cNvPr>
          <p:cNvGrpSpPr/>
          <p:nvPr/>
        </p:nvGrpSpPr>
        <p:grpSpPr>
          <a:xfrm>
            <a:off x="8220723" y="769622"/>
            <a:ext cx="1265130" cy="5414857"/>
            <a:chOff x="7973834" y="428159"/>
            <a:chExt cx="1427719" cy="611075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184B2CA-3FC0-55C8-EA04-9E0E3494DC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21035"/>
            <a:stretch>
              <a:fillRect/>
            </a:stretch>
          </p:blipFill>
          <p:spPr>
            <a:xfrm>
              <a:off x="8178817" y="428159"/>
              <a:ext cx="863566" cy="1494621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0EC3EEF4-FE72-93EE-08CD-A578F0C593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73834" y="2633471"/>
              <a:ext cx="1427719" cy="1342799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CC5498E5-29DD-B855-656B-1268D6DD0A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225836" y="4420538"/>
              <a:ext cx="1016440" cy="2118374"/>
            </a:xfrm>
            <a:prstGeom prst="rect">
              <a:avLst/>
            </a:prstGeom>
          </p:spPr>
        </p:pic>
        <p:sp>
          <p:nvSpPr>
            <p:cNvPr id="23" name="Arrow: Right 22">
              <a:extLst>
                <a:ext uri="{FF2B5EF4-FFF2-40B4-BE49-F238E27FC236}">
                  <a16:creationId xmlns:a16="http://schemas.microsoft.com/office/drawing/2014/main" id="{2AD42A94-FAF9-4117-7840-F6D16DDEE7A7}"/>
                </a:ext>
              </a:extLst>
            </p:cNvPr>
            <p:cNvSpPr/>
            <p:nvPr/>
          </p:nvSpPr>
          <p:spPr>
            <a:xfrm rot="5400000">
              <a:off x="8356827" y="2120042"/>
              <a:ext cx="377952" cy="283780"/>
            </a:xfrm>
            <a:prstGeom prst="rightArrow">
              <a:avLst>
                <a:gd name="adj1" fmla="val 50000"/>
                <a:gd name="adj2" fmla="val 40333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" name="Arrow: Right 23">
              <a:extLst>
                <a:ext uri="{FF2B5EF4-FFF2-40B4-BE49-F238E27FC236}">
                  <a16:creationId xmlns:a16="http://schemas.microsoft.com/office/drawing/2014/main" id="{5F98F415-00AB-67EB-9F64-B7388E0D4806}"/>
                </a:ext>
              </a:extLst>
            </p:cNvPr>
            <p:cNvSpPr/>
            <p:nvPr/>
          </p:nvSpPr>
          <p:spPr>
            <a:xfrm rot="5400000">
              <a:off x="8367507" y="4089672"/>
              <a:ext cx="377952" cy="283780"/>
            </a:xfrm>
            <a:prstGeom prst="rightArrow">
              <a:avLst>
                <a:gd name="adj1" fmla="val 50000"/>
                <a:gd name="adj2" fmla="val 40333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35B1E634-4FD6-483E-10E3-754606BB4796}"/>
              </a:ext>
            </a:extLst>
          </p:cNvPr>
          <p:cNvSpPr txBox="1"/>
          <p:nvPr/>
        </p:nvSpPr>
        <p:spPr>
          <a:xfrm>
            <a:off x="9167585" y="2187005"/>
            <a:ext cx="1719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MMSeqs2</a:t>
            </a:r>
            <a:endParaRPr lang="en-CA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7A3273A-12AC-1936-9ACB-EA2A77ECDC9A}"/>
              </a:ext>
            </a:extLst>
          </p:cNvPr>
          <p:cNvSpPr txBox="1"/>
          <p:nvPr/>
        </p:nvSpPr>
        <p:spPr>
          <a:xfrm>
            <a:off x="9122664" y="3935707"/>
            <a:ext cx="261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Foldseek cluster</a:t>
            </a:r>
            <a:endParaRPr lang="en-CA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C28D6C1-ADB4-7F1D-D281-37A5411AE665}"/>
              </a:ext>
            </a:extLst>
          </p:cNvPr>
          <p:cNvSpPr txBox="1"/>
          <p:nvPr/>
        </p:nvSpPr>
        <p:spPr>
          <a:xfrm>
            <a:off x="9627319" y="973835"/>
            <a:ext cx="1336337" cy="738664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>
                <a:latin typeface="Verdana Pro" panose="020B0604030504040204" pitchFamily="34" charset="0"/>
                <a:cs typeface="Arial" panose="020B0604020202020204" pitchFamily="34" charset="0"/>
              </a:rPr>
              <a:t>214 million protein sequences</a:t>
            </a:r>
            <a:endParaRPr lang="en-CA" sz="1400">
              <a:latin typeface="Verdana Pro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90135AE-CF85-4488-741D-00F113793E9F}"/>
              </a:ext>
            </a:extLst>
          </p:cNvPr>
          <p:cNvSpPr txBox="1"/>
          <p:nvPr/>
        </p:nvSpPr>
        <p:spPr>
          <a:xfrm>
            <a:off x="9627319" y="2816694"/>
            <a:ext cx="1336337" cy="738664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>
                <a:latin typeface="Verdana Pro" panose="020B0604030504040204" pitchFamily="34" charset="0"/>
                <a:cs typeface="Arial" panose="020B0604020202020204" pitchFamily="34" charset="0"/>
              </a:rPr>
              <a:t>52 million sequence clusters</a:t>
            </a:r>
            <a:endParaRPr lang="en-CA" sz="1400">
              <a:latin typeface="Verdana Pro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4BF6988-3640-79F1-78A6-DD33977711A3}"/>
              </a:ext>
            </a:extLst>
          </p:cNvPr>
          <p:cNvSpPr txBox="1"/>
          <p:nvPr/>
        </p:nvSpPr>
        <p:spPr>
          <a:xfrm>
            <a:off x="9627319" y="4779545"/>
            <a:ext cx="1336337" cy="738664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Verdana Pro" panose="020B0604030504040204" pitchFamily="34" charset="0"/>
                <a:cs typeface="Arial" panose="020B0604020202020204" pitchFamily="34" charset="0"/>
              </a:rPr>
              <a:t>19 million Foldseek clusters</a:t>
            </a:r>
            <a:endParaRPr lang="en-CA" sz="1400" dirty="0">
              <a:latin typeface="Verdana Pro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E9FA050-54EA-FD81-6D49-E2C07497EBD5}"/>
              </a:ext>
            </a:extLst>
          </p:cNvPr>
          <p:cNvSpPr/>
          <p:nvPr/>
        </p:nvSpPr>
        <p:spPr>
          <a:xfrm>
            <a:off x="3550920" y="4509516"/>
            <a:ext cx="154858" cy="160020"/>
          </a:xfrm>
          <a:prstGeom prst="ellipse">
            <a:avLst/>
          </a:prstGeom>
          <a:solidFill>
            <a:srgbClr val="C55A1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46358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A4DD25F-C079-98B5-D407-70A510C609B0}"/>
              </a:ext>
            </a:extLst>
          </p:cNvPr>
          <p:cNvSpPr/>
          <p:nvPr/>
        </p:nvSpPr>
        <p:spPr>
          <a:xfrm>
            <a:off x="845609" y="725423"/>
            <a:ext cx="7917391" cy="649225"/>
          </a:xfrm>
          <a:prstGeom prst="roundRect">
            <a:avLst/>
          </a:prstGeom>
          <a:solidFill>
            <a:srgbClr val="0162B3"/>
          </a:solidFill>
          <a:ln>
            <a:solidFill>
              <a:srgbClr val="0162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34E578-3FDE-5C1D-35AE-47A79F4E684B}"/>
              </a:ext>
            </a:extLst>
          </p:cNvPr>
          <p:cNvSpPr txBox="1"/>
          <p:nvPr/>
        </p:nvSpPr>
        <p:spPr>
          <a:xfrm>
            <a:off x="768096" y="2011680"/>
            <a:ext cx="9272016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2400" dirty="0">
                <a:latin typeface="Georgia Pro" panose="02040502050405020303" pitchFamily="18" charset="0"/>
              </a:rPr>
              <a:t>Which human proteins in the Foldseek cluster dataset exhibit strong homology with bacterial immune system proteins?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US" sz="2400" dirty="0">
              <a:latin typeface="Verdana Pro" panose="020B0604030504040204" pitchFamily="34" charset="0"/>
            </a:endParaRPr>
          </a:p>
          <a:p>
            <a:pPr marL="914400" lvl="1" indent="-457200">
              <a:buFont typeface="+mj-lt"/>
              <a:buAutoNum type="arabicPeriod"/>
            </a:pPr>
            <a:endParaRPr lang="en-US" sz="2400" dirty="0">
              <a:latin typeface="Verdana Pro" panose="020B0604030504040204" pitchFamily="34" charset="0"/>
            </a:endParaRP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2400" dirty="0">
                <a:latin typeface="Georgia Pro" panose="02040502050405020303" pitchFamily="18" charset="0"/>
                <a:cs typeface="Courier New" panose="02070309020205020404" pitchFamily="49" charset="0"/>
              </a:rPr>
              <a:t>Based on the structural homology, can we hypothesise about previously uncharacterised functions of the human proteins?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000" dirty="0">
              <a:latin typeface="Verdana Pro" panose="020B060403050404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32CAE3-AB36-FC47-6B44-8DC681B5189D}"/>
              </a:ext>
            </a:extLst>
          </p:cNvPr>
          <p:cNvSpPr txBox="1"/>
          <p:nvPr/>
        </p:nvSpPr>
        <p:spPr>
          <a:xfrm>
            <a:off x="987552" y="761737"/>
            <a:ext cx="55783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chemeClr val="bg1"/>
                </a:solidFill>
                <a:latin typeface="Georgia Pro" panose="02040502050405020303" pitchFamily="18" charset="0"/>
              </a:rPr>
              <a:t>Research questions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2CB2A2-9134-88C1-0B43-B74BA4835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FC77-40C7-4C49-9A19-86BDE9B75E8A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20809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2FF9267-68B8-3BE3-A98A-747856E0EF47}"/>
              </a:ext>
            </a:extLst>
          </p:cNvPr>
          <p:cNvSpPr/>
          <p:nvPr/>
        </p:nvSpPr>
        <p:spPr>
          <a:xfrm>
            <a:off x="366637" y="275480"/>
            <a:ext cx="7917391" cy="726006"/>
          </a:xfrm>
          <a:prstGeom prst="roundRect">
            <a:avLst/>
          </a:prstGeom>
          <a:solidFill>
            <a:srgbClr val="0162B3"/>
          </a:solidFill>
          <a:ln>
            <a:solidFill>
              <a:srgbClr val="0162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C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E2D577-1E20-E537-D9AC-C4C42D92B93B}"/>
              </a:ext>
            </a:extLst>
          </p:cNvPr>
          <p:cNvSpPr txBox="1"/>
          <p:nvPr/>
        </p:nvSpPr>
        <p:spPr>
          <a:xfrm>
            <a:off x="508580" y="311794"/>
            <a:ext cx="75613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chemeClr val="bg1"/>
                </a:solidFill>
                <a:latin typeface="Georgia Pro" panose="02040502050405020303" pitchFamily="18" charset="0"/>
              </a:rPr>
              <a:t>A Jain pipeline summary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26950E-4CDF-CC4F-D749-BD292832C9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4029" y="1338941"/>
            <a:ext cx="2090059" cy="2090059"/>
          </a:xfrm>
          <a:prstGeom prst="ellipse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49DD760-25A1-952C-6013-6AC669564AF2}"/>
              </a:ext>
            </a:extLst>
          </p:cNvPr>
          <p:cNvSpPr txBox="1"/>
          <p:nvPr/>
        </p:nvSpPr>
        <p:spPr>
          <a:xfrm>
            <a:off x="8284028" y="3429000"/>
            <a:ext cx="2090059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Georgia Pro" panose="02040502050405020303" pitchFamily="18" charset="0"/>
              </a:rPr>
              <a:t>Anjali Jain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Bioinformatician at the Centre for Computational Medicine (CCM)</a:t>
            </a:r>
            <a:endParaRPr lang="en-CA" sz="14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53D6E2-018F-F240-F1D8-DA0C26A5859D}"/>
              </a:ext>
            </a:extLst>
          </p:cNvPr>
          <p:cNvSpPr txBox="1"/>
          <p:nvPr/>
        </p:nvSpPr>
        <p:spPr>
          <a:xfrm>
            <a:off x="2996183" y="5564666"/>
            <a:ext cx="3564709" cy="923330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CA" dirty="0" err="1">
                <a:latin typeface="Verdana Pro" panose="020B0604030504040204" pitchFamily="34" charset="0"/>
              </a:rPr>
              <a:t>UniprotKB</a:t>
            </a:r>
            <a:r>
              <a:rPr lang="en-CA" dirty="0">
                <a:latin typeface="Verdana Pro" panose="020B0604030504040204" pitchFamily="34" charset="0"/>
              </a:rPr>
              <a:t> annotations for DefenseFinder </a:t>
            </a:r>
            <a:r>
              <a:rPr lang="en-CA" dirty="0">
                <a:latin typeface="Verdana Pro" panose="020B0604030504040204" pitchFamily="34" charset="0"/>
                <a:sym typeface="Wingdings" panose="05000000000000000000" pitchFamily="2" charset="2"/>
              </a:rPr>
              <a:t> </a:t>
            </a:r>
            <a:r>
              <a:rPr lang="en-CA" i="1" dirty="0">
                <a:latin typeface="Verdana Pro" panose="020B0604030504040204" pitchFamily="34" charset="0"/>
                <a:sym typeface="Wingdings" panose="05000000000000000000" pitchFamily="2" charset="2"/>
              </a:rPr>
              <a:t>H. sapiens</a:t>
            </a:r>
            <a:r>
              <a:rPr lang="en-CA" dirty="0">
                <a:latin typeface="Verdana Pro" panose="020B0604030504040204" pitchFamily="34" charset="0"/>
                <a:sym typeface="Wingdings" panose="05000000000000000000" pitchFamily="2" charset="2"/>
              </a:rPr>
              <a:t> protein pairs</a:t>
            </a:r>
            <a:endParaRPr lang="en-CA" dirty="0">
              <a:latin typeface="Verdana Pro" panose="020B060403050404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44B9A0-65AB-D3B9-0DF4-A1F03444D005}"/>
              </a:ext>
            </a:extLst>
          </p:cNvPr>
          <p:cNvSpPr txBox="1"/>
          <p:nvPr/>
        </p:nvSpPr>
        <p:spPr>
          <a:xfrm>
            <a:off x="2615184" y="1463533"/>
            <a:ext cx="4224528" cy="369332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Verdana Pro" panose="020B0604030504040204" pitchFamily="34" charset="0"/>
              </a:rPr>
              <a:t>DefenseFinder RefSeq IDs</a:t>
            </a:r>
            <a:endParaRPr lang="en-CA" dirty="0">
              <a:latin typeface="Verdana Pro" panose="020B060403050404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8F9F3B-E774-A0F7-D09E-D950DB7C73A8}"/>
              </a:ext>
            </a:extLst>
          </p:cNvPr>
          <p:cNvSpPr txBox="1"/>
          <p:nvPr/>
        </p:nvSpPr>
        <p:spPr>
          <a:xfrm>
            <a:off x="2889504" y="2204139"/>
            <a:ext cx="3675888" cy="369332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Verdana Pro" panose="020B0604030504040204" pitchFamily="34" charset="0"/>
              </a:rPr>
              <a:t>DefenseFinder UniProt IDs</a:t>
            </a:r>
            <a:endParaRPr lang="en-CA" dirty="0">
              <a:latin typeface="Verdana Pro" panose="020B060403050404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BEBDC6-CB78-10C7-35E8-F914B31880F6}"/>
              </a:ext>
            </a:extLst>
          </p:cNvPr>
          <p:cNvSpPr txBox="1"/>
          <p:nvPr/>
        </p:nvSpPr>
        <p:spPr>
          <a:xfrm>
            <a:off x="2889504" y="2950314"/>
            <a:ext cx="3675888" cy="646331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Verdana Pro" panose="020B0604030504040204" pitchFamily="34" charset="0"/>
              </a:rPr>
              <a:t>Foldseek clusters containing DefenseFinder proteins</a:t>
            </a:r>
            <a:endParaRPr lang="en-CA" dirty="0">
              <a:latin typeface="Verdana Pro" panose="020B060403050404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43C7BB-A136-63C0-C4EF-3A912685EFCA}"/>
              </a:ext>
            </a:extLst>
          </p:cNvPr>
          <p:cNvSpPr txBox="1"/>
          <p:nvPr/>
        </p:nvSpPr>
        <p:spPr>
          <a:xfrm>
            <a:off x="2940594" y="4008642"/>
            <a:ext cx="3675888" cy="1200329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Verdana Pro" panose="020B0604030504040204" pitchFamily="34" charset="0"/>
              </a:rPr>
              <a:t>DefenseFinder proteins and their homologous </a:t>
            </a:r>
            <a:r>
              <a:rPr lang="en-US" i="1" dirty="0">
                <a:latin typeface="Verdana Pro" panose="020B0604030504040204" pitchFamily="34" charset="0"/>
              </a:rPr>
              <a:t>H. sapiens</a:t>
            </a:r>
            <a:r>
              <a:rPr lang="en-US" dirty="0">
                <a:latin typeface="Verdana Pro" panose="020B0604030504040204" pitchFamily="34" charset="0"/>
              </a:rPr>
              <a:t> proteins (based on cluster similarity)</a:t>
            </a: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4E73F904-E2A4-9FD5-295A-44564D46AC45}"/>
              </a:ext>
            </a:extLst>
          </p:cNvPr>
          <p:cNvSpPr/>
          <p:nvPr/>
        </p:nvSpPr>
        <p:spPr>
          <a:xfrm>
            <a:off x="4636008" y="1901952"/>
            <a:ext cx="182880" cy="247323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EE150987-00EA-DC4E-6EF7-B33FBF33FC50}"/>
              </a:ext>
            </a:extLst>
          </p:cNvPr>
          <p:cNvSpPr/>
          <p:nvPr/>
        </p:nvSpPr>
        <p:spPr>
          <a:xfrm>
            <a:off x="4636008" y="2655808"/>
            <a:ext cx="182880" cy="247323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8B021541-69C8-8059-93C6-A8E7CAE79327}"/>
              </a:ext>
            </a:extLst>
          </p:cNvPr>
          <p:cNvSpPr/>
          <p:nvPr/>
        </p:nvSpPr>
        <p:spPr>
          <a:xfrm>
            <a:off x="4636008" y="3684928"/>
            <a:ext cx="182880" cy="247323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0F5CEEFD-5B19-B315-65FA-C099CD67D796}"/>
              </a:ext>
            </a:extLst>
          </p:cNvPr>
          <p:cNvSpPr/>
          <p:nvPr/>
        </p:nvSpPr>
        <p:spPr>
          <a:xfrm>
            <a:off x="4636008" y="5270805"/>
            <a:ext cx="182880" cy="247323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C8DE71-5FFA-E044-08A1-09A25D2E58D3}"/>
              </a:ext>
            </a:extLst>
          </p:cNvPr>
          <p:cNvSpPr txBox="1"/>
          <p:nvPr/>
        </p:nvSpPr>
        <p:spPr>
          <a:xfrm>
            <a:off x="6716630" y="5570465"/>
            <a:ext cx="27066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321,575 protein pairs for the Zorya, Vipirin, and Gasdermin bacterial immune systems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C2C1A496-4D1C-8722-295B-EB6A62DF7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FC77-40C7-4C49-9A19-86BDE9B75E8A}" type="slidenum">
              <a:rPr lang="en-CA" smtClean="0"/>
              <a:pPr/>
              <a:t>5</a:t>
            </a:fld>
            <a:endParaRPr lang="en-CA" sz="1400"/>
          </a:p>
        </p:txBody>
      </p:sp>
    </p:spTree>
    <p:extLst>
      <p:ext uri="{BB962C8B-B14F-4D97-AF65-F5344CB8AC3E}">
        <p14:creationId xmlns:p14="http://schemas.microsoft.com/office/powerpoint/2010/main" val="36863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15BC284-1C37-BDC1-0835-D765741632D6}"/>
              </a:ext>
            </a:extLst>
          </p:cNvPr>
          <p:cNvSpPr/>
          <p:nvPr/>
        </p:nvSpPr>
        <p:spPr>
          <a:xfrm>
            <a:off x="366637" y="275480"/>
            <a:ext cx="7917391" cy="712072"/>
          </a:xfrm>
          <a:prstGeom prst="roundRect">
            <a:avLst/>
          </a:prstGeom>
          <a:solidFill>
            <a:srgbClr val="0162B3"/>
          </a:solidFill>
          <a:ln>
            <a:solidFill>
              <a:srgbClr val="0162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C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85E96A-B47A-F8E9-37E7-32EFB0A00396}"/>
              </a:ext>
            </a:extLst>
          </p:cNvPr>
          <p:cNvSpPr txBox="1"/>
          <p:nvPr/>
        </p:nvSpPr>
        <p:spPr>
          <a:xfrm>
            <a:off x="508580" y="311794"/>
            <a:ext cx="75613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chemeClr val="bg1"/>
                </a:solidFill>
                <a:latin typeface="Georgia Pro" panose="02040502050405020303" pitchFamily="18" charset="0"/>
              </a:rPr>
              <a:t>Downstream prioritization</a:t>
            </a:r>
            <a:endParaRPr lang="en-US" sz="2000" b="1">
              <a:solidFill>
                <a:schemeClr val="bg1"/>
              </a:solidFill>
              <a:latin typeface="Georgia Pro" panose="02040502050405020303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6BAABF-1AAA-E264-AB5D-709BE1E3244E}"/>
              </a:ext>
            </a:extLst>
          </p:cNvPr>
          <p:cNvSpPr txBox="1"/>
          <p:nvPr/>
        </p:nvSpPr>
        <p:spPr>
          <a:xfrm>
            <a:off x="724552" y="1239816"/>
            <a:ext cx="3564709" cy="1000274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CA" dirty="0">
                <a:latin typeface="Verdana Pro" panose="020B0604030504040204" pitchFamily="34" charset="0"/>
              </a:rPr>
              <a:t>321,575 </a:t>
            </a:r>
          </a:p>
          <a:p>
            <a:pPr algn="ctr"/>
            <a:r>
              <a:rPr lang="en-CA" dirty="0">
                <a:latin typeface="Verdana Pro" panose="020B0604030504040204" pitchFamily="34" charset="0"/>
              </a:rPr>
              <a:t>DefenseFinder </a:t>
            </a:r>
            <a:r>
              <a:rPr lang="en-CA" dirty="0">
                <a:latin typeface="Verdana Pro" panose="020B0604030504040204" pitchFamily="34" charset="0"/>
                <a:sym typeface="Wingdings" panose="05000000000000000000" pitchFamily="2" charset="2"/>
              </a:rPr>
              <a:t> </a:t>
            </a:r>
            <a:r>
              <a:rPr lang="en-CA" i="1" dirty="0">
                <a:latin typeface="Verdana Pro" panose="020B0604030504040204" pitchFamily="34" charset="0"/>
                <a:sym typeface="Wingdings" panose="05000000000000000000" pitchFamily="2" charset="2"/>
              </a:rPr>
              <a:t>H. sapiens</a:t>
            </a:r>
            <a:r>
              <a:rPr lang="en-CA" dirty="0">
                <a:latin typeface="Verdana Pro" panose="020B0604030504040204" pitchFamily="34" charset="0"/>
                <a:sym typeface="Wingdings" panose="05000000000000000000" pitchFamily="2" charset="2"/>
              </a:rPr>
              <a:t> protein pairs</a:t>
            </a:r>
            <a:endParaRPr lang="en-CA" dirty="0">
              <a:latin typeface="Verdana Pro" panose="020B0604030504040204" pitchFamily="34" charset="0"/>
            </a:endParaRP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9647F595-9119-C810-03D9-B9DF50819D27}"/>
              </a:ext>
            </a:extLst>
          </p:cNvPr>
          <p:cNvSpPr/>
          <p:nvPr/>
        </p:nvSpPr>
        <p:spPr>
          <a:xfrm>
            <a:off x="2306775" y="2472035"/>
            <a:ext cx="400261" cy="541305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466EFA-21A0-13A8-F7E4-8964D82A62A9}"/>
              </a:ext>
            </a:extLst>
          </p:cNvPr>
          <p:cNvSpPr txBox="1"/>
          <p:nvPr/>
        </p:nvSpPr>
        <p:spPr>
          <a:xfrm>
            <a:off x="724552" y="3301246"/>
            <a:ext cx="3564709" cy="1000274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CA" dirty="0">
                <a:latin typeface="Verdana Pro" panose="020B0604030504040204" pitchFamily="34" charset="0"/>
              </a:rPr>
              <a:t>279 </a:t>
            </a:r>
          </a:p>
          <a:p>
            <a:pPr algn="ctr"/>
            <a:r>
              <a:rPr lang="en-CA" dirty="0">
                <a:latin typeface="Verdana Pro" panose="020B0604030504040204" pitchFamily="34" charset="0"/>
              </a:rPr>
              <a:t>DefenseFinder </a:t>
            </a:r>
            <a:r>
              <a:rPr lang="en-CA" dirty="0">
                <a:latin typeface="Verdana Pro" panose="020B0604030504040204" pitchFamily="34" charset="0"/>
                <a:sym typeface="Wingdings" panose="05000000000000000000" pitchFamily="2" charset="2"/>
              </a:rPr>
              <a:t> </a:t>
            </a:r>
            <a:r>
              <a:rPr lang="en-CA" i="1" dirty="0">
                <a:latin typeface="Verdana Pro" panose="020B0604030504040204" pitchFamily="34" charset="0"/>
                <a:sym typeface="Wingdings" panose="05000000000000000000" pitchFamily="2" charset="2"/>
              </a:rPr>
              <a:t>H. sapiens</a:t>
            </a:r>
            <a:r>
              <a:rPr lang="en-CA" dirty="0">
                <a:latin typeface="Verdana Pro" panose="020B0604030504040204" pitchFamily="34" charset="0"/>
                <a:sym typeface="Wingdings" panose="05000000000000000000" pitchFamily="2" charset="2"/>
              </a:rPr>
              <a:t> protein pairs</a:t>
            </a:r>
            <a:endParaRPr lang="en-CA" dirty="0">
              <a:latin typeface="Verdana Pro" panose="020B0604030504040204" pitchFamily="34" charset="0"/>
            </a:endParaRP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23F11252-A2BB-4859-9D96-C1FD460DC7B6}"/>
              </a:ext>
            </a:extLst>
          </p:cNvPr>
          <p:cNvSpPr/>
          <p:nvPr/>
        </p:nvSpPr>
        <p:spPr>
          <a:xfrm>
            <a:off x="2306775" y="4671263"/>
            <a:ext cx="400261" cy="541305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9A94BD-85E0-019B-6FD7-D396DE211EB9}"/>
              </a:ext>
            </a:extLst>
          </p:cNvPr>
          <p:cNvSpPr txBox="1"/>
          <p:nvPr/>
        </p:nvSpPr>
        <p:spPr>
          <a:xfrm>
            <a:off x="724550" y="5436204"/>
            <a:ext cx="3564709" cy="1000274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CA" dirty="0">
                <a:latin typeface="Verdana Pro" panose="020B0604030504040204" pitchFamily="34" charset="0"/>
              </a:rPr>
              <a:t>34 </a:t>
            </a:r>
          </a:p>
          <a:p>
            <a:pPr algn="ctr"/>
            <a:r>
              <a:rPr lang="en-CA" dirty="0">
                <a:latin typeface="Verdana Pro" panose="020B0604030504040204" pitchFamily="34" charset="0"/>
              </a:rPr>
              <a:t>DefenseFinder </a:t>
            </a:r>
            <a:r>
              <a:rPr lang="en-CA" dirty="0">
                <a:latin typeface="Verdana Pro" panose="020B0604030504040204" pitchFamily="34" charset="0"/>
                <a:sym typeface="Wingdings" panose="05000000000000000000" pitchFamily="2" charset="2"/>
              </a:rPr>
              <a:t> </a:t>
            </a:r>
            <a:r>
              <a:rPr lang="en-CA" i="1" dirty="0">
                <a:latin typeface="Verdana Pro" panose="020B0604030504040204" pitchFamily="34" charset="0"/>
                <a:sym typeface="Wingdings" panose="05000000000000000000" pitchFamily="2" charset="2"/>
              </a:rPr>
              <a:t>H. sapiens</a:t>
            </a:r>
            <a:r>
              <a:rPr lang="en-CA" dirty="0">
                <a:latin typeface="Verdana Pro" panose="020B0604030504040204" pitchFamily="34" charset="0"/>
                <a:sym typeface="Wingdings" panose="05000000000000000000" pitchFamily="2" charset="2"/>
              </a:rPr>
              <a:t> protein pairs</a:t>
            </a:r>
            <a:endParaRPr lang="en-CA" dirty="0">
              <a:latin typeface="Verdana Pro" panose="020B060403050404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C78FFA-CF61-EA63-94CC-4279F5467693}"/>
              </a:ext>
            </a:extLst>
          </p:cNvPr>
          <p:cNvSpPr txBox="1"/>
          <p:nvPr/>
        </p:nvSpPr>
        <p:spPr>
          <a:xfrm>
            <a:off x="2904523" y="4788026"/>
            <a:ext cx="35931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Protein_length_difference ≤ 0.05 </a:t>
            </a:r>
            <a:endParaRPr lang="en-CA" sz="14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377CA6-9A23-742C-577B-ECBDEA9E98A8}"/>
              </a:ext>
            </a:extLst>
          </p:cNvPr>
          <p:cNvSpPr txBox="1"/>
          <p:nvPr/>
        </p:nvSpPr>
        <p:spPr>
          <a:xfrm>
            <a:off x="2904523" y="2472035"/>
            <a:ext cx="35931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DefenseFinder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cluster_id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==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H. sapiens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cluster_id</a:t>
            </a:r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4ECE2338-E962-3219-2BEC-675AA0198A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848" t="11704" r="7567"/>
          <a:stretch>
            <a:fillRect/>
          </a:stretch>
        </p:blipFill>
        <p:spPr>
          <a:xfrm>
            <a:off x="7134078" y="3630656"/>
            <a:ext cx="4901914" cy="2999231"/>
          </a:xfrm>
          <a:prstGeom prst="rect">
            <a:avLst/>
          </a:prstGeom>
        </p:spPr>
      </p:pic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FE723433-0199-2411-AFC3-272FD5B1F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FC77-40C7-4C49-9A19-86BDE9B75E8A}" type="slidenum">
              <a:rPr lang="en-CA" smtClean="0"/>
              <a:pPr/>
              <a:t>6</a:t>
            </a:fld>
            <a:endParaRPr lang="en-CA" sz="140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76CDCFD-111B-84D3-8D35-5252C0FF4B98}"/>
              </a:ext>
            </a:extLst>
          </p:cNvPr>
          <p:cNvCxnSpPr>
            <a:cxnSpLocks/>
          </p:cNvCxnSpPr>
          <p:nvPr/>
        </p:nvCxnSpPr>
        <p:spPr>
          <a:xfrm>
            <a:off x="4037438" y="1498961"/>
            <a:ext cx="1444752" cy="0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095DA27-0D13-ED21-3C6E-63D60A493CEA}"/>
              </a:ext>
            </a:extLst>
          </p:cNvPr>
          <p:cNvSpPr txBox="1"/>
          <p:nvPr/>
        </p:nvSpPr>
        <p:spPr>
          <a:xfrm>
            <a:off x="5555342" y="1268128"/>
            <a:ext cx="2514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for now, all proteins are from the Zorya, Gasdermin, and Vipirin bacterial immune systems</a:t>
            </a:r>
            <a:endParaRPr lang="en-CA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266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DC9F86-20C5-B794-C66D-13171E103DFD}"/>
              </a:ext>
            </a:extLst>
          </p:cNvPr>
          <p:cNvSpPr txBox="1"/>
          <p:nvPr/>
        </p:nvSpPr>
        <p:spPr>
          <a:xfrm>
            <a:off x="294784" y="265438"/>
            <a:ext cx="3564709" cy="1000274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CA" dirty="0">
                <a:latin typeface="Verdana Pro" panose="020B0604030504040204" pitchFamily="34" charset="0"/>
              </a:rPr>
              <a:t>279 </a:t>
            </a:r>
          </a:p>
          <a:p>
            <a:pPr algn="ctr"/>
            <a:r>
              <a:rPr lang="en-CA" dirty="0">
                <a:latin typeface="Verdana Pro" panose="020B0604030504040204" pitchFamily="34" charset="0"/>
              </a:rPr>
              <a:t>DefenseFinder </a:t>
            </a:r>
            <a:r>
              <a:rPr lang="en-CA" dirty="0">
                <a:latin typeface="Verdana Pro" panose="020B0604030504040204" pitchFamily="34" charset="0"/>
                <a:sym typeface="Wingdings" panose="05000000000000000000" pitchFamily="2" charset="2"/>
              </a:rPr>
              <a:t> </a:t>
            </a:r>
            <a:r>
              <a:rPr lang="en-CA" i="1" dirty="0">
                <a:latin typeface="Verdana Pro" panose="020B0604030504040204" pitchFamily="34" charset="0"/>
                <a:sym typeface="Wingdings" panose="05000000000000000000" pitchFamily="2" charset="2"/>
              </a:rPr>
              <a:t>H. sapiens</a:t>
            </a:r>
            <a:r>
              <a:rPr lang="en-CA" dirty="0">
                <a:latin typeface="Verdana Pro" panose="020B0604030504040204" pitchFamily="34" charset="0"/>
                <a:sym typeface="Wingdings" panose="05000000000000000000" pitchFamily="2" charset="2"/>
              </a:rPr>
              <a:t> same-cluster protein pairs</a:t>
            </a:r>
            <a:endParaRPr lang="en-CA" dirty="0">
              <a:latin typeface="Verdana Pro" panose="020B0604030504040204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F7EF653-1BC7-4E64-765E-E1F0D14C27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0" t="10879" r="8279"/>
          <a:stretch>
            <a:fillRect/>
          </a:stretch>
        </p:blipFill>
        <p:spPr>
          <a:xfrm>
            <a:off x="6630162" y="1843913"/>
            <a:ext cx="3942588" cy="3847076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E2AA96C-16EB-A891-3710-9215F0D67E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7733694"/>
              </p:ext>
            </p:extLst>
          </p:nvPr>
        </p:nvGraphicFramePr>
        <p:xfrm>
          <a:off x="294784" y="1843913"/>
          <a:ext cx="5575836" cy="375734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787918">
                  <a:extLst>
                    <a:ext uri="{9D8B030D-6E8A-4147-A177-3AD203B41FA5}">
                      <a16:colId xmlns:a16="http://schemas.microsoft.com/office/drawing/2014/main" val="2883141624"/>
                    </a:ext>
                  </a:extLst>
                </a:gridCol>
                <a:gridCol w="2787918">
                  <a:extLst>
                    <a:ext uri="{9D8B030D-6E8A-4147-A177-3AD203B41FA5}">
                      <a16:colId xmlns:a16="http://schemas.microsoft.com/office/drawing/2014/main" val="3161232302"/>
                    </a:ext>
                  </a:extLst>
                </a:gridCol>
              </a:tblGrid>
              <a:tr h="242487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 Pro" panose="020B0604030504040204" pitchFamily="34" charset="0"/>
                        </a:rPr>
                        <a:t>G profiler GO terms </a:t>
                      </a:r>
                      <a:endParaRPr lang="en-CA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 Pro" panose="020B0604030504040204" pitchFamily="34" charset="0"/>
                      </a:endParaRPr>
                    </a:p>
                  </a:txBody>
                  <a:tcPr marL="3472" marR="3472" marT="3472" marB="0" anchor="b"/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CA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 Pro" panose="020B0604030504040204" pitchFamily="34" charset="0"/>
                      </a:endParaRPr>
                    </a:p>
                  </a:txBody>
                  <a:tcPr marL="3472" marR="3472" marT="3472" marB="0" anchor="b"/>
                </a:tc>
                <a:extLst>
                  <a:ext uri="{0D108BD9-81ED-4DB2-BD59-A6C34878D82A}">
                    <a16:rowId xmlns:a16="http://schemas.microsoft.com/office/drawing/2014/main" val="3254720063"/>
                  </a:ext>
                </a:extLst>
              </a:tr>
              <a:tr h="2424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b="0" u="none" strike="noStrike" dirty="0">
                          <a:solidFill>
                            <a:srgbClr val="000000"/>
                          </a:solidFill>
                          <a:effectLst/>
                          <a:latin typeface="Verdana Pro" panose="020B0604030504040204" pitchFamily="34" charset="0"/>
                        </a:rPr>
                        <a:t>name</a:t>
                      </a:r>
                      <a:endParaRPr lang="en-CA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 Pro" panose="020B0604030504040204" pitchFamily="34" charset="0"/>
                      </a:endParaRPr>
                    </a:p>
                  </a:txBody>
                  <a:tcPr marL="3472" marR="3472" marT="347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400" b="0" u="none" strike="noStrike" dirty="0">
                          <a:solidFill>
                            <a:srgbClr val="000000"/>
                          </a:solidFill>
                          <a:effectLst/>
                          <a:latin typeface="Verdana Pro" panose="020B0604030504040204" pitchFamily="34" charset="0"/>
                        </a:rPr>
                        <a:t>p_value</a:t>
                      </a:r>
                      <a:endParaRPr lang="en-CA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 Pro" panose="020B0604030504040204" pitchFamily="34" charset="0"/>
                      </a:endParaRPr>
                    </a:p>
                  </a:txBody>
                  <a:tcPr marL="3472" marR="3472" marT="3472" marB="0" anchor="b"/>
                </a:tc>
                <a:extLst>
                  <a:ext uri="{0D108BD9-81ED-4DB2-BD59-A6C34878D82A}">
                    <a16:rowId xmlns:a16="http://schemas.microsoft.com/office/drawing/2014/main" val="697414357"/>
                  </a:ext>
                </a:extLst>
              </a:tr>
              <a:tr h="208401">
                <a:tc>
                  <a:txBody>
                    <a:bodyPr/>
                    <a:lstStyle/>
                    <a:p>
                      <a:pPr algn="l" fontAlgn="b">
                        <a:spcAft>
                          <a:spcPts val="600"/>
                        </a:spcAft>
                        <a:buNone/>
                      </a:pPr>
                      <a:r>
                        <a:rPr lang="en-CA" sz="1200" b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ATP hydrolysis activity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472" marR="3472" marT="3472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5.32E-14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472" marR="3472" marT="34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7527668"/>
                  </a:ext>
                </a:extLst>
              </a:tr>
              <a:tr h="208401">
                <a:tc>
                  <a:txBody>
                    <a:bodyPr/>
                    <a:lstStyle/>
                    <a:p>
                      <a:pPr algn="l" fontAlgn="b">
                        <a:spcAft>
                          <a:spcPts val="600"/>
                        </a:spcAft>
                        <a:buNone/>
                      </a:pPr>
                      <a:r>
                        <a:rPr lang="en-CA" sz="1200" b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ATP-dependent activity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472" marR="3472" marT="3472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8.18E-12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472" marR="3472" marT="34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7434380"/>
                  </a:ext>
                </a:extLst>
              </a:tr>
              <a:tr h="412919">
                <a:tc>
                  <a:txBody>
                    <a:bodyPr/>
                    <a:lstStyle/>
                    <a:p>
                      <a:pPr algn="l" fontAlgn="b">
                        <a:spcAft>
                          <a:spcPts val="600"/>
                        </a:spcAft>
                        <a:buNone/>
                      </a:pPr>
                      <a:r>
                        <a:rPr lang="en-CA" sz="1200" b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ribonucleoside triphosphate phosphatase activity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472" marR="3472" marT="3472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5.90E-10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472" marR="3472" marT="34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0033294"/>
                  </a:ext>
                </a:extLst>
              </a:tr>
              <a:tr h="208401">
                <a:tc>
                  <a:txBody>
                    <a:bodyPr/>
                    <a:lstStyle/>
                    <a:p>
                      <a:pPr algn="l" fontAlgn="b">
                        <a:spcAft>
                          <a:spcPts val="600"/>
                        </a:spcAft>
                        <a:buNone/>
                      </a:pPr>
                      <a:r>
                        <a:rPr lang="en-CA" sz="1200" b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pyrophosphatase activity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472" marR="3472" marT="3472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1.10E-09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472" marR="3472" marT="34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3406690"/>
                  </a:ext>
                </a:extLst>
              </a:tr>
              <a:tr h="412919">
                <a:tc>
                  <a:txBody>
                    <a:bodyPr/>
                    <a:lstStyle/>
                    <a:p>
                      <a:pPr algn="l" fontAlgn="b">
                        <a:spcAft>
                          <a:spcPts val="600"/>
                        </a:spcAft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hydrolase activity, acting on acid anhydrides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472" marR="3472" marT="3472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1.11E-09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472" marR="3472" marT="34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5402240"/>
                  </a:ext>
                </a:extLst>
              </a:tr>
              <a:tr h="821956">
                <a:tc>
                  <a:txBody>
                    <a:bodyPr/>
                    <a:lstStyle/>
                    <a:p>
                      <a:pPr algn="l" fontAlgn="b">
                        <a:spcAft>
                          <a:spcPts val="600"/>
                        </a:spcAft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hydrolase activity, acting on acid anhydrides, in phosphorus-containing anhydrides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472" marR="3472" marT="3472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1.11E-09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472" marR="3472" marT="34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578652"/>
                  </a:ext>
                </a:extLst>
              </a:tr>
              <a:tr h="263658">
                <a:tc>
                  <a:txBody>
                    <a:bodyPr/>
                    <a:lstStyle/>
                    <a:p>
                      <a:pPr algn="l" fontAlgn="b">
                        <a:spcAft>
                          <a:spcPts val="600"/>
                        </a:spcAft>
                        <a:buNone/>
                      </a:pPr>
                      <a:r>
                        <a:rPr lang="en-CA" sz="1200" b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condensed chromosome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472" marR="3472" marT="3472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7.14E-09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472" marR="3472" marT="34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7212222"/>
                  </a:ext>
                </a:extLst>
              </a:tr>
              <a:tr h="263658">
                <a:tc>
                  <a:txBody>
                    <a:bodyPr/>
                    <a:lstStyle/>
                    <a:p>
                      <a:pPr algn="l" fontAlgn="b">
                        <a:spcAft>
                          <a:spcPts val="600"/>
                        </a:spcAft>
                        <a:buNone/>
                      </a:pPr>
                      <a:r>
                        <a:rPr lang="en-CA" sz="1200" b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condensed nuclear chromosome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472" marR="3472" marT="3472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8.75E-09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472" marR="3472" marT="34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1670983"/>
                  </a:ext>
                </a:extLst>
              </a:tr>
              <a:tr h="208401">
                <a:tc>
                  <a:txBody>
                    <a:bodyPr/>
                    <a:lstStyle/>
                    <a:p>
                      <a:pPr algn="l" fontAlgn="b">
                        <a:spcAft>
                          <a:spcPts val="600"/>
                        </a:spcAft>
                        <a:buNone/>
                      </a:pPr>
                      <a:r>
                        <a:rPr lang="en-CA" sz="1200" b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ATP binding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472" marR="3472" marT="3472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1.13E-08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472" marR="3472" marT="34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4408269"/>
                  </a:ext>
                </a:extLst>
              </a:tr>
              <a:tr h="263658">
                <a:tc>
                  <a:txBody>
                    <a:bodyPr/>
                    <a:lstStyle/>
                    <a:p>
                      <a:pPr algn="l" fontAlgn="b">
                        <a:spcAft>
                          <a:spcPts val="600"/>
                        </a:spcAft>
                        <a:buNone/>
                      </a:pPr>
                      <a:r>
                        <a:rPr lang="en-CA" sz="1200" b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chromosome organization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472" marR="3472" marT="3472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1.19E-08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472" marR="3472" marT="34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892658907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9D015D3-6C93-96AC-884B-2A6EADED208F}"/>
              </a:ext>
            </a:extLst>
          </p:cNvPr>
          <p:cNvCxnSpPr>
            <a:cxnSpLocks/>
          </p:cNvCxnSpPr>
          <p:nvPr/>
        </p:nvCxnSpPr>
        <p:spPr>
          <a:xfrm>
            <a:off x="3712464" y="429768"/>
            <a:ext cx="1444752" cy="0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D168F6E-F847-3753-EFEF-6693E070ABA7}"/>
              </a:ext>
            </a:extLst>
          </p:cNvPr>
          <p:cNvSpPr txBox="1"/>
          <p:nvPr/>
        </p:nvSpPr>
        <p:spPr>
          <a:xfrm>
            <a:off x="5230368" y="198935"/>
            <a:ext cx="2514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contains proteins from 17 distinct clusters</a:t>
            </a:r>
            <a:endParaRPr lang="en-CA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B35B9B2-75E2-21C4-C4B0-903AB365669E}"/>
              </a:ext>
            </a:extLst>
          </p:cNvPr>
          <p:cNvCxnSpPr>
            <a:cxnSpLocks/>
          </p:cNvCxnSpPr>
          <p:nvPr/>
        </p:nvCxnSpPr>
        <p:spPr>
          <a:xfrm>
            <a:off x="3712464" y="587057"/>
            <a:ext cx="576072" cy="420913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EE9BB5F-06F0-B954-03A0-7CE763E44F3C}"/>
              </a:ext>
            </a:extLst>
          </p:cNvPr>
          <p:cNvCxnSpPr>
            <a:cxnSpLocks/>
          </p:cNvCxnSpPr>
          <p:nvPr/>
        </p:nvCxnSpPr>
        <p:spPr>
          <a:xfrm>
            <a:off x="4276631" y="1007970"/>
            <a:ext cx="880585" cy="0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D07A6DF-281B-02B0-1C6D-015E97A43D46}"/>
              </a:ext>
            </a:extLst>
          </p:cNvPr>
          <p:cNvSpPr txBox="1"/>
          <p:nvPr/>
        </p:nvSpPr>
        <p:spPr>
          <a:xfrm>
            <a:off x="5230368" y="777137"/>
            <a:ext cx="2514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Human protein functions generally pertain to triphosphate metabolism and chromosome organization</a:t>
            </a:r>
            <a:endParaRPr lang="en-CA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432828CA-C7C6-764C-208F-854760B8F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FC77-40C7-4C49-9A19-86BDE9B75E8A}" type="slidenum">
              <a:rPr lang="en-CA" smtClean="0"/>
              <a:pPr/>
              <a:t>7</a:t>
            </a:fld>
            <a:endParaRPr lang="en-CA" sz="1400"/>
          </a:p>
        </p:txBody>
      </p:sp>
    </p:spTree>
    <p:extLst>
      <p:ext uri="{BB962C8B-B14F-4D97-AF65-F5344CB8AC3E}">
        <p14:creationId xmlns:p14="http://schemas.microsoft.com/office/powerpoint/2010/main" val="3000476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6F77067-24FC-9535-0EBC-6A8C58BC85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7307" y="2338072"/>
            <a:ext cx="4562470" cy="39914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72E00D6-513F-9237-58C0-620B89DDF978}"/>
              </a:ext>
            </a:extLst>
          </p:cNvPr>
          <p:cNvSpPr txBox="1"/>
          <p:nvPr/>
        </p:nvSpPr>
        <p:spPr>
          <a:xfrm>
            <a:off x="8786553" y="2355605"/>
            <a:ext cx="26955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Verdana Pro" panose="020B0604030504040204" pitchFamily="34" charset="0"/>
                <a:cs typeface="Courier New" panose="02070309020205020404" pitchFamily="49" charset="0"/>
              </a:rPr>
              <a:t>RMSD: 2.84 Å</a:t>
            </a:r>
            <a:endParaRPr lang="en-CA" sz="1400" dirty="0">
              <a:latin typeface="Verdana Pro" panose="020B0604030504040204" pitchFamily="34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Verdana Pro" panose="020B0604030504040204" pitchFamily="34" charset="0"/>
                <a:cs typeface="Courier New" panose="02070309020205020404" pitchFamily="49" charset="0"/>
              </a:rPr>
              <a:t>TM-score: 0.72</a:t>
            </a:r>
          </a:p>
          <a:p>
            <a:r>
              <a:rPr lang="en-US" sz="1400" dirty="0">
                <a:latin typeface="Verdana Pro" panose="020B0604030504040204" pitchFamily="34" charset="0"/>
                <a:cs typeface="Courier New" panose="02070309020205020404" pitchFamily="49" charset="0"/>
              </a:rPr>
              <a:t>Identity: 11%</a:t>
            </a:r>
          </a:p>
          <a:p>
            <a:r>
              <a:rPr lang="en-US" sz="1400" dirty="0">
                <a:latin typeface="Verdana Pro" panose="020B0604030504040204" pitchFamily="34" charset="0"/>
                <a:cs typeface="Courier New" panose="02070309020205020404" pitchFamily="49" charset="0"/>
              </a:rPr>
              <a:t>Aligned residues: 351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FA6637-E092-1B6C-7935-EA705C837392}"/>
              </a:ext>
            </a:extLst>
          </p:cNvPr>
          <p:cNvSpPr txBox="1"/>
          <p:nvPr/>
        </p:nvSpPr>
        <p:spPr>
          <a:xfrm>
            <a:off x="5171925" y="5507563"/>
            <a:ext cx="24669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rgbClr val="E0913A"/>
                </a:solidFill>
                <a:latin typeface="Verdana Pro" panose="020B0604030504040204" pitchFamily="34" charset="0"/>
                <a:cs typeface="Courier New" panose="02070309020205020404" pitchFamily="49" charset="0"/>
              </a:rPr>
              <a:t>A0A414Z6D3</a:t>
            </a:r>
          </a:p>
          <a:p>
            <a:r>
              <a:rPr lang="en-CA" dirty="0">
                <a:solidFill>
                  <a:srgbClr val="E0913A"/>
                </a:solidFill>
                <a:latin typeface="Verdana Pro" panose="020B0604030504040204" pitchFamily="34" charset="0"/>
                <a:cs typeface="Courier New" panose="02070309020205020404" pitchFamily="49" charset="0"/>
              </a:rPr>
              <a:t>(469 AAs)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F68326-63AC-E717-6320-1C3CA8B60D96}"/>
              </a:ext>
            </a:extLst>
          </p:cNvPr>
          <p:cNvSpPr txBox="1"/>
          <p:nvPr/>
        </p:nvSpPr>
        <p:spPr>
          <a:xfrm>
            <a:off x="5171925" y="1850988"/>
            <a:ext cx="24669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rgbClr val="4779C6"/>
                </a:solidFill>
                <a:latin typeface="Verdana Pro" panose="020B0604030504040204" pitchFamily="34" charset="0"/>
                <a:cs typeface="Courier New" panose="02070309020205020404" pitchFamily="49" charset="0"/>
              </a:rPr>
              <a:t>B4DY67_HUMAN</a:t>
            </a:r>
          </a:p>
          <a:p>
            <a:r>
              <a:rPr lang="en-CA" dirty="0">
                <a:solidFill>
                  <a:srgbClr val="4779C6"/>
                </a:solidFill>
                <a:latin typeface="Verdana Pro" panose="020B0604030504040204" pitchFamily="34" charset="0"/>
                <a:cs typeface="Courier New" panose="02070309020205020404" pitchFamily="49" charset="0"/>
              </a:rPr>
              <a:t>(496 AAs)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52D1E4-33FD-0AE3-C6D0-97DFE648224E}"/>
              </a:ext>
            </a:extLst>
          </p:cNvPr>
          <p:cNvSpPr txBox="1"/>
          <p:nvPr/>
        </p:nvSpPr>
        <p:spPr>
          <a:xfrm>
            <a:off x="709871" y="363467"/>
            <a:ext cx="4324868" cy="2677656"/>
          </a:xfrm>
          <a:prstGeom prst="rect">
            <a:avLst/>
          </a:prstGeom>
          <a:noFill/>
          <a:ln>
            <a:solidFill>
              <a:srgbClr val="4779C6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4779C6"/>
                </a:solidFill>
                <a:latin typeface="Verdana Pro" panose="020B0604030504040204" pitchFamily="34" charset="0"/>
                <a:cs typeface="Courier New" panose="02070309020205020404" pitchFamily="49" charset="0"/>
              </a:rPr>
              <a:t>cDNA FLJ56591, highly similar to Eukaryotic translation initiation factor 2C3</a:t>
            </a:r>
          </a:p>
          <a:p>
            <a:endParaRPr lang="en-CA" sz="1400" dirty="0">
              <a:solidFill>
                <a:srgbClr val="4779C6"/>
              </a:solidFill>
              <a:latin typeface="Verdana Pro" panose="020B0604030504040204" pitchFamily="34" charset="0"/>
              <a:cs typeface="Courier New" panose="02070309020205020404" pitchFamily="49" charset="0"/>
            </a:endParaRPr>
          </a:p>
          <a:p>
            <a:r>
              <a:rPr lang="en-CA" sz="1400" dirty="0">
                <a:solidFill>
                  <a:srgbClr val="4779C6"/>
                </a:solidFill>
                <a:latin typeface="Verdana Pro" panose="020B0604030504040204" pitchFamily="34" charset="0"/>
                <a:cs typeface="Courier New" panose="02070309020205020404" pitchFamily="49" charset="0"/>
              </a:rPr>
              <a:t>Molecular functions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rgbClr val="4779C6"/>
                </a:solidFill>
                <a:latin typeface="Verdana Pro" panose="020B0604030504040204" pitchFamily="34" charset="0"/>
                <a:cs typeface="Courier New" panose="02070309020205020404" pitchFamily="49" charset="0"/>
              </a:rPr>
              <a:t>nucleic acid binding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rgbClr val="4779C6"/>
                </a:solidFill>
                <a:latin typeface="Verdana Pro" panose="020B0604030504040204" pitchFamily="34" charset="0"/>
                <a:cs typeface="Courier New" panose="02070309020205020404" pitchFamily="49" charset="0"/>
              </a:rPr>
              <a:t>translation initiation factor activity</a:t>
            </a:r>
          </a:p>
          <a:p>
            <a:endParaRPr lang="en-CA" sz="1400" dirty="0">
              <a:solidFill>
                <a:srgbClr val="4779C6"/>
              </a:solidFill>
              <a:latin typeface="Verdana Pro" panose="020B0604030504040204" pitchFamily="34" charset="0"/>
              <a:cs typeface="Courier New" panose="02070309020205020404" pitchFamily="49" charset="0"/>
            </a:endParaRPr>
          </a:p>
          <a:p>
            <a:r>
              <a:rPr lang="en-CA" sz="1400" dirty="0">
                <a:solidFill>
                  <a:srgbClr val="4779C6"/>
                </a:solidFill>
                <a:latin typeface="Verdana Pro" panose="020B0604030504040204" pitchFamily="34" charset="0"/>
                <a:cs typeface="Courier New" panose="02070309020205020404" pitchFamily="49" charset="0"/>
              </a:rPr>
              <a:t>Domains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rgbClr val="4779C6"/>
                </a:solidFill>
                <a:latin typeface="Verdana Pro" panose="020B0604030504040204" pitchFamily="34" charset="0"/>
                <a:cs typeface="Courier New" panose="02070309020205020404" pitchFamily="49" charset="0"/>
              </a:rPr>
              <a:t>Argonaute-like, PIWI domain (29-454)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rgbClr val="4779C6"/>
                </a:solidFill>
                <a:latin typeface="Verdana Pro" panose="020B0604030504040204" pitchFamily="34" charset="0"/>
                <a:cs typeface="Courier New" panose="02070309020205020404" pitchFamily="49" charset="0"/>
              </a:rPr>
              <a:t>Ribonuclease H-like superfamily (140-456)</a:t>
            </a:r>
          </a:p>
          <a:p>
            <a:endParaRPr lang="en-CA" sz="1400" dirty="0">
              <a:solidFill>
                <a:srgbClr val="4779C6"/>
              </a:solidFill>
              <a:latin typeface="Verdana Pro" panose="020B0604030504040204" pitchFamily="34" charset="0"/>
              <a:cs typeface="Courier New" panose="020703090202050204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C3D78A-F949-C05E-8924-0232E8E9B64B}"/>
              </a:ext>
            </a:extLst>
          </p:cNvPr>
          <p:cNvSpPr txBox="1"/>
          <p:nvPr/>
        </p:nvSpPr>
        <p:spPr>
          <a:xfrm>
            <a:off x="709871" y="4319249"/>
            <a:ext cx="4324868" cy="1600438"/>
          </a:xfrm>
          <a:prstGeom prst="rect">
            <a:avLst/>
          </a:prstGeom>
          <a:noFill/>
          <a:ln>
            <a:solidFill>
              <a:srgbClr val="E0913A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E0913A"/>
                </a:solidFill>
                <a:latin typeface="Verdana Pro" panose="020B0604030504040204" pitchFamily="34" charset="0"/>
                <a:cs typeface="Courier New" panose="02070309020205020404" pitchFamily="49" charset="0"/>
              </a:rPr>
              <a:t>Protein argonaute (Bacteroides sp. AM16-24)</a:t>
            </a:r>
          </a:p>
          <a:p>
            <a:endParaRPr lang="en-US" sz="1400" b="1" dirty="0">
              <a:solidFill>
                <a:srgbClr val="E0913A"/>
              </a:solidFill>
              <a:latin typeface="Verdana Pro" panose="020B0604030504040204" pitchFamily="34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E0913A"/>
                </a:solidFill>
                <a:latin typeface="Verdana Pro" panose="020B0604030504040204" pitchFamily="34" charset="0"/>
                <a:cs typeface="Courier New" panose="02070309020205020404" pitchFamily="49" charset="0"/>
              </a:rPr>
              <a:t>Domains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0913A"/>
                </a:solidFill>
                <a:latin typeface="Verdana Pro" panose="020B0604030504040204" pitchFamily="34" charset="0"/>
                <a:cs typeface="Courier New" panose="02070309020205020404" pitchFamily="49" charset="0"/>
              </a:rPr>
              <a:t>Ribonuclease H-like superfamily (2-469)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0913A"/>
                </a:solidFill>
                <a:latin typeface="Verdana Pro" panose="020B0604030504040204" pitchFamily="34" charset="0"/>
                <a:cs typeface="Courier New" panose="02070309020205020404" pitchFamily="49" charset="0"/>
              </a:rPr>
              <a:t>PIWI domain (144-457)</a:t>
            </a:r>
          </a:p>
          <a:p>
            <a:endParaRPr lang="en-CA" sz="1400" dirty="0">
              <a:solidFill>
                <a:srgbClr val="4779C6"/>
              </a:solidFill>
              <a:latin typeface="Verdana Pro" panose="020B0604030504040204" pitchFamily="34" charset="0"/>
              <a:cs typeface="Courier New" panose="02070309020205020404" pitchFamily="49" charset="0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B871B4F-998C-44CD-EE91-9B74560F5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FC77-40C7-4C49-9A19-86BDE9B75E8A}" type="slidenum">
              <a:rPr lang="en-CA" smtClean="0"/>
              <a:pPr/>
              <a:t>8</a:t>
            </a:fld>
            <a:endParaRPr lang="en-CA" sz="140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1F11A6A-B6B3-30C0-DEBC-977C746C40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338" y="363467"/>
            <a:ext cx="1369929" cy="1410073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37FCB270-FEAB-22C2-F038-4366B2E4136D}"/>
              </a:ext>
            </a:extLst>
          </p:cNvPr>
          <p:cNvGrpSpPr/>
          <p:nvPr/>
        </p:nvGrpSpPr>
        <p:grpSpPr>
          <a:xfrm>
            <a:off x="6640481" y="349968"/>
            <a:ext cx="2850668" cy="946413"/>
            <a:chOff x="6640481" y="349968"/>
            <a:chExt cx="2850668" cy="946413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DC055B2-4EA0-1B8A-0714-C57A5F27674D}"/>
                </a:ext>
              </a:extLst>
            </p:cNvPr>
            <p:cNvSpPr txBox="1"/>
            <p:nvPr/>
          </p:nvSpPr>
          <p:spPr>
            <a:xfrm>
              <a:off x="6795573" y="349968"/>
              <a:ext cx="2695576" cy="9464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300"/>
                </a:spcAft>
              </a:pPr>
              <a:r>
                <a:rPr lang="en-US" sz="1200" dirty="0">
                  <a:latin typeface="Verdana Pro" panose="020B0604030504040204" pitchFamily="34" charset="0"/>
                </a:rPr>
                <a:t>Very high (pLDDT &gt; 90)</a:t>
              </a:r>
            </a:p>
            <a:p>
              <a:pPr>
                <a:spcAft>
                  <a:spcPts val="300"/>
                </a:spcAft>
              </a:pPr>
              <a:r>
                <a:rPr lang="en-US" sz="1200" dirty="0">
                  <a:latin typeface="Verdana Pro" panose="020B0604030504040204" pitchFamily="34" charset="0"/>
                </a:rPr>
                <a:t>Confident (90 &gt; pLDDT &gt; 70)</a:t>
              </a:r>
            </a:p>
            <a:p>
              <a:pPr>
                <a:spcAft>
                  <a:spcPts val="300"/>
                </a:spcAft>
              </a:pPr>
              <a:r>
                <a:rPr lang="en-US" sz="1200" dirty="0">
                  <a:latin typeface="Verdana Pro" panose="020B0604030504040204" pitchFamily="34" charset="0"/>
                </a:rPr>
                <a:t>Low (70 &gt; pLDDT &gt; 50)</a:t>
              </a:r>
            </a:p>
            <a:p>
              <a:pPr>
                <a:spcAft>
                  <a:spcPts val="300"/>
                </a:spcAft>
              </a:pPr>
              <a:r>
                <a:rPr lang="en-US" sz="1200" dirty="0">
                  <a:latin typeface="Verdana Pro" panose="020B0604030504040204" pitchFamily="34" charset="0"/>
                </a:rPr>
                <a:t>Very low (pLDDT &lt; 50) </a:t>
              </a:r>
              <a:endParaRPr lang="en-CA" sz="1200" dirty="0">
                <a:latin typeface="Verdana Pro" panose="020B0604030504040204" pitchFamily="34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5C8C578-7FC9-A6B9-87A9-E4B302205D8B}"/>
                </a:ext>
              </a:extLst>
            </p:cNvPr>
            <p:cNvSpPr/>
            <p:nvPr/>
          </p:nvSpPr>
          <p:spPr>
            <a:xfrm>
              <a:off x="6640481" y="419947"/>
              <a:ext cx="182770" cy="152362"/>
            </a:xfrm>
            <a:prstGeom prst="rect">
              <a:avLst/>
            </a:prstGeom>
            <a:solidFill>
              <a:srgbClr val="024BC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04BEABA-522C-475B-EF8B-F15297D748B4}"/>
                </a:ext>
              </a:extLst>
            </p:cNvPr>
            <p:cNvSpPr/>
            <p:nvPr/>
          </p:nvSpPr>
          <p:spPr>
            <a:xfrm>
              <a:off x="6640481" y="630255"/>
              <a:ext cx="182770" cy="152362"/>
            </a:xfrm>
            <a:prstGeom prst="rect">
              <a:avLst/>
            </a:prstGeom>
            <a:solidFill>
              <a:srgbClr val="55A9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711C4C0-9143-80C6-B239-119956AA6E0A}"/>
                </a:ext>
              </a:extLst>
            </p:cNvPr>
            <p:cNvSpPr/>
            <p:nvPr/>
          </p:nvSpPr>
          <p:spPr>
            <a:xfrm>
              <a:off x="6640481" y="852112"/>
              <a:ext cx="182770" cy="152362"/>
            </a:xfrm>
            <a:prstGeom prst="rect">
              <a:avLst/>
            </a:prstGeom>
            <a:solidFill>
              <a:srgbClr val="E6C61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84FFCD5-8DF8-914F-8767-56BF66EC3533}"/>
                </a:ext>
              </a:extLst>
            </p:cNvPr>
            <p:cNvSpPr/>
            <p:nvPr/>
          </p:nvSpPr>
          <p:spPr>
            <a:xfrm>
              <a:off x="6640481" y="1087420"/>
              <a:ext cx="182770" cy="152362"/>
            </a:xfrm>
            <a:prstGeom prst="rect">
              <a:avLst/>
            </a:prstGeom>
            <a:solidFill>
              <a:srgbClr val="E56D3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A013B8C-F053-8B35-AFE0-6079BC6B5E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8338" y="4314961"/>
            <a:ext cx="1369929" cy="1147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614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CEFCD4-D316-F0B9-8A49-0284EA756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FC77-40C7-4C49-9A19-86BDE9B75E8A}" type="slidenum">
              <a:rPr lang="en-CA" smtClean="0"/>
              <a:pPr/>
              <a:t>9</a:t>
            </a:fld>
            <a:endParaRPr lang="en-CA" sz="14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CA41CC-BBC5-640E-E309-6E417079B3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94" t="5615" r="12846" b="3898"/>
          <a:stretch>
            <a:fillRect/>
          </a:stretch>
        </p:blipFill>
        <p:spPr>
          <a:xfrm>
            <a:off x="6576821" y="1998345"/>
            <a:ext cx="4305301" cy="39909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716480E-4A8B-1E19-6056-65D8B92B1E86}"/>
              </a:ext>
            </a:extLst>
          </p:cNvPr>
          <p:cNvSpPr txBox="1"/>
          <p:nvPr/>
        </p:nvSpPr>
        <p:spPr>
          <a:xfrm>
            <a:off x="1659446" y="255884"/>
            <a:ext cx="4324868" cy="1815882"/>
          </a:xfrm>
          <a:prstGeom prst="rect">
            <a:avLst/>
          </a:prstGeom>
          <a:noFill/>
          <a:ln>
            <a:solidFill>
              <a:srgbClr val="4779C6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4779C6"/>
                </a:solidFill>
                <a:latin typeface="Verdana Pro" panose="020B0604030504040204" pitchFamily="34" charset="0"/>
                <a:cs typeface="Courier New" panose="02070309020205020404" pitchFamily="49" charset="0"/>
              </a:rPr>
              <a:t>Radical S-adenosyl methionine domain containing 2</a:t>
            </a:r>
          </a:p>
          <a:p>
            <a:endParaRPr lang="en-CA" sz="1400" dirty="0">
              <a:solidFill>
                <a:srgbClr val="4779C6"/>
              </a:solidFill>
              <a:latin typeface="Verdana Pro" panose="020B0604030504040204" pitchFamily="34" charset="0"/>
              <a:cs typeface="Courier New" panose="02070309020205020404" pitchFamily="49" charset="0"/>
            </a:endParaRPr>
          </a:p>
          <a:p>
            <a:r>
              <a:rPr lang="en-CA" sz="1400" dirty="0">
                <a:solidFill>
                  <a:srgbClr val="4779C6"/>
                </a:solidFill>
                <a:latin typeface="Verdana Pro" panose="020B0604030504040204" pitchFamily="34" charset="0"/>
                <a:cs typeface="Courier New" panose="02070309020205020404" pitchFamily="49" charset="0"/>
              </a:rPr>
              <a:t>Molecular functions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rgbClr val="4779C6"/>
                </a:solidFill>
                <a:latin typeface="Verdana Pro" panose="020B0604030504040204" pitchFamily="34" charset="0"/>
                <a:cs typeface="Courier New" panose="02070309020205020404" pitchFamily="49" charset="0"/>
              </a:rPr>
              <a:t>Small molecule binding</a:t>
            </a:r>
          </a:p>
          <a:p>
            <a:endParaRPr lang="en-CA" sz="1400" dirty="0">
              <a:solidFill>
                <a:srgbClr val="4779C6"/>
              </a:solidFill>
              <a:latin typeface="Verdana Pro" panose="020B0604030504040204" pitchFamily="34" charset="0"/>
              <a:cs typeface="Courier New" panose="02070309020205020404" pitchFamily="49" charset="0"/>
            </a:endParaRPr>
          </a:p>
          <a:p>
            <a:r>
              <a:rPr lang="en-CA" sz="1400" dirty="0">
                <a:solidFill>
                  <a:srgbClr val="4779C6"/>
                </a:solidFill>
                <a:latin typeface="Verdana Pro" panose="020B0604030504040204" pitchFamily="34" charset="0"/>
                <a:cs typeface="Courier New" panose="02070309020205020404" pitchFamily="49" charset="0"/>
              </a:rPr>
              <a:t>Domains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rgbClr val="4779C6"/>
                </a:solidFill>
                <a:latin typeface="Verdana Pro" panose="020B0604030504040204" pitchFamily="34" charset="0"/>
                <a:cs typeface="Courier New" panose="02070309020205020404" pitchFamily="49" charset="0"/>
              </a:rPr>
              <a:t>RSAD2 and Vipirin antiviral (47-239)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8A68DA-70F2-75E2-91D6-2190B751C350}"/>
              </a:ext>
            </a:extLst>
          </p:cNvPr>
          <p:cNvSpPr txBox="1"/>
          <p:nvPr/>
        </p:nvSpPr>
        <p:spPr>
          <a:xfrm>
            <a:off x="4633359" y="5201749"/>
            <a:ext cx="3240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rgbClr val="E0913A"/>
                </a:solidFill>
                <a:latin typeface="Verdana Pro" panose="020B0604030504040204" pitchFamily="34" charset="0"/>
                <a:cs typeface="Courier New" panose="02070309020205020404" pitchFamily="49" charset="0"/>
              </a:rPr>
              <a:t>A0A2K8UJG1</a:t>
            </a:r>
          </a:p>
          <a:p>
            <a:r>
              <a:rPr lang="en-CA" dirty="0">
                <a:solidFill>
                  <a:srgbClr val="E0913A"/>
                </a:solidFill>
                <a:latin typeface="Verdana Pro" panose="020B0604030504040204" pitchFamily="34" charset="0"/>
                <a:cs typeface="Courier New" panose="02070309020205020404" pitchFamily="49" charset="0"/>
              </a:rPr>
              <a:t>(284 AAs)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1C6E5A-4274-485B-4F48-0589303AC076}"/>
              </a:ext>
            </a:extLst>
          </p:cNvPr>
          <p:cNvSpPr txBox="1"/>
          <p:nvPr/>
        </p:nvSpPr>
        <p:spPr>
          <a:xfrm>
            <a:off x="6125037" y="1491665"/>
            <a:ext cx="3901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rgbClr val="4779C6"/>
                </a:solidFill>
                <a:latin typeface="Verdana Pro" panose="020B0604030504040204" pitchFamily="34" charset="0"/>
                <a:cs typeface="Courier New" panose="02070309020205020404" pitchFamily="49" charset="0"/>
              </a:rPr>
              <a:t>A0A7P0TA11_HUMAN</a:t>
            </a:r>
          </a:p>
          <a:p>
            <a:r>
              <a:rPr lang="en-CA" dirty="0">
                <a:solidFill>
                  <a:srgbClr val="4779C6"/>
                </a:solidFill>
                <a:latin typeface="Verdana Pro" panose="020B0604030504040204" pitchFamily="34" charset="0"/>
                <a:cs typeface="Courier New" panose="02070309020205020404" pitchFamily="49" charset="0"/>
              </a:rPr>
              <a:t>(239 AAs)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EAE1D1-13B8-A22C-2B0B-B85661FE96C7}"/>
              </a:ext>
            </a:extLst>
          </p:cNvPr>
          <p:cNvSpPr txBox="1"/>
          <p:nvPr/>
        </p:nvSpPr>
        <p:spPr>
          <a:xfrm>
            <a:off x="9945156" y="2429900"/>
            <a:ext cx="22468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Verdana Pro" panose="020B0604030504040204" pitchFamily="34" charset="0"/>
                <a:cs typeface="Courier New" panose="02070309020205020404" pitchFamily="49" charset="0"/>
              </a:rPr>
              <a:t>RMSD: 2.70 Å</a:t>
            </a:r>
            <a:endParaRPr lang="en-CA" sz="1400" dirty="0">
              <a:latin typeface="Verdana Pro" panose="020B0604030504040204" pitchFamily="34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Verdana Pro" panose="020B0604030504040204" pitchFamily="34" charset="0"/>
                <a:cs typeface="Courier New" panose="02070309020205020404" pitchFamily="49" charset="0"/>
              </a:rPr>
              <a:t>TM-score: 0.64</a:t>
            </a:r>
          </a:p>
          <a:p>
            <a:r>
              <a:rPr lang="en-US" sz="1400" dirty="0">
                <a:latin typeface="Verdana Pro" panose="020B0604030504040204" pitchFamily="34" charset="0"/>
                <a:cs typeface="Courier New" panose="02070309020205020404" pitchFamily="49" charset="0"/>
              </a:rPr>
              <a:t>Identity: 32%</a:t>
            </a:r>
          </a:p>
          <a:p>
            <a:r>
              <a:rPr lang="en-US" sz="1400" dirty="0">
                <a:latin typeface="Verdana Pro" panose="020B0604030504040204" pitchFamily="34" charset="0"/>
                <a:cs typeface="Courier New" panose="02070309020205020404" pitchFamily="49" charset="0"/>
              </a:rPr>
              <a:t>Aligned residues: 186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5F8735-064F-BBC8-D640-F8AA7E73374A}"/>
              </a:ext>
            </a:extLst>
          </p:cNvPr>
          <p:cNvSpPr txBox="1"/>
          <p:nvPr/>
        </p:nvSpPr>
        <p:spPr>
          <a:xfrm>
            <a:off x="257489" y="3032363"/>
            <a:ext cx="4324868" cy="2246769"/>
          </a:xfrm>
          <a:prstGeom prst="rect">
            <a:avLst/>
          </a:prstGeom>
          <a:noFill/>
          <a:ln>
            <a:solidFill>
              <a:srgbClr val="E0913A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E0913A"/>
                </a:solidFill>
                <a:latin typeface="Verdana Pro" panose="020B0604030504040204" pitchFamily="34" charset="0"/>
                <a:cs typeface="Courier New" panose="02070309020205020404" pitchFamily="49" charset="0"/>
              </a:rPr>
              <a:t>S-adenosylmethionine-dependent nucleotide dehydratase (Candidatus Thiodictyon syntrophicum)</a:t>
            </a:r>
          </a:p>
          <a:p>
            <a:endParaRPr lang="en-US" sz="1400" dirty="0">
              <a:solidFill>
                <a:srgbClr val="E0913A"/>
              </a:solidFill>
              <a:latin typeface="Verdana Pro" panose="020B0604030504040204" pitchFamily="34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E0913A"/>
                </a:solidFill>
                <a:latin typeface="Verdana Pro" panose="020B0604030504040204" pitchFamily="34" charset="0"/>
                <a:cs typeface="Courier New" panose="02070309020205020404" pitchFamily="49" charset="0"/>
              </a:rPr>
              <a:t>Molecular functions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0913A"/>
                </a:solidFill>
                <a:latin typeface="Verdana Pro" panose="020B0604030504040204" pitchFamily="34" charset="0"/>
                <a:cs typeface="Courier New" panose="02070309020205020404" pitchFamily="49" charset="0"/>
              </a:rPr>
              <a:t>Catalytic activity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0913A"/>
                </a:solidFill>
                <a:latin typeface="Verdana Pro" panose="020B0604030504040204" pitchFamily="34" charset="0"/>
                <a:cs typeface="Courier New" panose="02070309020205020404" pitchFamily="49" charset="0"/>
              </a:rPr>
              <a:t>Small molecule binding</a:t>
            </a:r>
          </a:p>
          <a:p>
            <a:endParaRPr lang="en-US" sz="1400" dirty="0">
              <a:solidFill>
                <a:srgbClr val="E0913A"/>
              </a:solidFill>
              <a:latin typeface="Verdana Pro" panose="020B0604030504040204" pitchFamily="34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E0913A"/>
                </a:solidFill>
                <a:latin typeface="Verdana Pro" panose="020B0604030504040204" pitchFamily="34" charset="0"/>
                <a:cs typeface="Courier New" panose="02070309020205020404" pitchFamily="49" charset="0"/>
              </a:rPr>
              <a:t>Biological functions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0913A"/>
                </a:solidFill>
                <a:latin typeface="Verdana Pro" panose="020B0604030504040204" pitchFamily="34" charset="0"/>
                <a:cs typeface="Courier New" panose="02070309020205020404" pitchFamily="49" charset="0"/>
              </a:rPr>
              <a:t>response to stimulus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F30A37C-8979-D23A-E4B7-41EECBCCD3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4933" y="3032363"/>
            <a:ext cx="1361067" cy="1141343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B6788DBC-D03F-BBC1-0A9D-DCB4408A69B4}"/>
              </a:ext>
            </a:extLst>
          </p:cNvPr>
          <p:cNvGrpSpPr/>
          <p:nvPr/>
        </p:nvGrpSpPr>
        <p:grpSpPr>
          <a:xfrm>
            <a:off x="4722741" y="4185841"/>
            <a:ext cx="2850668" cy="946413"/>
            <a:chOff x="6640481" y="349968"/>
            <a:chExt cx="2850668" cy="946413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17C6C5E-698C-586F-23BD-40C622987323}"/>
                </a:ext>
              </a:extLst>
            </p:cNvPr>
            <p:cNvSpPr txBox="1"/>
            <p:nvPr/>
          </p:nvSpPr>
          <p:spPr>
            <a:xfrm>
              <a:off x="6795573" y="349968"/>
              <a:ext cx="2695576" cy="9464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300"/>
                </a:spcAft>
              </a:pPr>
              <a:r>
                <a:rPr lang="en-US" sz="1200" dirty="0">
                  <a:latin typeface="Verdana Pro" panose="020B0604030504040204" pitchFamily="34" charset="0"/>
                </a:rPr>
                <a:t>Very high (pLDDT &gt; 90)</a:t>
              </a:r>
            </a:p>
            <a:p>
              <a:pPr>
                <a:spcAft>
                  <a:spcPts val="300"/>
                </a:spcAft>
              </a:pPr>
              <a:r>
                <a:rPr lang="en-US" sz="1200" dirty="0">
                  <a:latin typeface="Verdana Pro" panose="020B0604030504040204" pitchFamily="34" charset="0"/>
                </a:rPr>
                <a:t>Confident (90 &gt; pLDDT &gt; 70)</a:t>
              </a:r>
            </a:p>
            <a:p>
              <a:pPr>
                <a:spcAft>
                  <a:spcPts val="300"/>
                </a:spcAft>
              </a:pPr>
              <a:r>
                <a:rPr lang="en-US" sz="1200" dirty="0">
                  <a:latin typeface="Verdana Pro" panose="020B0604030504040204" pitchFamily="34" charset="0"/>
                </a:rPr>
                <a:t>Low (70 &gt; pLDDT &gt; 50)</a:t>
              </a:r>
            </a:p>
            <a:p>
              <a:pPr>
                <a:spcAft>
                  <a:spcPts val="300"/>
                </a:spcAft>
              </a:pPr>
              <a:r>
                <a:rPr lang="en-US" sz="1200" dirty="0">
                  <a:latin typeface="Verdana Pro" panose="020B0604030504040204" pitchFamily="34" charset="0"/>
                </a:rPr>
                <a:t>Very low (pLDDT &lt; 50) </a:t>
              </a:r>
              <a:endParaRPr lang="en-CA" sz="1200" dirty="0">
                <a:latin typeface="Verdana Pro" panose="020B0604030504040204" pitchFamily="34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B550897-651D-B780-0A9F-F2F265225A48}"/>
                </a:ext>
              </a:extLst>
            </p:cNvPr>
            <p:cNvSpPr/>
            <p:nvPr/>
          </p:nvSpPr>
          <p:spPr>
            <a:xfrm>
              <a:off x="6640481" y="419947"/>
              <a:ext cx="182770" cy="152362"/>
            </a:xfrm>
            <a:prstGeom prst="rect">
              <a:avLst/>
            </a:prstGeom>
            <a:solidFill>
              <a:srgbClr val="024BC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5921FE2-76FB-4B99-83EA-ED1C1B39C37C}"/>
                </a:ext>
              </a:extLst>
            </p:cNvPr>
            <p:cNvSpPr/>
            <p:nvPr/>
          </p:nvSpPr>
          <p:spPr>
            <a:xfrm>
              <a:off x="6640481" y="630255"/>
              <a:ext cx="182770" cy="152362"/>
            </a:xfrm>
            <a:prstGeom prst="rect">
              <a:avLst/>
            </a:prstGeom>
            <a:solidFill>
              <a:srgbClr val="55A9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9F97C2B-89B5-6EC5-035F-13BC3752ED7A}"/>
                </a:ext>
              </a:extLst>
            </p:cNvPr>
            <p:cNvSpPr/>
            <p:nvPr/>
          </p:nvSpPr>
          <p:spPr>
            <a:xfrm>
              <a:off x="6640481" y="852112"/>
              <a:ext cx="182770" cy="152362"/>
            </a:xfrm>
            <a:prstGeom prst="rect">
              <a:avLst/>
            </a:prstGeom>
            <a:solidFill>
              <a:srgbClr val="E6C61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B12A31B-6D8F-2704-A54A-6A778ADE1465}"/>
                </a:ext>
              </a:extLst>
            </p:cNvPr>
            <p:cNvSpPr/>
            <p:nvPr/>
          </p:nvSpPr>
          <p:spPr>
            <a:xfrm>
              <a:off x="6640481" y="1087420"/>
              <a:ext cx="182770" cy="152362"/>
            </a:xfrm>
            <a:prstGeom prst="rect">
              <a:avLst/>
            </a:prstGeom>
            <a:solidFill>
              <a:srgbClr val="E56D3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17D92A1D-590F-FF4E-6DE1-40E6FA0E344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614" r="6467"/>
          <a:stretch>
            <a:fillRect/>
          </a:stretch>
        </p:blipFill>
        <p:spPr>
          <a:xfrm>
            <a:off x="6147116" y="268663"/>
            <a:ext cx="1371429" cy="122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520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16FCF-965B-417B-9C48-C3F0A918A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EBEF359-4F97-00FD-287B-18C26126E314}"/>
              </a:ext>
            </a:extLst>
          </p:cNvPr>
          <p:cNvSpPr/>
          <p:nvPr/>
        </p:nvSpPr>
        <p:spPr>
          <a:xfrm>
            <a:off x="845609" y="649223"/>
            <a:ext cx="4704799" cy="649225"/>
          </a:xfrm>
          <a:prstGeom prst="roundRect">
            <a:avLst/>
          </a:prstGeom>
          <a:solidFill>
            <a:srgbClr val="0162B3"/>
          </a:solidFill>
          <a:ln>
            <a:solidFill>
              <a:srgbClr val="0162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C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0B5882-92CF-CD7C-F242-EB1EFA44D97C}"/>
              </a:ext>
            </a:extLst>
          </p:cNvPr>
          <p:cNvSpPr txBox="1"/>
          <p:nvPr/>
        </p:nvSpPr>
        <p:spPr>
          <a:xfrm>
            <a:off x="987552" y="761737"/>
            <a:ext cx="3538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Georgia Pro" panose="02040502050405020303" pitchFamily="18" charset="0"/>
              </a:rPr>
              <a:t>Next steps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BF9B7D-37C6-6302-B1AA-10313FFB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FC77-40C7-4C49-9A19-86BDE9B75E8A}" type="slidenum">
              <a:rPr lang="en-CA" smtClean="0"/>
              <a:pPr/>
              <a:t>10</a:t>
            </a:fld>
            <a:endParaRPr lang="en-CA" sz="1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9C2CBF-E878-53C7-4EA1-4823EE37C388}"/>
              </a:ext>
            </a:extLst>
          </p:cNvPr>
          <p:cNvSpPr txBox="1"/>
          <p:nvPr/>
        </p:nvSpPr>
        <p:spPr>
          <a:xfrm>
            <a:off x="845609" y="1874728"/>
            <a:ext cx="9272016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Georgia Pro" panose="02040502050405020303" pitchFamily="18" charset="0"/>
              </a:rPr>
              <a:t>Automate pairwise structural alignment with PyMol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Georgia Pro" panose="02040502050405020303" pitchFamily="18" charset="0"/>
              </a:rPr>
              <a:t>domain-specific alignment (likely more biologically interesting)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CA" dirty="0">
                <a:latin typeface="Georgia Pro" panose="02040502050405020303" pitchFamily="18" charset="0"/>
              </a:rPr>
              <a:t>overlay domain annotations</a:t>
            </a:r>
          </a:p>
          <a:p>
            <a:pPr marL="342900" lvl="0" indent="-342900">
              <a:spcAft>
                <a:spcPts val="600"/>
              </a:spcAft>
              <a:buFont typeface="+mj-lt"/>
              <a:buAutoNum type="arabicPeriod"/>
            </a:pPr>
            <a:endParaRPr lang="en-US" dirty="0">
              <a:latin typeface="Georgia Pro" panose="02040502050405020303" pitchFamily="18" charset="0"/>
            </a:endParaRPr>
          </a:p>
          <a:p>
            <a:pPr marL="342900" lvl="0" indent="-342900"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Georgia Pro" panose="02040502050405020303" pitchFamily="18" charset="0"/>
              </a:rPr>
              <a:t>Prioritize on basis of alignment properties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Georgia Pro" panose="02040502050405020303" pitchFamily="18" charset="0"/>
              </a:rPr>
              <a:t>do we ever align to H. sapiens protein domains with poorly characterised function?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Georgia Pro" panose="02040502050405020303" pitchFamily="18" charset="0"/>
              </a:rPr>
              <a:t>conversely, are domains that do not align in H. sapiens poorly characterised?</a:t>
            </a:r>
          </a:p>
        </p:txBody>
      </p:sp>
    </p:spTree>
    <p:extLst>
      <p:ext uri="{BB962C8B-B14F-4D97-AF65-F5344CB8AC3E}">
        <p14:creationId xmlns:p14="http://schemas.microsoft.com/office/powerpoint/2010/main" val="4133422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A67C029-F809-4563-FEDC-0FE2666AD68F}"/>
              </a:ext>
            </a:extLst>
          </p:cNvPr>
          <p:cNvSpPr/>
          <p:nvPr/>
        </p:nvSpPr>
        <p:spPr>
          <a:xfrm>
            <a:off x="845609" y="649223"/>
            <a:ext cx="4704799" cy="649225"/>
          </a:xfrm>
          <a:prstGeom prst="roundRect">
            <a:avLst/>
          </a:prstGeom>
          <a:solidFill>
            <a:srgbClr val="0162B3"/>
          </a:solidFill>
          <a:ln>
            <a:solidFill>
              <a:srgbClr val="0162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C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4295EC-59E3-A151-A598-185D8DFFA3C9}"/>
              </a:ext>
            </a:extLst>
          </p:cNvPr>
          <p:cNvSpPr txBox="1"/>
          <p:nvPr/>
        </p:nvSpPr>
        <p:spPr>
          <a:xfrm>
            <a:off x="987552" y="761737"/>
            <a:ext cx="3538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Georgia Pro" panose="02040502050405020303" pitchFamily="18" charset="0"/>
              </a:rPr>
              <a:t>References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A63B0A-77DC-F94E-1603-6415DC566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FC77-40C7-4C49-9A19-86BDE9B75E8A}" type="slidenum">
              <a:rPr lang="en-CA" smtClean="0"/>
              <a:pPr/>
              <a:t>11</a:t>
            </a:fld>
            <a:endParaRPr lang="en-CA" sz="1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546AC0-D7B2-E9C1-C7EF-931782FA7585}"/>
              </a:ext>
            </a:extLst>
          </p:cNvPr>
          <p:cNvSpPr txBox="1"/>
          <p:nvPr/>
        </p:nvSpPr>
        <p:spPr>
          <a:xfrm>
            <a:off x="710184" y="1874728"/>
            <a:ext cx="9272016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spcAft>
                <a:spcPts val="600"/>
              </a:spcAft>
              <a:buFont typeface="+mj-lt"/>
              <a:buAutoNum type="arabicPeriod"/>
            </a:pPr>
            <a:r>
              <a:rPr lang="en-CA">
                <a:latin typeface="Georgia Pro" panose="02040502050405020303" pitchFamily="18" charset="0"/>
              </a:rPr>
              <a:t>Van Kempen M, et al. Fast and accurate protein structure search with Foldseek. Nat Biotechnol. 2024;42:243-246. DOI: 10.1038/s41587-023-01773-0</a:t>
            </a:r>
          </a:p>
          <a:p>
            <a:pPr marL="342900" lvl="0" indent="-342900">
              <a:spcAft>
                <a:spcPts val="600"/>
              </a:spcAft>
              <a:buFont typeface="+mj-lt"/>
              <a:buAutoNum type="arabicPeriod"/>
            </a:pPr>
            <a:r>
              <a:rPr lang="en-CA">
                <a:latin typeface="Georgia Pro" panose="02040502050405020303" pitchFamily="18" charset="0"/>
              </a:rPr>
              <a:t>Barrio-Hernandez I, et al. Clustering predicted protein structures at the scale of the known protein universe. Nature. 2023;622:637-645. DOI: 10.1038/s41586-023-06510-w</a:t>
            </a:r>
          </a:p>
        </p:txBody>
      </p:sp>
    </p:spTree>
    <p:extLst>
      <p:ext uri="{BB962C8B-B14F-4D97-AF65-F5344CB8AC3E}">
        <p14:creationId xmlns:p14="http://schemas.microsoft.com/office/powerpoint/2010/main" val="36655061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536</TotalTime>
  <Words>1156</Words>
  <Application>Microsoft Office PowerPoint</Application>
  <PresentationFormat>Widescreen</PresentationFormat>
  <Paragraphs>159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Aptos Display</vt:lpstr>
      <vt:lpstr>Arial</vt:lpstr>
      <vt:lpstr>Cambria Math</vt:lpstr>
      <vt:lpstr>Courier New</vt:lpstr>
      <vt:lpstr>Georgia Pro</vt:lpstr>
      <vt:lpstr>Verdana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Julian Moran</dc:creator>
  <cp:lastModifiedBy>Julian Moran</cp:lastModifiedBy>
  <cp:revision>73</cp:revision>
  <dcterms:created xsi:type="dcterms:W3CDTF">2026-02-18T15:29:39Z</dcterms:created>
  <dcterms:modified xsi:type="dcterms:W3CDTF">2026-02-19T16:13:33Z</dcterms:modified>
</cp:coreProperties>
</file>